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7f2bdd8d5d64b6c" /><Relationship Type="http://schemas.openxmlformats.org/officeDocument/2006/relationships/extended-properties" Target="/docProps/app.xml" Id="R51f97ad88825466b" /><Relationship Type="http://schemas.openxmlformats.org/officeDocument/2006/relationships/officeDocument" Target="/ppt/presentation.xml" Id="Re31bb53d99df41b0" /></Relationships>
</file>

<file path=ppt/presentation.xml><?xml version="1.0" encoding="utf-8"?>
<p:presentation xmlns:p="http://schemas.openxmlformats.org/presentationml/2006/main">
  <p:sldMasterIdLst>
    <p:sldMasterId xmlns:r="http://schemas.openxmlformats.org/officeDocument/2006/relationships" id="2147483648" r:id="Re90aeeb3766c4361"/>
  </p:sldMasterIdLst>
  <p:notesMasterIdLst>
    <p:notesMasterId xmlns:r="http://schemas.openxmlformats.org/officeDocument/2006/relationships" r:id="Rf1ff4f85291e4676"/>
  </p:notesMasterIdLst>
  <p:sldIdLst>
    <p:sldId xmlns:r="http://schemas.openxmlformats.org/officeDocument/2006/relationships" id="256" r:id="R31c001bdbc714344"/>
    <p:sldId xmlns:r="http://schemas.openxmlformats.org/officeDocument/2006/relationships" id="257" r:id="R4d0ab2a351e348a2"/>
    <p:sldId xmlns:r="http://schemas.openxmlformats.org/officeDocument/2006/relationships" id="258" r:id="Rd7aa915891704b32"/>
    <p:sldId xmlns:r="http://schemas.openxmlformats.org/officeDocument/2006/relationships" id="259" r:id="R502b8edc418f4b54"/>
    <p:sldId xmlns:r="http://schemas.openxmlformats.org/officeDocument/2006/relationships" id="260" r:id="Rdfecf4ed95454f66"/>
    <p:sldId xmlns:r="http://schemas.openxmlformats.org/officeDocument/2006/relationships" id="261" r:id="R43b9a2a2c6f740bd"/>
    <p:sldId xmlns:r="http://schemas.openxmlformats.org/officeDocument/2006/relationships" id="262" r:id="R734d7c3bce5d417e"/>
    <p:sldId xmlns:r="http://schemas.openxmlformats.org/officeDocument/2006/relationships" id="263" r:id="Rdea6763dc7fb4558"/>
    <p:sldId xmlns:r="http://schemas.openxmlformats.org/officeDocument/2006/relationships" id="264" r:id="Rbfd1779742c44c87"/>
    <p:sldId xmlns:r="http://schemas.openxmlformats.org/officeDocument/2006/relationships" id="265" r:id="Rb61cfbd87e9749e2"/>
    <p:sldId xmlns:r="http://schemas.openxmlformats.org/officeDocument/2006/relationships" id="266" r:id="R016fed7cc971462c"/>
    <p:sldId xmlns:r="http://schemas.openxmlformats.org/officeDocument/2006/relationships" id="267" r:id="R8473e29f2bfe4a8c"/>
    <p:sldId xmlns:r="http://schemas.openxmlformats.org/officeDocument/2006/relationships" id="268" r:id="R0fe6d605cdd144d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55559bbfd5e4a59" /><Relationship Type="http://schemas.openxmlformats.org/officeDocument/2006/relationships/slideMaster" Target="/ppt/slideMasters/slideMaster1.xml" Id="Re90aeeb3766c4361" /><Relationship Type="http://schemas.openxmlformats.org/officeDocument/2006/relationships/notesMaster" Target="/ppt/notesMasters/notesMaster1.xml" Id="Rf1ff4f85291e4676" /><Relationship Type="http://schemas.openxmlformats.org/officeDocument/2006/relationships/presProps" Target="/ppt/presProps.xml" Id="Re1b8c548bb4d4cb6" /><Relationship Type="http://schemas.openxmlformats.org/officeDocument/2006/relationships/tableStyles" Target="/ppt/tableStyles.xml" Id="R6163c650f97b4536" /><Relationship Type="http://schemas.openxmlformats.org/officeDocument/2006/relationships/slide" Target="/ppt/slides/slide1.xml" Id="R31c001bdbc714344" /><Relationship Type="http://schemas.openxmlformats.org/officeDocument/2006/relationships/slide" Target="/ppt/slides/slide2.xml" Id="R4d0ab2a351e348a2" /><Relationship Type="http://schemas.openxmlformats.org/officeDocument/2006/relationships/slide" Target="/ppt/slides/slide3.xml" Id="Rd7aa915891704b32" /><Relationship Type="http://schemas.openxmlformats.org/officeDocument/2006/relationships/slide" Target="/ppt/slides/slide4.xml" Id="R502b8edc418f4b54" /><Relationship Type="http://schemas.openxmlformats.org/officeDocument/2006/relationships/slide" Target="/ppt/slides/slide5.xml" Id="Rdfecf4ed95454f66" /><Relationship Type="http://schemas.openxmlformats.org/officeDocument/2006/relationships/slide" Target="/ppt/slides/slide6.xml" Id="R43b9a2a2c6f740bd" /><Relationship Type="http://schemas.openxmlformats.org/officeDocument/2006/relationships/slide" Target="/ppt/slides/slide7.xml" Id="R734d7c3bce5d417e" /><Relationship Type="http://schemas.openxmlformats.org/officeDocument/2006/relationships/slide" Target="/ppt/slides/slide8.xml" Id="Rdea6763dc7fb4558" /><Relationship Type="http://schemas.openxmlformats.org/officeDocument/2006/relationships/slide" Target="/ppt/slides/slide9.xml" Id="Rbfd1779742c44c87" /><Relationship Type="http://schemas.openxmlformats.org/officeDocument/2006/relationships/slide" Target="/ppt/slides/slide10.xml" Id="Rb61cfbd87e9749e2" /><Relationship Type="http://schemas.openxmlformats.org/officeDocument/2006/relationships/slide" Target="/ppt/slides/slide11.xml" Id="R016fed7cc971462c" /><Relationship Type="http://schemas.openxmlformats.org/officeDocument/2006/relationships/slide" Target="/ppt/slides/slide12.xml" Id="R8473e29f2bfe4a8c" /><Relationship Type="http://schemas.openxmlformats.org/officeDocument/2006/relationships/slide" Target="/ppt/slides/slide13.xml" Id="R0fe6d605cdd144d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f8071113b564b7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b67ccbe7cc04f4c" /><Relationship Type="http://schemas.openxmlformats.org/officeDocument/2006/relationships/notesMaster" Target="/ppt/notesMasters/notesMaster1.xml" Id="R20e43ddd084343ef" /></Relationships>
</file>

<file path=ppt/notesSlides/_rels/notesSlide2.xml.rels>&#65279;<?xml version="1.0" encoding="utf-8"?><Relationships xmlns="http://schemas.openxmlformats.org/package/2006/relationships"><Relationship Type="http://schemas.openxmlformats.org/officeDocument/2006/relationships/slide" Target="/ppt/slides/slide2.xml" Id="Rf97f54cddbcc4f6a" /><Relationship Type="http://schemas.openxmlformats.org/officeDocument/2006/relationships/notesMaster" Target="/ppt/notesMasters/notesMaster1.xml" Id="Rf46e32fcfaec4d64" /></Relationships>
</file>

<file path=ppt/notesSlides/_rels/notesSlide3.xml.rels>&#65279;<?xml version="1.0" encoding="utf-8"?><Relationships xmlns="http://schemas.openxmlformats.org/package/2006/relationships"><Relationship Type="http://schemas.openxmlformats.org/officeDocument/2006/relationships/slide" Target="/ppt/slides/slide3.xml" Id="Rd436da40db434538" /><Relationship Type="http://schemas.openxmlformats.org/officeDocument/2006/relationships/notesMaster" Target="/ppt/notesMasters/notesMaster1.xml" Id="R7bbf6a1f93934cc7" /></Relationships>
</file>

<file path=ppt/notesSlides/_rels/notesSlide4.xml.rels>&#65279;<?xml version="1.0" encoding="utf-8"?><Relationships xmlns="http://schemas.openxmlformats.org/package/2006/relationships"><Relationship Type="http://schemas.openxmlformats.org/officeDocument/2006/relationships/slide" Target="/ppt/slides/slide4.xml" Id="R0da2d67d13844d9a" /><Relationship Type="http://schemas.openxmlformats.org/officeDocument/2006/relationships/notesMaster" Target="/ppt/notesMasters/notesMaster1.xml" Id="Rf85ce3d3a170436f" /></Relationships>
</file>

<file path=ppt/notesSlides/_rels/notesSlide5.xml.rels>&#65279;<?xml version="1.0" encoding="utf-8"?><Relationships xmlns="http://schemas.openxmlformats.org/package/2006/relationships"><Relationship Type="http://schemas.openxmlformats.org/officeDocument/2006/relationships/slide" Target="/ppt/slides/slide5.xml" Id="R92dab4056d6f478d" /><Relationship Type="http://schemas.openxmlformats.org/officeDocument/2006/relationships/notesMaster" Target="/ppt/notesMasters/notesMaster1.xml" Id="R2b4d96c74d0b44f1" /></Relationships>
</file>

<file path=ppt/notesSlides/_rels/notesSlide6.xml.rels>&#65279;<?xml version="1.0" encoding="utf-8"?><Relationships xmlns="http://schemas.openxmlformats.org/package/2006/relationships"><Relationship Type="http://schemas.openxmlformats.org/officeDocument/2006/relationships/slide" Target="/ppt/slides/slide6.xml" Id="Rb176f7062e864a12" /><Relationship Type="http://schemas.openxmlformats.org/officeDocument/2006/relationships/notesMaster" Target="/ppt/notesMasters/notesMaster1.xml" Id="Rfe3c011aca4d407f" /></Relationships>
</file>

<file path=ppt/notesSlides/_rels/notesSlide7.xml.rels>&#65279;<?xml version="1.0" encoding="utf-8"?><Relationships xmlns="http://schemas.openxmlformats.org/package/2006/relationships"><Relationship Type="http://schemas.openxmlformats.org/officeDocument/2006/relationships/slide" Target="/ppt/slides/slide7.xml" Id="R207b9beadf984b01" /><Relationship Type="http://schemas.openxmlformats.org/officeDocument/2006/relationships/notesMaster" Target="/ppt/notesMasters/notesMaster1.xml" Id="R753424f5ab4e4c89" /></Relationships>
</file>

<file path=ppt/notesSlides/_rels/notesSlide8.xml.rels>&#65279;<?xml version="1.0" encoding="utf-8"?><Relationships xmlns="http://schemas.openxmlformats.org/package/2006/relationships"><Relationship Type="http://schemas.openxmlformats.org/officeDocument/2006/relationships/slide" Target="/ppt/slides/slide8.xml" Id="Rf33c396844d74019" /><Relationship Type="http://schemas.openxmlformats.org/officeDocument/2006/relationships/notesMaster" Target="/ppt/notesMasters/notesMaster1.xml" Id="Rfa35b8b689da4582" /></Relationships>
</file>

<file path=ppt/notesSlides/_rels/notesSlide9.xml.rels>&#65279;<?xml version="1.0" encoding="utf-8"?><Relationships xmlns="http://schemas.openxmlformats.org/package/2006/relationships"><Relationship Type="http://schemas.openxmlformats.org/officeDocument/2006/relationships/slide" Target="/ppt/slides/slide9.xml" Id="R801ef2c47a554a42" /><Relationship Type="http://schemas.openxmlformats.org/officeDocument/2006/relationships/notesMaster" Target="/ppt/notesMasters/notesMaster1.xml" Id="R3f7ff8c620fe4b3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1b1c496fc9f463e" /><Relationship Type="http://schemas.openxmlformats.org/officeDocument/2006/relationships/notesMaster" Target="/ppt/notesMasters/notesMaster1.xml" Id="R0432de6a65ab47f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06e60b1e0c84c61" /><Relationship Type="http://schemas.openxmlformats.org/officeDocument/2006/relationships/notesMaster" Target="/ppt/notesMasters/notesMaster1.xml" Id="R4e5e9d260f35401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aa1a84e112641ce" /><Relationship Type="http://schemas.openxmlformats.org/officeDocument/2006/relationships/notesMaster" Target="/ppt/notesMasters/notesMaster1.xml" Id="Ree78f9b9675b45f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0986e2d9b6f407d" /><Relationship Type="http://schemas.openxmlformats.org/officeDocument/2006/relationships/notesMaster" Target="/ppt/notesMasters/notesMaster1.xml" Id="R6626319c4952430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on the distinction between a fluent answer and a mechanically grounded answer. The accepted conference title and speaker line should replace the working title when organizers confirm them.</a:t>
            </a:r>
          </a:p>
          <a:p xmlns:a="http://schemas.openxmlformats.org/drawingml/2006/main">
            <a:r>
              <a:t/>
            </a:r>
          </a:p>
          <a:p xmlns:a="http://schemas.openxmlformats.org/drawingml/2006/main">
            <a:r>
              <a:t>[Sources]</a:t>
            </a:r>
          </a:p>
          <a:p xmlns:a="http://schemas.openxmlformats.org/drawingml/2006/main">
            <a:r>
              <a:t>- docs/offensive-ai-con-talk-outline.md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synthetic graph to explain alternate routes, decoys, ordered endpoints, negative controls, and bounded decisions. The diagram is conceptual and intentionally does not reveal a sealed answer.</a:t>
            </a:r>
          </a:p>
          <a:p xmlns:a="http://schemas.openxmlformats.org/drawingml/2006/main">
            <a:r>
              <a:t/>
            </a:r>
          </a:p>
          <a:p xmlns:a="http://schemas.openxmlformats.org/drawingml/2006/main">
            <a:r>
              <a:t>[Sources]</a:t>
            </a:r>
          </a:p>
          <a:p xmlns:a="http://schemas.openxmlformats.org/drawingml/2006/main">
            <a:r>
              <a:t>- docs/offensive-ai-con-talk-outline.md</a:t>
            </a:r>
          </a:p>
          <a:p xmlns:a="http://schemas.openxmlformats.org/drawingml/2006/main">
            <a:r>
              <a:t>- docs/benchmark-v2-design-rationale.md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surfaces separate throughout the talk. Direct measures constrained query generation and result interpretation. MCP measures multi-turn tool use and proof construction. Their scores are not one leaderboard.</a:t>
            </a:r>
          </a:p>
          <a:p xmlns:a="http://schemas.openxmlformats.org/drawingml/2006/main">
            <a:r>
              <a:t/>
            </a:r>
          </a:p>
          <a:p xmlns:a="http://schemas.openxmlformats.org/drawingml/2006/main">
            <a:r>
              <a:t>[Sources]</a:t>
            </a:r>
          </a:p>
          <a:p xmlns:a="http://schemas.openxmlformats.org/drawingml/2006/main">
            <a:r>
              <a:t>- docs/benchmark-v2-design-rationale.md</a:t>
            </a:r>
          </a:p>
          <a:p xmlns:a="http://schemas.openxmlformats.org/drawingml/2006/main">
            <a:r>
              <a:t>- 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Tell the history as a sequence of incidents that became contracts. Avoid implying that V1, V28, and V29 scores are directly comparable.</a:t>
            </a:r>
          </a:p>
          <a:p xmlns:a="http://schemas.openxmlformats.org/drawingml/2006/main">
            <a:r>
              <a:t/>
            </a:r>
          </a:p>
          <a:p xmlns:a="http://schemas.openxmlformats.org/drawingml/2006/main">
            <a:r>
              <a:t>[Sources]</a:t>
            </a:r>
          </a:p>
          <a:p xmlns:a="http://schemas.openxmlformats.org/drawingml/2006/main">
            <a:r>
              <a:t>- docs/offensive-ai-con-readiness-plan.md</a:t>
            </a:r>
          </a:p>
          <a:p xmlns:a="http://schemas.openxmlformats.org/drawingml/2006/main">
            <a:r>
              <a:t>- docs/benchmark-v2-design-rationale.md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Every gate proves a different layer. The post-track graph check can invalidate a completed-looking run; that is a feature, not a nuisance.</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docs/benchmark-v2-certification-evidence.md</a:t>
            </a:r>
          </a:p>
          <a:p xmlns:a="http://schemas.openxmlformats.org/drawingml/2006/main">
            <a:r>
              <a:t>- docs/benchmark-hardening-runbook.md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the solver never sees the sealed oracle. Both public and sealed artifacts compile from the same typed claim. EvidenceIR is the shared semantic boundary across Direct and MCP.</a:t>
            </a:r>
          </a:p>
          <a:p xmlns:a="http://schemas.openxmlformats.org/drawingml/2006/main">
            <a:r>
              <a:t/>
            </a:r>
          </a:p>
          <a:p xmlns:a="http://schemas.openxmlformats.org/drawingml/2006/main">
            <a:r>
              <a:t>[Sources]</a:t>
            </a:r>
          </a:p>
          <a:p xmlns:a="http://schemas.openxmlformats.org/drawingml/2006/main">
            <a:r>
              <a:t>- docs/benchmark-v2-design-rationale.md</a:t>
            </a:r>
          </a:p>
          <a:p xmlns:a="http://schemas.openxmlformats.org/drawingml/2006/main">
            <a:r>
              <a:t>- docs/benchmark-v2-task-authoring.md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illustrative task shape, not an actual sealed answer. Emphasize ordered endpoints, bounded traversal, path evidence, and declared properties. A hard task is still auditable by the solver.</a:t>
            </a:r>
          </a:p>
          <a:p xmlns:a="http://schemas.openxmlformats.org/drawingml/2006/main">
            <a:r>
              <a:t/>
            </a:r>
          </a:p>
          <a:p xmlns:a="http://schemas.openxmlformats.org/drawingml/2006/main">
            <a:r>
              <a:t>[Sources]</a:t>
            </a:r>
          </a:p>
          <a:p xmlns:a="http://schemas.openxmlformats.org/drawingml/2006/main">
            <a:r>
              <a:t>- docs/benchmark-v2-design-rationale.md</a:t>
            </a:r>
          </a:p>
          <a:p xmlns:a="http://schemas.openxmlformats.org/drawingml/2006/main">
            <a:r>
              <a:t>- docs/benchmark-v2-task-authoring.md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Label the provider and circuit changes as current Release 1 branch behavior until the branch is merged and the OpenRouter canaries pass. Do not call staged code shipped code.</a:t>
            </a:r>
          </a:p>
          <a:p xmlns:a="http://schemas.openxmlformats.org/drawingml/2006/main">
            <a:r>
              <a:t/>
            </a:r>
          </a:p>
          <a:p xmlns:a="http://schemas.openxmlformats.org/drawingml/2006/main">
            <a:r>
              <a:t>[Sources]</a:t>
            </a:r>
          </a:p>
          <a:p xmlns:a="http://schemas.openxmlformats.org/drawingml/2006/main">
            <a:r>
              <a:t>- docs/offensive-ai-con-readiness-plan.md</a:t>
            </a:r>
          </a:p>
          <a:p xmlns:a="http://schemas.openxmlformats.org/drawingml/2006/main">
            <a:r>
              <a:t>- docs/evidence/provider-hardening-v13-acceptance.json</a:t>
            </a:r>
          </a:p>
          <a:p xmlns:a="http://schemas.openxmlformats.org/drawingml/2006/main">
            <a:r>
              <a:t>- docs/benchmark-hardening-runbook.md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exact honesty boundary. Certified inventory and semantic release are different counts. The graph fingerprint and MCP capability pin belong to this development release, not every future ORI campaign.</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docs/benchmark-v2-design-rationale.md</a:t>
            </a:r>
          </a:p>
          <a:p xmlns:a="http://schemas.openxmlformats.org/drawingml/2006/main">
            <a:r>
              <a:t>- docs/offensive-ai-con-readiness-plan.md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horizontal line is the five-run minimum-to-maximum range; the dot is pooled effective accuracy. The top four differ by one to three answers out of 210 and overlap in repeat ranges, so the evidence does not support a strong total ordering.</a:t>
            </a:r>
          </a:p>
          <a:p xmlns:a="http://schemas.openxmlformats.org/drawingml/2006/main">
            <a:r>
              <a:t/>
            </a:r>
          </a:p>
          <a:p xmlns:a="http://schemas.openxmlformats.org/drawingml/2006/main">
            <a:r>
              <a:t>[Sources]</a:t>
            </a:r>
          </a:p>
          <a:p xmlns:a="http://schemas.openxmlformats.org/drawingml/2006/main">
            <a:r>
              <a:t>- docs/assets/offensive-ai-con/historical-v29-direct-evidence.json</a:t>
            </a:r>
          </a:p>
          <a:p xmlns:a="http://schemas.openxmlformats.org/drawingml/2006/main">
            <a:r>
              <a:t>- docs/assets/offensive-ai-con/historical-v29-direct-results.csv</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incident sequence without publishing the incomplete MCP diagnostic outputs as model scores. The current branch adds a pre-provider circuit gate to prevent the spending amplification seen in the older runtime.</a:t>
            </a:r>
          </a:p>
          <a:p xmlns:a="http://schemas.openxmlformats.org/drawingml/2006/main">
            <a:r>
              <a:t/>
            </a:r>
          </a:p>
          <a:p xmlns:a="http://schemas.openxmlformats.org/drawingml/2006/main">
            <a:r>
              <a:t>[Sources]</a:t>
            </a:r>
          </a:p>
          <a:p xmlns:a="http://schemas.openxmlformats.org/drawingml/2006/main">
            <a:r>
              <a:t>- docs/offensive-ai-con-readiness-plan.md</a:t>
            </a:r>
          </a:p>
          <a:p xmlns:a="http://schemas.openxmlformats.org/drawingml/2006/main">
            <a:r>
              <a:t>- docs/benchmark-v2-design-rationale.md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Pause here. These are deliberate anti-claims, not caveats in tiny type. The benchmark is more credible when incompatible tracks, invalid runs, and unfinished release goals remain explicit.</a:t>
            </a:r>
          </a:p>
          <a:p xmlns:a="http://schemas.openxmlformats.org/drawingml/2006/main">
            <a:r>
              <a:t/>
            </a:r>
          </a:p>
          <a:p xmlns:a="http://schemas.openxmlformats.org/drawingml/2006/main">
            <a:r>
              <a:t>[Sources]</a:t>
            </a:r>
          </a:p>
          <a:p xmlns:a="http://schemas.openxmlformats.org/drawingml/2006/main">
            <a:r>
              <a:t>- docs/offensive-ai-con-talk-outline.md</a:t>
            </a:r>
          </a:p>
          <a:p xmlns:a="http://schemas.openxmlformats.org/drawingml/2006/main">
            <a:r>
              <a:t>- 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Resolve the opening tension: plausible is not proven, and uncertainty should remain typed and visible. Replace the Release 1 step with merged evidence once the OpenRouter canaries and PR complete.</a:t>
            </a:r>
          </a:p>
          <a:p xmlns:a="http://schemas.openxmlformats.org/drawingml/2006/main">
            <a:r>
              <a:t/>
            </a:r>
          </a:p>
          <a:p xmlns:a="http://schemas.openxmlformats.org/drawingml/2006/main">
            <a:r>
              <a:t>[Sources]</a:t>
            </a:r>
          </a:p>
          <a:p xmlns:a="http://schemas.openxmlformats.org/drawingml/2006/main">
            <a:r>
              <a:t>- docs/offensive-ai-con-readiness-plan.md</a:t>
            </a:r>
          </a:p>
          <a:p xmlns:a="http://schemas.openxmlformats.org/drawingml/2006/main">
            <a:r>
              <a:t>- docs/offensive-ai-con-talk-outline.md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6779c8a5c16418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3f94e11d19f404d" /><Relationship Type="http://schemas.openxmlformats.org/officeDocument/2006/relationships/slideLayout" Target="/ppt/slideLayouts/slideLayout1.xml" Id="R584b07190640489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84b07190640489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b5890a0bca943e3" /><Relationship Type="http://schemas.openxmlformats.org/officeDocument/2006/relationships/notesSlide" Target="/ppt/notesSlides/notesSlide1.xml" Id="R32c801a1899d4a1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8ee89c2ec584da5" /><Relationship Type="http://schemas.openxmlformats.org/officeDocument/2006/relationships/notesSlide" Target="/ppt/notesSlides/notesSlide2.xml" Id="R496913ee44ec430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c85254e11bb456e" /><Relationship Type="http://schemas.openxmlformats.org/officeDocument/2006/relationships/notesSlide" Target="/ppt/notesSlides/notesSlide3.xml" Id="R1c23bba8cba244b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0248791929940bc" /><Relationship Type="http://schemas.openxmlformats.org/officeDocument/2006/relationships/notesSlide" Target="/ppt/notesSlides/notesSlide4.xml" Id="Ra56b8b1ed26647d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557025023a04fc8" /><Relationship Type="http://schemas.openxmlformats.org/officeDocument/2006/relationships/notesSlide" Target="/ppt/notesSlides/notesSlide5.xml" Id="R844a91faf68043c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05cd52913744284" /><Relationship Type="http://schemas.openxmlformats.org/officeDocument/2006/relationships/notesSlide" Target="/ppt/notesSlides/notesSlide6.xml" Id="R526fcfee7561447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813fe575c94429b" /><Relationship Type="http://schemas.openxmlformats.org/officeDocument/2006/relationships/notesSlide" Target="/ppt/notesSlides/notesSlide7.xml" Id="Rdeb5f93507f04f5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1b11dfc910d4cde" /><Relationship Type="http://schemas.openxmlformats.org/officeDocument/2006/relationships/notesSlide" Target="/ppt/notesSlides/notesSlide8.xml" Id="Re1d72c238ef141c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79c67c0398a4fed" /><Relationship Type="http://schemas.openxmlformats.org/officeDocument/2006/relationships/notesSlide" Target="/ppt/notesSlides/notesSlide9.xml" Id="Rc6742de16702467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1d55e1d02f54fce" /><Relationship Type="http://schemas.openxmlformats.org/officeDocument/2006/relationships/notesSlide" Target="/ppt/notesSlides/notesSlide10.xml" Id="R07215478a426497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7810d7f47b74ebc" /><Relationship Type="http://schemas.openxmlformats.org/officeDocument/2006/relationships/notesSlide" Target="/ppt/notesSlides/notesSlide11.xml" Id="R7eac5ceed98d469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c268f62701e4964" /><Relationship Type="http://schemas.openxmlformats.org/officeDocument/2006/relationships/notesSlide" Target="/ppt/notesSlides/notesSlide12.xml" Id="Rc00261cac79b442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643cc986e4e420b" /><Relationship Type="http://schemas.openxmlformats.org/officeDocument/2006/relationships/notesSlide" Target="/ppt/notesSlides/notesSlide13.xml" Id="R904e5169b5714a1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417F1CE-7922-4F97-98B9-950AE01DC1DE}"/>
              </a:ext>
            </a:extLst>
          </p:cNvPr>
          <p:cNvSpPr>
            <a:spLocks xmlns:a="http://schemas.openxmlformats.org/drawingml/2006/main" noGrp="1"/>
          </p:cNvSpPr>
          <p:nvPr/>
        </p:nvSpPr>
        <p:spPr>
          <a:xfrm xmlns:a="http://schemas.openxmlformats.org/drawingml/2006/main">
            <a:off x="514350" y="4953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200" b="1">
                <a:solidFill>
                  <a:srgbClr val="3D8DFF"/>
                </a:solidFill>
                <a:latin typeface="Helvetica Neue"/>
                <a:ea typeface="Helvetica Neue"/>
                <a:cs typeface="Helvetica Neue"/>
              </a:defRPr>
            </a:pPr>
            <a:r>
              <a:rPr sz="1200" b="1">
                <a:solidFill>
                  <a:srgbClr val="3D8DFF"/>
                </a:solidFill>
                <a:latin typeface="Helvetica Neue"/>
                <a:ea typeface="Helvetica Neue"/>
                <a:cs typeface="Helvetica Neue"/>
              </a:rPr>
              <a:t>OFFENSIVE AI CON · OCTOBER 5, 2026</a:t>
            </a:r>
          </a:p>
        </p:txBody>
      </p:sp>
      <p:sp>
        <p:nvSpPr>
          <p:cNvPr id="2" name="">
            <a:extLst xmlns:a="http://schemas.openxmlformats.org/drawingml/2006/main">
              <a:ext uri="{FF2B5EF4-FFF2-40B4-BE49-F238E27FC236}">
                <a16:creationId xmlns:a16="http://schemas.microsoft.com/office/drawing/2014/main" id="{6DBC8D22-1C6A-46F2-9C17-CCFF62DD8767}"/>
              </a:ext>
            </a:extLst>
          </p:cNvPr>
          <p:cNvSpPr>
            <a:spLocks xmlns:a="http://schemas.openxmlformats.org/drawingml/2006/main" noGrp="1"/>
          </p:cNvSpPr>
          <p:nvPr/>
        </p:nvSpPr>
        <p:spPr>
          <a:xfrm xmlns:a="http://schemas.openxmlformats.org/drawingml/2006/main">
            <a:off x="514350" y="1666875"/>
            <a:ext cx="77152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5400" b="1">
                <a:solidFill>
                  <a:srgbClr val="111111"/>
                </a:solidFill>
                <a:latin typeface="Helvetica Neue"/>
                <a:ea typeface="Helvetica Neue"/>
                <a:cs typeface="Helvetica Neue"/>
              </a:defRPr>
            </a:pPr>
            <a:r>
              <a:rPr sz="5400" b="1">
                <a:solidFill>
                  <a:srgbClr val="111111"/>
                </a:solidFill>
                <a:latin typeface="Helvetica Neue"/>
                <a:ea typeface="Helvetica Neue"/>
                <a:cs typeface="Helvetica Neue"/>
              </a:rPr>
              <a:t>Offensive</a:t>
            </a:r>
          </a:p>
          <a:p xmlns:a="http://schemas.openxmlformats.org/drawingml/2006/main">
            <a:pPr algn="l">
              <a:defRPr sz="5400" b="1">
                <a:solidFill>
                  <a:srgbClr val="111111"/>
                </a:solidFill>
                <a:latin typeface="Helvetica Neue"/>
                <a:ea typeface="Helvetica Neue"/>
                <a:cs typeface="Helvetica Neue"/>
              </a:defRPr>
            </a:pPr>
            <a:r>
              <a:rPr sz="5400" b="1">
                <a:solidFill>
                  <a:srgbClr val="111111"/>
                </a:solidFill>
                <a:latin typeface="Helvetica Neue"/>
                <a:ea typeface="Helvetica Neue"/>
                <a:cs typeface="Helvetica Neue"/>
              </a:rPr>
              <a:t>Reasoning Index</a:t>
            </a:r>
          </a:p>
        </p:txBody>
      </p:sp>
      <p:sp>
        <p:nvSpPr>
          <p:cNvPr id="3" name="">
            <a:extLst xmlns:a="http://schemas.openxmlformats.org/drawingml/2006/main">
              <a:ext uri="{FF2B5EF4-FFF2-40B4-BE49-F238E27FC236}">
                <a16:creationId xmlns:a16="http://schemas.microsoft.com/office/drawing/2014/main" id="{D7CCCE83-7900-4A0B-A73B-026115C7E510}"/>
              </a:ext>
            </a:extLst>
          </p:cNvPr>
          <p:cNvSpPr>
            <a:spLocks xmlns:a="http://schemas.openxmlformats.org/drawingml/2006/main" noGrp="1"/>
          </p:cNvSpPr>
          <p:nvPr/>
        </p:nvSpPr>
        <p:spPr>
          <a:xfrm xmlns:a="http://schemas.openxmlformats.org/drawingml/2006/main">
            <a:off x="514350" y="4238625"/>
            <a:ext cx="7810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250" b="0">
                <a:solidFill>
                  <a:srgbClr val="62676F"/>
                </a:solidFill>
                <a:latin typeface="Helvetica Neue"/>
                <a:ea typeface="Helvetica Neue"/>
                <a:cs typeface="Helvetica Neue"/>
              </a:defRPr>
            </a:pPr>
            <a:r>
              <a:rPr sz="2250" b="0">
                <a:solidFill>
                  <a:srgbClr val="62676F"/>
                </a:solidFill>
                <a:latin typeface="Helvetica Neue"/>
                <a:ea typeface="Helvetica Neue"/>
                <a:cs typeface="Helvetica Neue"/>
              </a:rPr>
              <a:t>Building a graph-grounded benchmark for offensive AI</a:t>
            </a:r>
          </a:p>
        </p:txBody>
      </p:sp>
      <p:cxnSp>
        <p:nvCxnSpPr>
          <p:cNvPr id="9" name=""/>
          <p:cNvCxnSpPr/>
          <p:nvPr/>
        </p:nvCxnSpPr>
        <p:spPr>
          <a:xfrm xmlns:a="http://schemas.openxmlformats.org/drawingml/2006/main">
            <a:off x="9048750" y="1714500"/>
            <a:ext cx="0" cy="3429000"/>
          </a:xfrm>
          <a:prstGeom xmlns:a="http://schemas.openxmlformats.org/drawingml/2006/main" prst="straightConnector1">
            <a:avLst/>
          </a:prstGeom>
          <a:ln xmlns:a="http://schemas.openxmlformats.org/drawingml/2006/main" w="76200">
            <a:solidFill>
              <a:srgbClr val="3D8DFF"/>
            </a:solidFill>
            <a:prstDash val="solid"/>
          </a:ln>
        </p:spPr>
      </p:cxnSp>
      <p:sp>
        <p:nvSpPr>
          <p:cNvPr id="5" name="">
            <a:extLst xmlns:a="http://schemas.openxmlformats.org/drawingml/2006/main">
              <a:ext uri="{FF2B5EF4-FFF2-40B4-BE49-F238E27FC236}">
                <a16:creationId xmlns:a16="http://schemas.microsoft.com/office/drawing/2014/main" id="{14727774-1CC2-4D76-AE06-0012AAB976FA}"/>
              </a:ext>
            </a:extLst>
          </p:cNvPr>
          <p:cNvSpPr>
            <a:spLocks xmlns:a="http://schemas.openxmlformats.org/drawingml/2006/main" noGrp="1"/>
          </p:cNvSpPr>
          <p:nvPr/>
        </p:nvSpPr>
        <p:spPr>
          <a:xfrm xmlns:a="http://schemas.openxmlformats.org/drawingml/2006/main">
            <a:off x="9382125" y="1952625"/>
            <a:ext cx="219075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700" b="1">
                <a:solidFill>
                  <a:srgbClr val="111111"/>
                </a:solidFill>
                <a:latin typeface="Helvetica Neue"/>
                <a:ea typeface="Helvetica Neue"/>
                <a:cs typeface="Helvetica Neue"/>
              </a:defRPr>
            </a:pPr>
            <a:r>
              <a:rPr sz="2700" b="1">
                <a:solidFill>
                  <a:srgbClr val="111111"/>
                </a:solidFill>
                <a:latin typeface="Helvetica Neue"/>
                <a:ea typeface="Helvetica Neue"/>
                <a:cs typeface="Helvetica Neue"/>
              </a:rPr>
              <a:t>Plausible</a:t>
            </a:r>
          </a:p>
          <a:p xmlns:a="http://schemas.openxmlformats.org/drawingml/2006/main">
            <a:pPr algn="l">
              <a:defRPr sz="2700" b="1">
                <a:solidFill>
                  <a:srgbClr val="111111"/>
                </a:solidFill>
                <a:latin typeface="Helvetica Neue"/>
                <a:ea typeface="Helvetica Neue"/>
                <a:cs typeface="Helvetica Neue"/>
              </a:defRPr>
            </a:pPr>
            <a:r>
              <a:rPr sz="2700" b="1">
                <a:solidFill>
                  <a:srgbClr val="111111"/>
                </a:solidFill>
                <a:latin typeface="Helvetica Neue"/>
                <a:ea typeface="Helvetica Neue"/>
                <a:cs typeface="Helvetica Neue"/>
              </a:rPr>
              <a:t>is not</a:t>
            </a:r>
          </a:p>
          <a:p xmlns:a="http://schemas.openxmlformats.org/drawingml/2006/main">
            <a:pPr algn="l">
              <a:defRPr sz="2700" b="1">
                <a:solidFill>
                  <a:srgbClr val="111111"/>
                </a:solidFill>
                <a:latin typeface="Helvetica Neue"/>
                <a:ea typeface="Helvetica Neue"/>
                <a:cs typeface="Helvetica Neue"/>
              </a:defRPr>
            </a:pPr>
            <a:r>
              <a:rPr sz="2700" b="1">
                <a:solidFill>
                  <a:srgbClr val="111111"/>
                </a:solidFill>
                <a:latin typeface="Helvetica Neue"/>
                <a:ea typeface="Helvetica Neue"/>
                <a:cs typeface="Helvetica Neue"/>
              </a:rPr>
              <a:t>proven.</a:t>
            </a:r>
          </a:p>
        </p:txBody>
      </p:sp>
    </p:spTree>
    <p:extLst>
      <p:ext uri="{BB962C8B-B14F-4D97-AF65-F5344CB8AC3E}">
        <p14:creationId xmlns:p14="http://schemas.microsoft.com/office/powerpoint/2010/main" val="198972228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C28B0FFB-82A1-4382-A272-4E3265888C61}"/>
              </a:ext>
            </a:extLst>
          </p:cNvPr>
          <p:cNvSpPr>
            <a:spLocks xmlns:a="http://schemas.openxmlformats.org/drawingml/2006/main" noGrp="1"/>
          </p:cNvSpPr>
          <p:nvPr/>
        </p:nvSpPr>
        <p:spPr>
          <a:xfrm xmlns:a="http://schemas.openxmlformats.org/drawingml/2006/main">
            <a:off x="51435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OFFENSIVE REASONING INDEX</a:t>
            </a:r>
          </a:p>
        </p:txBody>
      </p:sp>
      <p:sp>
        <p:nvSpPr>
          <p:cNvPr id="2" name="">
            <a:extLst xmlns:a="http://schemas.openxmlformats.org/drawingml/2006/main">
              <a:ext uri="{FF2B5EF4-FFF2-40B4-BE49-F238E27FC236}">
                <a16:creationId xmlns:a16="http://schemas.microsoft.com/office/drawing/2014/main" id="{91F9CB8A-0300-47C7-9646-1DFC77C5C78F}"/>
              </a:ext>
            </a:extLst>
          </p:cNvPr>
          <p:cNvSpPr>
            <a:spLocks xmlns:a="http://schemas.openxmlformats.org/drawingml/2006/main" noGrp="1"/>
          </p:cNvSpPr>
          <p:nvPr/>
        </p:nvSpPr>
        <p:spPr>
          <a:xfrm xmlns:a="http://schemas.openxmlformats.org/drawingml/2006/main">
            <a:off x="514350" y="666750"/>
            <a:ext cx="10953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Attack paths expose whether reasoning is grounded</a:t>
            </a:r>
          </a:p>
        </p:txBody>
      </p:sp>
      <p:cxnSp>
        <p:nvCxnSpPr>
          <p:cNvPr id="24" name=""/>
          <p:cNvCxnSpPr/>
          <p:nvPr/>
        </p:nvCxnSpPr>
        <p:spPr>
          <a:xfrm xmlns:a="http://schemas.openxmlformats.org/drawingml/2006/main">
            <a:off x="514350" y="1438275"/>
            <a:ext cx="11163300" cy="0"/>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0246F47B-3F8B-4EE3-A443-6AA2F6A91D83}"/>
              </a:ext>
            </a:extLst>
          </p:cNvPr>
          <p:cNvSpPr>
            <a:spLocks xmlns:a="http://schemas.openxmlformats.org/drawingml/2006/main" noGrp="1"/>
          </p:cNvSpPr>
          <p:nvPr/>
        </p:nvSpPr>
        <p:spPr>
          <a:xfrm xmlns:a="http://schemas.openxmlformats.org/drawingml/2006/main">
            <a:off x="11258550" y="64198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62676F"/>
                </a:solidFill>
                <a:latin typeface="Helvetica Neue"/>
                <a:ea typeface="Helvetica Neue"/>
                <a:cs typeface="Helvetica Neue"/>
              </a:defRPr>
            </a:pPr>
            <a:r>
              <a:rPr sz="975" b="0">
                <a:solidFill>
                  <a:srgbClr val="62676F"/>
                </a:solidFill>
                <a:latin typeface="Helvetica Neue"/>
                <a:ea typeface="Helvetica Neue"/>
                <a:cs typeface="Helvetica Neue"/>
              </a:rPr>
              <a:t>02</a:t>
            </a:r>
          </a:p>
        </p:txBody>
      </p:sp>
      <p:cxnSp>
        <p:nvCxnSpPr>
          <p:cNvPr id="26" name=""/>
          <p:cNvCxnSpPr/>
          <p:nvPr/>
        </p:nvCxnSpPr>
        <p:spPr>
          <a:xfrm xmlns:a="http://schemas.openxmlformats.org/drawingml/2006/main">
            <a:off x="2000250" y="2381250"/>
            <a:ext cx="0" cy="666750"/>
          </a:xfrm>
          <a:prstGeom xmlns:a="http://schemas.openxmlformats.org/drawingml/2006/main" prst="straightConnector1">
            <a:avLst/>
          </a:prstGeom>
          <a:ln xmlns:a="http://schemas.openxmlformats.org/drawingml/2006/main" w="28575">
            <a:solidFill>
              <a:srgbClr val="111111"/>
            </a:solidFill>
            <a:prstDash val="solid"/>
          </a:ln>
        </p:spPr>
      </p:cxnSp>
      <p:cxnSp>
        <p:nvCxnSpPr>
          <p:cNvPr id="27" name=""/>
          <p:cNvCxnSpPr/>
          <p:nvPr/>
        </p:nvCxnSpPr>
        <p:spPr>
          <a:xfrm xmlns:a="http://schemas.openxmlformats.org/drawingml/2006/main">
            <a:off x="2000250" y="2381250"/>
            <a:ext cx="2762250" cy="0"/>
          </a:xfrm>
          <a:prstGeom xmlns:a="http://schemas.openxmlformats.org/drawingml/2006/main" prst="straightConnector1">
            <a:avLst/>
          </a:prstGeom>
          <a:ln xmlns:a="http://schemas.openxmlformats.org/drawingml/2006/main" w="28575">
            <a:solidFill>
              <a:srgbClr val="111111"/>
            </a:solidFill>
            <a:prstDash val="solid"/>
          </a:ln>
        </p:spPr>
      </p:cxnSp>
      <p:cxnSp>
        <p:nvCxnSpPr>
          <p:cNvPr id="28" name=""/>
          <p:cNvCxnSpPr/>
          <p:nvPr/>
        </p:nvCxnSpPr>
        <p:spPr>
          <a:xfrm xmlns:a="http://schemas.openxmlformats.org/drawingml/2006/main">
            <a:off x="2000250" y="3238500"/>
            <a:ext cx="2762250" cy="857250"/>
          </a:xfrm>
          <a:prstGeom xmlns:a="http://schemas.openxmlformats.org/drawingml/2006/main" prst="straightConnector1">
            <a:avLst/>
          </a:prstGeom>
          <a:ln xmlns:a="http://schemas.openxmlformats.org/drawingml/2006/main" w="28575">
            <a:solidFill>
              <a:srgbClr val="111111"/>
            </a:solidFill>
            <a:prstDash val="solid"/>
          </a:ln>
        </p:spPr>
      </p:cxnSp>
      <p:cxnSp>
        <p:nvCxnSpPr>
          <p:cNvPr id="29" name=""/>
          <p:cNvCxnSpPr/>
          <p:nvPr/>
        </p:nvCxnSpPr>
        <p:spPr>
          <a:xfrm xmlns:a="http://schemas.openxmlformats.org/drawingml/2006/main">
            <a:off x="6191250" y="2381250"/>
            <a:ext cx="2667000" cy="762000"/>
          </a:xfrm>
          <a:prstGeom xmlns:a="http://schemas.openxmlformats.org/drawingml/2006/main" prst="straightConnector1">
            <a:avLst/>
          </a:prstGeom>
          <a:ln xmlns:a="http://schemas.openxmlformats.org/drawingml/2006/main" w="28575">
            <a:solidFill>
              <a:srgbClr val="111111"/>
            </a:solidFill>
            <a:prstDash val="solid"/>
          </a:ln>
        </p:spPr>
      </p:cxnSp>
      <p:cxnSp>
        <p:nvCxnSpPr>
          <p:cNvPr id="30" name=""/>
          <p:cNvCxnSpPr/>
          <p:nvPr/>
        </p:nvCxnSpPr>
        <p:spPr>
          <a:xfrm xmlns:a="http://schemas.openxmlformats.org/drawingml/2006/main">
            <a:off x="6191250" y="3333750"/>
            <a:ext cx="0" cy="762000"/>
          </a:xfrm>
          <a:prstGeom xmlns:a="http://schemas.openxmlformats.org/drawingml/2006/main" prst="straightConnector1">
            <a:avLst/>
          </a:prstGeom>
          <a:ln xmlns:a="http://schemas.openxmlformats.org/drawingml/2006/main" w="28575">
            <a:solidFill>
              <a:srgbClr val="C23B22"/>
            </a:solidFill>
            <a:prstDash val="solid"/>
          </a:ln>
        </p:spPr>
      </p:cxnSp>
      <p:cxnSp>
        <p:nvCxnSpPr>
          <p:cNvPr id="31" name=""/>
          <p:cNvCxnSpPr/>
          <p:nvPr/>
        </p:nvCxnSpPr>
        <p:spPr>
          <a:xfrm xmlns:a="http://schemas.openxmlformats.org/drawingml/2006/main">
            <a:off x="6191250" y="3333750"/>
            <a:ext cx="2667000" cy="0"/>
          </a:xfrm>
          <a:prstGeom xmlns:a="http://schemas.openxmlformats.org/drawingml/2006/main" prst="straightConnector1">
            <a:avLst/>
          </a:prstGeom>
          <a:ln xmlns:a="http://schemas.openxmlformats.org/drawingml/2006/main" w="28575">
            <a:solidFill>
              <a:srgbClr val="C23B22"/>
            </a:solidFill>
            <a:prstDash val="solid"/>
          </a:ln>
        </p:spPr>
      </p:cxnSp>
      <p:sp>
        <p:nvSpPr>
          <p:cNvPr id="11" name="">
            <a:extLst xmlns:a="http://schemas.openxmlformats.org/drawingml/2006/main">
              <a:ext uri="{FF2B5EF4-FFF2-40B4-BE49-F238E27FC236}">
                <a16:creationId xmlns:a16="http://schemas.microsoft.com/office/drawing/2014/main" id="{5AA8FE72-8A38-485D-AFEE-5EE6529AB6F3}"/>
              </a:ext>
            </a:extLst>
          </p:cNvPr>
          <p:cNvSpPr>
            <a:spLocks xmlns:a="http://schemas.openxmlformats.org/drawingml/2006/main" noGrp="1"/>
          </p:cNvSpPr>
          <p:nvPr/>
        </p:nvSpPr>
        <p:spPr>
          <a:xfrm xmlns:a="http://schemas.openxmlformats.org/drawingml/2006/main">
            <a:off x="762000" y="2809875"/>
            <a:ext cx="1428750" cy="685800"/>
          </a:xfrm>
          <a:prstGeom xmlns:a="http://schemas.openxmlformats.org/drawingml/2006/main" prst="ellipse">
            <a:avLst/>
          </a:prstGeom>
          <a:solidFill xmlns:a="http://schemas.openxmlformats.org/drawingml/2006/main">
            <a:srgbClr val="D0EDFA"/>
          </a:solidFill>
          <a:ln xmlns:a="http://schemas.openxmlformats.org/drawingml/2006/main" w="19050">
            <a:solidFill>
              <a:srgbClr val="3D8DFF"/>
            </a:solidFill>
            <a:prstDash val="solid"/>
          </a:ln>
        </p:spPr>
      </p:sp>
      <p:sp>
        <p:nvSpPr>
          <p:cNvPr id="12" name="">
            <a:extLst xmlns:a="http://schemas.openxmlformats.org/drawingml/2006/main">
              <a:ext uri="{FF2B5EF4-FFF2-40B4-BE49-F238E27FC236}">
                <a16:creationId xmlns:a16="http://schemas.microsoft.com/office/drawing/2014/main" id="{8D122202-63BA-4E02-A33A-CFEBC3C67CA8}"/>
              </a:ext>
            </a:extLst>
          </p:cNvPr>
          <p:cNvSpPr>
            <a:spLocks xmlns:a="http://schemas.openxmlformats.org/drawingml/2006/main" noGrp="1"/>
          </p:cNvSpPr>
          <p:nvPr/>
        </p:nvSpPr>
        <p:spPr>
          <a:xfrm xmlns:a="http://schemas.openxmlformats.org/drawingml/2006/main">
            <a:off x="857250" y="2971800"/>
            <a:ext cx="123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Operator</a:t>
            </a:r>
          </a:p>
        </p:txBody>
      </p:sp>
      <p:sp>
        <p:nvSpPr>
          <p:cNvPr id="13" name="">
            <a:extLst xmlns:a="http://schemas.openxmlformats.org/drawingml/2006/main">
              <a:ext uri="{FF2B5EF4-FFF2-40B4-BE49-F238E27FC236}">
                <a16:creationId xmlns:a16="http://schemas.microsoft.com/office/drawing/2014/main" id="{B6C41850-DE11-494A-96AD-0679F61AB048}"/>
              </a:ext>
            </a:extLst>
          </p:cNvPr>
          <p:cNvSpPr>
            <a:spLocks xmlns:a="http://schemas.openxmlformats.org/drawingml/2006/main" noGrp="1"/>
          </p:cNvSpPr>
          <p:nvPr/>
        </p:nvSpPr>
        <p:spPr>
          <a:xfrm xmlns:a="http://schemas.openxmlformats.org/drawingml/2006/main">
            <a:off x="4762500" y="1952625"/>
            <a:ext cx="1428750" cy="685800"/>
          </a:xfrm>
          <a:prstGeom xmlns:a="http://schemas.openxmlformats.org/drawingml/2006/main" prst="ellipse">
            <a:avLst/>
          </a:prstGeom>
          <a:solidFill xmlns:a="http://schemas.openxmlformats.org/drawingml/2006/main">
            <a:srgbClr val="FFFFFF"/>
          </a:solidFill>
          <a:ln xmlns:a="http://schemas.openxmlformats.org/drawingml/2006/main" w="19050">
            <a:solidFill>
              <a:srgbClr val="111111"/>
            </a:solidFill>
            <a:prstDash val="solid"/>
          </a:ln>
        </p:spPr>
      </p:sp>
      <p:sp>
        <p:nvSpPr>
          <p:cNvPr id="14" name="">
            <a:extLst xmlns:a="http://schemas.openxmlformats.org/drawingml/2006/main">
              <a:ext uri="{FF2B5EF4-FFF2-40B4-BE49-F238E27FC236}">
                <a16:creationId xmlns:a16="http://schemas.microsoft.com/office/drawing/2014/main" id="{4574DC3A-85CB-442C-BDBA-74C4215394A2}"/>
              </a:ext>
            </a:extLst>
          </p:cNvPr>
          <p:cNvSpPr>
            <a:spLocks xmlns:a="http://schemas.openxmlformats.org/drawingml/2006/main" noGrp="1"/>
          </p:cNvSpPr>
          <p:nvPr/>
        </p:nvSpPr>
        <p:spPr>
          <a:xfrm xmlns:a="http://schemas.openxmlformats.org/drawingml/2006/main">
            <a:off x="4857750" y="2114550"/>
            <a:ext cx="123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Server A</a:t>
            </a:r>
          </a:p>
        </p:txBody>
      </p:sp>
      <p:sp>
        <p:nvSpPr>
          <p:cNvPr id="15" name="">
            <a:extLst xmlns:a="http://schemas.openxmlformats.org/drawingml/2006/main">
              <a:ext uri="{FF2B5EF4-FFF2-40B4-BE49-F238E27FC236}">
                <a16:creationId xmlns:a16="http://schemas.microsoft.com/office/drawing/2014/main" id="{BB12174A-0574-487C-A660-8245BF85DC5D}"/>
              </a:ext>
            </a:extLst>
          </p:cNvPr>
          <p:cNvSpPr>
            <a:spLocks xmlns:a="http://schemas.openxmlformats.org/drawingml/2006/main" noGrp="1"/>
          </p:cNvSpPr>
          <p:nvPr/>
        </p:nvSpPr>
        <p:spPr>
          <a:xfrm xmlns:a="http://schemas.openxmlformats.org/drawingml/2006/main">
            <a:off x="4762500" y="3762375"/>
            <a:ext cx="1428750" cy="685800"/>
          </a:xfrm>
          <a:prstGeom xmlns:a="http://schemas.openxmlformats.org/drawingml/2006/main" prst="ellipse">
            <a:avLst/>
          </a:prstGeom>
          <a:solidFill xmlns:a="http://schemas.openxmlformats.org/drawingml/2006/main">
            <a:srgbClr val="FFF4F1"/>
          </a:solidFill>
          <a:ln xmlns:a="http://schemas.openxmlformats.org/drawingml/2006/main" w="19050">
            <a:solidFill>
              <a:srgbClr val="C23B22"/>
            </a:solidFill>
            <a:prstDash val="solid"/>
          </a:ln>
        </p:spPr>
      </p:sp>
      <p:sp>
        <p:nvSpPr>
          <p:cNvPr id="16" name="">
            <a:extLst xmlns:a="http://schemas.openxmlformats.org/drawingml/2006/main">
              <a:ext uri="{FF2B5EF4-FFF2-40B4-BE49-F238E27FC236}">
                <a16:creationId xmlns:a16="http://schemas.microsoft.com/office/drawing/2014/main" id="{6845B78E-5740-40E8-82D9-BA2031B46C34}"/>
              </a:ext>
            </a:extLst>
          </p:cNvPr>
          <p:cNvSpPr>
            <a:spLocks xmlns:a="http://schemas.openxmlformats.org/drawingml/2006/main" noGrp="1"/>
          </p:cNvSpPr>
          <p:nvPr/>
        </p:nvSpPr>
        <p:spPr>
          <a:xfrm xmlns:a="http://schemas.openxmlformats.org/drawingml/2006/main">
            <a:off x="4857750" y="3924300"/>
            <a:ext cx="123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Decoy</a:t>
            </a:r>
          </a:p>
        </p:txBody>
      </p:sp>
      <p:sp>
        <p:nvSpPr>
          <p:cNvPr id="17" name="">
            <a:extLst xmlns:a="http://schemas.openxmlformats.org/drawingml/2006/main">
              <a:ext uri="{FF2B5EF4-FFF2-40B4-BE49-F238E27FC236}">
                <a16:creationId xmlns:a16="http://schemas.microsoft.com/office/drawing/2014/main" id="{CFE921B3-8680-4864-AE67-097E19B793BF}"/>
              </a:ext>
            </a:extLst>
          </p:cNvPr>
          <p:cNvSpPr>
            <a:spLocks xmlns:a="http://schemas.openxmlformats.org/drawingml/2006/main" noGrp="1"/>
          </p:cNvSpPr>
          <p:nvPr/>
        </p:nvSpPr>
        <p:spPr>
          <a:xfrm xmlns:a="http://schemas.openxmlformats.org/drawingml/2006/main">
            <a:off x="8858250" y="2857500"/>
            <a:ext cx="1428750" cy="685800"/>
          </a:xfrm>
          <a:prstGeom xmlns:a="http://schemas.openxmlformats.org/drawingml/2006/main" prst="ellipse">
            <a:avLst/>
          </a:prstGeom>
          <a:solidFill xmlns:a="http://schemas.openxmlformats.org/drawingml/2006/main">
            <a:srgbClr val="E9F5EE"/>
          </a:solidFill>
          <a:ln xmlns:a="http://schemas.openxmlformats.org/drawingml/2006/main" w="19050">
            <a:solidFill>
              <a:srgbClr val="2A7A52"/>
            </a:solidFill>
            <a:prstDash val="solid"/>
          </a:ln>
        </p:spPr>
      </p:sp>
      <p:sp>
        <p:nvSpPr>
          <p:cNvPr id="18" name="">
            <a:extLst xmlns:a="http://schemas.openxmlformats.org/drawingml/2006/main">
              <a:ext uri="{FF2B5EF4-FFF2-40B4-BE49-F238E27FC236}">
                <a16:creationId xmlns:a16="http://schemas.microsoft.com/office/drawing/2014/main" id="{B04BAD01-671F-4C5D-B9FE-B3D2C70D755A}"/>
              </a:ext>
            </a:extLst>
          </p:cNvPr>
          <p:cNvSpPr>
            <a:spLocks xmlns:a="http://schemas.openxmlformats.org/drawingml/2006/main" noGrp="1"/>
          </p:cNvSpPr>
          <p:nvPr/>
        </p:nvSpPr>
        <p:spPr>
          <a:xfrm xmlns:a="http://schemas.openxmlformats.org/drawingml/2006/main">
            <a:off x="8953500" y="3019425"/>
            <a:ext cx="123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Tier 0</a:t>
            </a:r>
          </a:p>
        </p:txBody>
      </p:sp>
      <p:sp>
        <p:nvSpPr>
          <p:cNvPr id="19" name="">
            <a:extLst xmlns:a="http://schemas.openxmlformats.org/drawingml/2006/main">
              <a:ext uri="{FF2B5EF4-FFF2-40B4-BE49-F238E27FC236}">
                <a16:creationId xmlns:a16="http://schemas.microsoft.com/office/drawing/2014/main" id="{3B82C046-03D1-4C57-AEAF-C982427C6016}"/>
              </a:ext>
            </a:extLst>
          </p:cNvPr>
          <p:cNvSpPr>
            <a:spLocks xmlns:a="http://schemas.openxmlformats.org/drawingml/2006/main" noGrp="1"/>
          </p:cNvSpPr>
          <p:nvPr/>
        </p:nvSpPr>
        <p:spPr>
          <a:xfrm xmlns:a="http://schemas.openxmlformats.org/drawingml/2006/main">
            <a:off x="2800350" y="23241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0">
                <a:solidFill>
                  <a:srgbClr val="62676F"/>
                </a:solidFill>
                <a:latin typeface="Helvetica Neue"/>
                <a:ea typeface="Helvetica Neue"/>
                <a:cs typeface="Helvetica Neue"/>
              </a:defRPr>
            </a:pPr>
            <a:r>
              <a:rPr sz="1350" b="0">
                <a:solidFill>
                  <a:srgbClr val="62676F"/>
                </a:solidFill>
                <a:latin typeface="Helvetica Neue"/>
                <a:ea typeface="Helvetica Neue"/>
                <a:cs typeface="Helvetica Neue"/>
              </a:rPr>
              <a:t>session + ACL</a:t>
            </a:r>
          </a:p>
        </p:txBody>
      </p:sp>
      <p:sp>
        <p:nvSpPr>
          <p:cNvPr id="20" name="">
            <a:extLst xmlns:a="http://schemas.openxmlformats.org/drawingml/2006/main">
              <a:ext uri="{FF2B5EF4-FFF2-40B4-BE49-F238E27FC236}">
                <a16:creationId xmlns:a16="http://schemas.microsoft.com/office/drawing/2014/main" id="{C8E01583-E962-49B9-9FA7-DDFCFFACAF85}"/>
              </a:ext>
            </a:extLst>
          </p:cNvPr>
          <p:cNvSpPr>
            <a:spLocks xmlns:a="http://schemas.openxmlformats.org/drawingml/2006/main" noGrp="1"/>
          </p:cNvSpPr>
          <p:nvPr/>
        </p:nvSpPr>
        <p:spPr>
          <a:xfrm xmlns:a="http://schemas.openxmlformats.org/drawingml/2006/main">
            <a:off x="6572250" y="3819525"/>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0">
                <a:solidFill>
                  <a:srgbClr val="C23B22"/>
                </a:solidFill>
                <a:latin typeface="Helvetica Neue"/>
                <a:ea typeface="Helvetica Neue"/>
                <a:cs typeface="Helvetica Neue"/>
              </a:defRPr>
            </a:pPr>
            <a:r>
              <a:rPr sz="1350" b="0">
                <a:solidFill>
                  <a:srgbClr val="C23B22"/>
                </a:solidFill>
                <a:latin typeface="Helvetica Neue"/>
                <a:ea typeface="Helvetica Neue"/>
                <a:cs typeface="Helvetica Neue"/>
              </a:rPr>
              <a:t>plausible shortcut</a:t>
            </a:r>
          </a:p>
        </p:txBody>
      </p:sp>
      <p:sp>
        <p:nvSpPr>
          <p:cNvPr id="21" name="">
            <a:extLst xmlns:a="http://schemas.openxmlformats.org/drawingml/2006/main">
              <a:ext uri="{FF2B5EF4-FFF2-40B4-BE49-F238E27FC236}">
                <a16:creationId xmlns:a16="http://schemas.microsoft.com/office/drawing/2014/main" id="{9E2C1508-3C46-463D-A27B-6284CB14683B}"/>
              </a:ext>
            </a:extLst>
          </p:cNvPr>
          <p:cNvSpPr>
            <a:spLocks xmlns:a="http://schemas.openxmlformats.org/drawingml/2006/main" noGrp="1"/>
          </p:cNvSpPr>
          <p:nvPr/>
        </p:nvSpPr>
        <p:spPr>
          <a:xfrm xmlns:a="http://schemas.openxmlformats.org/drawingml/2006/main">
            <a:off x="1619250" y="5381625"/>
            <a:ext cx="8858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The model must separate a real bounded route from a tempting but unsupported one.</a:t>
            </a:r>
          </a:p>
        </p:txBody>
      </p:sp>
    </p:spTree>
    <p:extLst>
      <p:ext uri="{BB962C8B-B14F-4D97-AF65-F5344CB8AC3E}">
        <p14:creationId xmlns:p14="http://schemas.microsoft.com/office/powerpoint/2010/main" val="198686462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42D504D8-637B-482E-8885-C654A5F0FAEA}"/>
              </a:ext>
            </a:extLst>
          </p:cNvPr>
          <p:cNvSpPr>
            <a:spLocks xmlns:a="http://schemas.openxmlformats.org/drawingml/2006/main" noGrp="1"/>
          </p:cNvSpPr>
          <p:nvPr/>
        </p:nvSpPr>
        <p:spPr>
          <a:xfrm xmlns:a="http://schemas.openxmlformats.org/drawingml/2006/main">
            <a:off x="51435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OFFENSIVE REASONING INDEX</a:t>
            </a:r>
          </a:p>
        </p:txBody>
      </p:sp>
      <p:sp>
        <p:nvSpPr>
          <p:cNvPr id="2" name="">
            <a:extLst xmlns:a="http://schemas.openxmlformats.org/drawingml/2006/main">
              <a:ext uri="{FF2B5EF4-FFF2-40B4-BE49-F238E27FC236}">
                <a16:creationId xmlns:a16="http://schemas.microsoft.com/office/drawing/2014/main" id="{FAD82CFF-10FE-4AAB-950D-183C6CCD4B93}"/>
              </a:ext>
            </a:extLst>
          </p:cNvPr>
          <p:cNvSpPr>
            <a:spLocks xmlns:a="http://schemas.openxmlformats.org/drawingml/2006/main" noGrp="1"/>
          </p:cNvSpPr>
          <p:nvPr/>
        </p:nvSpPr>
        <p:spPr>
          <a:xfrm xmlns:a="http://schemas.openxmlformats.org/drawingml/2006/main">
            <a:off x="514350" y="666750"/>
            <a:ext cx="10953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Direct and MCP test different capabilities</a:t>
            </a:r>
          </a:p>
        </p:txBody>
      </p:sp>
      <p:cxnSp>
        <p:nvCxnSpPr>
          <p:cNvPr id="16" name=""/>
          <p:cNvCxnSpPr/>
          <p:nvPr/>
        </p:nvCxnSpPr>
        <p:spPr>
          <a:xfrm xmlns:a="http://schemas.openxmlformats.org/drawingml/2006/main">
            <a:off x="514350" y="1438275"/>
            <a:ext cx="11163300" cy="0"/>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72EC61FE-9BAE-4DE0-B6B4-C39C4591913A}"/>
              </a:ext>
            </a:extLst>
          </p:cNvPr>
          <p:cNvSpPr>
            <a:spLocks xmlns:a="http://schemas.openxmlformats.org/drawingml/2006/main" noGrp="1"/>
          </p:cNvSpPr>
          <p:nvPr/>
        </p:nvSpPr>
        <p:spPr>
          <a:xfrm xmlns:a="http://schemas.openxmlformats.org/drawingml/2006/main">
            <a:off x="11258550" y="64198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62676F"/>
                </a:solidFill>
                <a:latin typeface="Helvetica Neue"/>
                <a:ea typeface="Helvetica Neue"/>
                <a:cs typeface="Helvetica Neue"/>
              </a:defRPr>
            </a:pPr>
            <a:r>
              <a:rPr sz="975" b="0">
                <a:solidFill>
                  <a:srgbClr val="62676F"/>
                </a:solidFill>
                <a:latin typeface="Helvetica Neue"/>
                <a:ea typeface="Helvetica Neue"/>
                <a:cs typeface="Helvetica Neue"/>
              </a:rPr>
              <a:t>03</a:t>
            </a:r>
          </a:p>
        </p:txBody>
      </p:sp>
      <p:cxnSp>
        <p:nvCxnSpPr>
          <p:cNvPr id="18" name=""/>
          <p:cNvCxnSpPr/>
          <p:nvPr/>
        </p:nvCxnSpPr>
        <p:spPr>
          <a:xfrm xmlns:a="http://schemas.openxmlformats.org/drawingml/2006/main">
            <a:off x="6096000" y="1857375"/>
            <a:ext cx="0" cy="4067175"/>
          </a:xfrm>
          <a:prstGeom xmlns:a="http://schemas.openxmlformats.org/drawingml/2006/main" prst="straightConnector1">
            <a:avLst/>
          </a:prstGeom>
          <a:ln xmlns:a="http://schemas.openxmlformats.org/drawingml/2006/main" w="9525">
            <a:solidFill>
              <a:srgbClr val="B8BCC4"/>
            </a:solidFill>
            <a:prstDash val="solid"/>
          </a:ln>
        </p:spPr>
      </p:cxnSp>
      <p:sp>
        <p:nvSpPr>
          <p:cNvPr id="6" name="">
            <a:extLst xmlns:a="http://schemas.openxmlformats.org/drawingml/2006/main">
              <a:ext uri="{FF2B5EF4-FFF2-40B4-BE49-F238E27FC236}">
                <a16:creationId xmlns:a16="http://schemas.microsoft.com/office/drawing/2014/main" id="{5A5B571D-4B3B-4CCC-B913-B829A5EC570E}"/>
              </a:ext>
            </a:extLst>
          </p:cNvPr>
          <p:cNvSpPr>
            <a:spLocks xmlns:a="http://schemas.openxmlformats.org/drawingml/2006/main" noGrp="1"/>
          </p:cNvSpPr>
          <p:nvPr/>
        </p:nvSpPr>
        <p:spPr>
          <a:xfrm xmlns:a="http://schemas.openxmlformats.org/drawingml/2006/main">
            <a:off x="762000" y="18097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DIRECT</a:t>
            </a:r>
          </a:p>
        </p:txBody>
      </p:sp>
      <p:sp>
        <p:nvSpPr>
          <p:cNvPr id="7" name="">
            <a:extLst xmlns:a="http://schemas.openxmlformats.org/drawingml/2006/main">
              <a:ext uri="{FF2B5EF4-FFF2-40B4-BE49-F238E27FC236}">
                <a16:creationId xmlns:a16="http://schemas.microsoft.com/office/drawing/2014/main" id="{27FBC26B-FCC1-43D7-9D7C-31AAF7BCF613}"/>
              </a:ext>
            </a:extLst>
          </p:cNvPr>
          <p:cNvSpPr>
            <a:spLocks xmlns:a="http://schemas.openxmlformats.org/drawingml/2006/main" noGrp="1"/>
          </p:cNvSpPr>
          <p:nvPr/>
        </p:nvSpPr>
        <p:spPr>
          <a:xfrm xmlns:a="http://schemas.openxmlformats.org/drawingml/2006/main">
            <a:off x="762000" y="2209800"/>
            <a:ext cx="4667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The model writes one CySQL query.</a:t>
            </a:r>
          </a:p>
        </p:txBody>
      </p:sp>
      <p:sp>
        <p:nvSpPr>
          <p:cNvPr id="8" name="">
            <a:extLst xmlns:a="http://schemas.openxmlformats.org/drawingml/2006/main">
              <a:ext uri="{FF2B5EF4-FFF2-40B4-BE49-F238E27FC236}">
                <a16:creationId xmlns:a16="http://schemas.microsoft.com/office/drawing/2014/main" id="{B20A42E3-9566-478E-B158-0009D04CCE1E}"/>
              </a:ext>
            </a:extLst>
          </p:cNvPr>
          <p:cNvSpPr>
            <a:spLocks xmlns:a="http://schemas.openxmlformats.org/drawingml/2006/main" noGrp="1"/>
          </p:cNvSpPr>
          <p:nvPr/>
        </p:nvSpPr>
        <p:spPr>
          <a:xfrm xmlns:a="http://schemas.openxmlformats.org/drawingml/2006/main">
            <a:off x="762000" y="3048000"/>
            <a:ext cx="4572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62676F"/>
                </a:solidFill>
                <a:latin typeface="Helvetica Neue"/>
                <a:ea typeface="Helvetica Neue"/>
                <a:cs typeface="Helvetica Neue"/>
              </a:defRPr>
            </a:pPr>
            <a:r>
              <a:rPr sz="1650" b="0">
                <a:solidFill>
                  <a:srgbClr val="62676F"/>
                </a:solidFill>
                <a:latin typeface="Helvetica Neue"/>
                <a:ea typeface="Helvetica Neue"/>
                <a:cs typeface="Helvetica Neue"/>
              </a:rPr>
              <a:t>ORI contains the query, executes it once, projects graph evidence, and scores the structured result.</a:t>
            </a:r>
          </a:p>
        </p:txBody>
      </p:sp>
      <p:sp>
        <p:nvSpPr>
          <p:cNvPr id="9" name="">
            <a:extLst xmlns:a="http://schemas.openxmlformats.org/drawingml/2006/main">
              <a:ext uri="{FF2B5EF4-FFF2-40B4-BE49-F238E27FC236}">
                <a16:creationId xmlns:a16="http://schemas.microsoft.com/office/drawing/2014/main" id="{30AC613D-2725-4A21-94E1-14DC775DA1A1}"/>
              </a:ext>
            </a:extLst>
          </p:cNvPr>
          <p:cNvSpPr>
            <a:spLocks xmlns:a="http://schemas.openxmlformats.org/drawingml/2006/main" noGrp="1"/>
          </p:cNvSpPr>
          <p:nvPr/>
        </p:nvSpPr>
        <p:spPr>
          <a:xfrm xmlns:a="http://schemas.openxmlformats.org/drawingml/2006/main">
            <a:off x="762000" y="5000625"/>
            <a:ext cx="457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3D8DFF"/>
                </a:solidFill>
                <a:latin typeface="Helvetica Neue"/>
                <a:ea typeface="Helvetica Neue"/>
                <a:cs typeface="Helvetica Neue"/>
              </a:defRPr>
            </a:pPr>
            <a:r>
              <a:rPr sz="1800" b="1">
                <a:solidFill>
                  <a:srgbClr val="3D8DFF"/>
                </a:solidFill>
                <a:latin typeface="Helvetica Neue"/>
                <a:ea typeface="Helvetica Neue"/>
                <a:cs typeface="Helvetica Neue"/>
              </a:rPr>
              <a:t>query → result → Evidence IR</a:t>
            </a:r>
          </a:p>
        </p:txBody>
      </p:sp>
      <p:sp>
        <p:nvSpPr>
          <p:cNvPr id="10" name="">
            <a:extLst xmlns:a="http://schemas.openxmlformats.org/drawingml/2006/main">
              <a:ext uri="{FF2B5EF4-FFF2-40B4-BE49-F238E27FC236}">
                <a16:creationId xmlns:a16="http://schemas.microsoft.com/office/drawing/2014/main" id="{2D2EF9C1-338F-48B6-8F91-A53EFC961F24}"/>
              </a:ext>
            </a:extLst>
          </p:cNvPr>
          <p:cNvSpPr>
            <a:spLocks xmlns:a="http://schemas.openxmlformats.org/drawingml/2006/main" noGrp="1"/>
          </p:cNvSpPr>
          <p:nvPr/>
        </p:nvSpPr>
        <p:spPr>
          <a:xfrm xmlns:a="http://schemas.openxmlformats.org/drawingml/2006/main">
            <a:off x="6762750" y="18097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MCP</a:t>
            </a:r>
          </a:p>
        </p:txBody>
      </p:sp>
      <p:sp>
        <p:nvSpPr>
          <p:cNvPr id="11" name="">
            <a:extLst xmlns:a="http://schemas.openxmlformats.org/drawingml/2006/main">
              <a:ext uri="{FF2B5EF4-FFF2-40B4-BE49-F238E27FC236}">
                <a16:creationId xmlns:a16="http://schemas.microsoft.com/office/drawing/2014/main" id="{03A36B05-2C29-4624-887A-05B55913DE11}"/>
              </a:ext>
            </a:extLst>
          </p:cNvPr>
          <p:cNvSpPr>
            <a:spLocks xmlns:a="http://schemas.openxmlformats.org/drawingml/2006/main" noGrp="1"/>
          </p:cNvSpPr>
          <p:nvPr/>
        </p:nvSpPr>
        <p:spPr>
          <a:xfrm xmlns:a="http://schemas.openxmlformats.org/drawingml/2006/main">
            <a:off x="6762750" y="2209800"/>
            <a:ext cx="4667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The model chooses tools over multiple turns.</a:t>
            </a:r>
          </a:p>
        </p:txBody>
      </p:sp>
      <p:sp>
        <p:nvSpPr>
          <p:cNvPr id="12" name="">
            <a:extLst xmlns:a="http://schemas.openxmlformats.org/drawingml/2006/main">
              <a:ext uri="{FF2B5EF4-FFF2-40B4-BE49-F238E27FC236}">
                <a16:creationId xmlns:a16="http://schemas.microsoft.com/office/drawing/2014/main" id="{8E8398D7-8118-4341-BF18-3B478ACB6DFE}"/>
              </a:ext>
            </a:extLst>
          </p:cNvPr>
          <p:cNvSpPr>
            <a:spLocks xmlns:a="http://schemas.openxmlformats.org/drawingml/2006/main" noGrp="1"/>
          </p:cNvSpPr>
          <p:nvPr/>
        </p:nvSpPr>
        <p:spPr>
          <a:xfrm xmlns:a="http://schemas.openxmlformats.org/drawingml/2006/main">
            <a:off x="6762750" y="3048000"/>
            <a:ext cx="4572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62676F"/>
                </a:solidFill>
                <a:latin typeface="Helvetica Neue"/>
                <a:ea typeface="Helvetica Neue"/>
                <a:cs typeface="Helvetica Neue"/>
              </a:defRPr>
            </a:pPr>
            <a:r>
              <a:rPr sz="1650" b="0">
                <a:solidFill>
                  <a:srgbClr val="62676F"/>
                </a:solidFill>
                <a:latin typeface="Helvetica Neue"/>
                <a:ea typeface="Helvetica Neue"/>
                <a:cs typeface="Helvetica Neue"/>
              </a:rPr>
              <a:t>ORI records tool evidence, capability and launcher identity, whole-task budgets, and the final answer boundary.</a:t>
            </a:r>
          </a:p>
        </p:txBody>
      </p:sp>
      <p:sp>
        <p:nvSpPr>
          <p:cNvPr id="13" name="">
            <a:extLst xmlns:a="http://schemas.openxmlformats.org/drawingml/2006/main">
              <a:ext uri="{FF2B5EF4-FFF2-40B4-BE49-F238E27FC236}">
                <a16:creationId xmlns:a16="http://schemas.microsoft.com/office/drawing/2014/main" id="{5A598703-9D25-4F2B-BAA8-AB367FA3C68E}"/>
              </a:ext>
            </a:extLst>
          </p:cNvPr>
          <p:cNvSpPr>
            <a:spLocks xmlns:a="http://schemas.openxmlformats.org/drawingml/2006/main" noGrp="1"/>
          </p:cNvSpPr>
          <p:nvPr/>
        </p:nvSpPr>
        <p:spPr>
          <a:xfrm xmlns:a="http://schemas.openxmlformats.org/drawingml/2006/main">
            <a:off x="6762750" y="5000625"/>
            <a:ext cx="4572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800" b="1">
                <a:solidFill>
                  <a:srgbClr val="3D8DFF"/>
                </a:solidFill>
                <a:latin typeface="Helvetica Neue"/>
                <a:ea typeface="Helvetica Neue"/>
                <a:cs typeface="Helvetica Neue"/>
              </a:defRPr>
            </a:pPr>
            <a:r>
              <a:rPr sz="1800" b="1">
                <a:solidFill>
                  <a:srgbClr val="3D8DFF"/>
                </a:solidFill>
                <a:latin typeface="Helvetica Neue"/>
                <a:ea typeface="Helvetica Neue"/>
                <a:cs typeface="Helvetica Neue"/>
              </a:rPr>
              <a:t>tool loop → receipts → Evidence IR</a:t>
            </a:r>
          </a:p>
        </p:txBody>
      </p:sp>
    </p:spTree>
    <p:extLst>
      <p:ext uri="{BB962C8B-B14F-4D97-AF65-F5344CB8AC3E}">
        <p14:creationId xmlns:p14="http://schemas.microsoft.com/office/powerpoint/2010/main" val="35126071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421493EE-23DB-40C3-ABCB-7AABCF72C6F0}"/>
              </a:ext>
            </a:extLst>
          </p:cNvPr>
          <p:cNvSpPr>
            <a:spLocks xmlns:a="http://schemas.openxmlformats.org/drawingml/2006/main" noGrp="1"/>
          </p:cNvSpPr>
          <p:nvPr/>
        </p:nvSpPr>
        <p:spPr>
          <a:xfrm xmlns:a="http://schemas.openxmlformats.org/drawingml/2006/main">
            <a:off x="51435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OFFENSIVE REASONING INDEX</a:t>
            </a:r>
          </a:p>
        </p:txBody>
      </p:sp>
      <p:sp>
        <p:nvSpPr>
          <p:cNvPr id="2" name="">
            <a:extLst xmlns:a="http://schemas.openxmlformats.org/drawingml/2006/main">
              <a:ext uri="{FF2B5EF4-FFF2-40B4-BE49-F238E27FC236}">
                <a16:creationId xmlns:a16="http://schemas.microsoft.com/office/drawing/2014/main" id="{90773FAE-59DA-4758-8B3A-CE9492E6C2E7}"/>
              </a:ext>
            </a:extLst>
          </p:cNvPr>
          <p:cNvSpPr>
            <a:spLocks xmlns:a="http://schemas.openxmlformats.org/drawingml/2006/main" noGrp="1"/>
          </p:cNvSpPr>
          <p:nvPr/>
        </p:nvSpPr>
        <p:spPr>
          <a:xfrm xmlns:a="http://schemas.openxmlformats.org/drawingml/2006/main">
            <a:off x="514350" y="666750"/>
            <a:ext cx="10953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Bad evidence taught the benchmark to improve</a:t>
            </a:r>
          </a:p>
        </p:txBody>
      </p:sp>
      <p:cxnSp>
        <p:nvCxnSpPr>
          <p:cNvPr id="25" name=""/>
          <p:cNvCxnSpPr/>
          <p:nvPr/>
        </p:nvCxnSpPr>
        <p:spPr>
          <a:xfrm xmlns:a="http://schemas.openxmlformats.org/drawingml/2006/main">
            <a:off x="514350" y="1438275"/>
            <a:ext cx="11163300" cy="0"/>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561B6AD3-5DC3-422F-B7A5-DD11EDE57B80}"/>
              </a:ext>
            </a:extLst>
          </p:cNvPr>
          <p:cNvSpPr>
            <a:spLocks xmlns:a="http://schemas.openxmlformats.org/drawingml/2006/main" noGrp="1"/>
          </p:cNvSpPr>
          <p:nvPr/>
        </p:nvSpPr>
        <p:spPr>
          <a:xfrm xmlns:a="http://schemas.openxmlformats.org/drawingml/2006/main">
            <a:off x="11258550" y="64198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62676F"/>
                </a:solidFill>
                <a:latin typeface="Helvetica Neue"/>
                <a:ea typeface="Helvetica Neue"/>
                <a:cs typeface="Helvetica Neue"/>
              </a:defRPr>
            </a:pPr>
            <a:r>
              <a:rPr sz="975" b="0">
                <a:solidFill>
                  <a:srgbClr val="62676F"/>
                </a:solidFill>
                <a:latin typeface="Helvetica Neue"/>
                <a:ea typeface="Helvetica Neue"/>
                <a:cs typeface="Helvetica Neue"/>
              </a:rPr>
              <a:t>04</a:t>
            </a:r>
          </a:p>
        </p:txBody>
      </p:sp>
      <p:cxnSp>
        <p:nvCxnSpPr>
          <p:cNvPr id="27" name=""/>
          <p:cNvCxnSpPr/>
          <p:nvPr/>
        </p:nvCxnSpPr>
        <p:spPr>
          <a:xfrm xmlns:a="http://schemas.openxmlformats.org/drawingml/2006/main">
            <a:off x="952500" y="3333750"/>
            <a:ext cx="10287000" cy="0"/>
          </a:xfrm>
          <a:prstGeom xmlns:a="http://schemas.openxmlformats.org/drawingml/2006/main" prst="straightConnector1">
            <a:avLst/>
          </a:prstGeom>
          <a:ln xmlns:a="http://schemas.openxmlformats.org/drawingml/2006/main" w="19050">
            <a:solidFill>
              <a:srgbClr val="111111"/>
            </a:solidFill>
            <a:prstDash val="solid"/>
          </a:ln>
        </p:spPr>
      </p:cxnSp>
      <p:sp>
        <p:nvSpPr>
          <p:cNvPr id="6" name="">
            <a:extLst xmlns:a="http://schemas.openxmlformats.org/drawingml/2006/main">
              <a:ext uri="{FF2B5EF4-FFF2-40B4-BE49-F238E27FC236}">
                <a16:creationId xmlns:a16="http://schemas.microsoft.com/office/drawing/2014/main" id="{DCA2B58F-2FE3-4C0E-8729-C387EB584419}"/>
              </a:ext>
            </a:extLst>
          </p:cNvPr>
          <p:cNvSpPr>
            <a:spLocks xmlns:a="http://schemas.openxmlformats.org/drawingml/2006/main" noGrp="1"/>
          </p:cNvSpPr>
          <p:nvPr/>
        </p:nvSpPr>
        <p:spPr>
          <a:xfrm xmlns:a="http://schemas.openxmlformats.org/drawingml/2006/main">
            <a:off x="1352550" y="3257550"/>
            <a:ext cx="152400" cy="152400"/>
          </a:xfrm>
          <a:prstGeom xmlns:a="http://schemas.openxmlformats.org/drawingml/2006/main" prst="ellipse">
            <a:avLst/>
          </a:prstGeom>
          <a:solidFill xmlns:a="http://schemas.openxmlformats.org/drawingml/2006/main">
            <a:srgbClr val="111111"/>
          </a:solidFill>
          <a:ln xmlns:a="http://schemas.openxmlformats.org/drawingml/2006/main" w="9525">
            <a:solidFill>
              <a:srgbClr val="111111"/>
            </a:solidFill>
            <a:prstDash val="solid"/>
          </a:ln>
        </p:spPr>
      </p:sp>
      <p:sp>
        <p:nvSpPr>
          <p:cNvPr id="7" name="">
            <a:extLst xmlns:a="http://schemas.openxmlformats.org/drawingml/2006/main">
              <a:ext uri="{FF2B5EF4-FFF2-40B4-BE49-F238E27FC236}">
                <a16:creationId xmlns:a16="http://schemas.microsoft.com/office/drawing/2014/main" id="{4775ACCF-7311-4561-B1C5-BEE50E6D7D5C}"/>
              </a:ext>
            </a:extLst>
          </p:cNvPr>
          <p:cNvSpPr>
            <a:spLocks xmlns:a="http://schemas.openxmlformats.org/drawingml/2006/main" noGrp="1"/>
          </p:cNvSpPr>
          <p:nvPr/>
        </p:nvSpPr>
        <p:spPr>
          <a:xfrm xmlns:a="http://schemas.openxmlformats.org/drawingml/2006/main">
            <a:off x="1095375" y="27813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V1</a:t>
            </a:r>
          </a:p>
        </p:txBody>
      </p:sp>
      <p:sp>
        <p:nvSpPr>
          <p:cNvPr id="8" name="">
            <a:extLst xmlns:a="http://schemas.openxmlformats.org/drawingml/2006/main">
              <a:ext uri="{FF2B5EF4-FFF2-40B4-BE49-F238E27FC236}">
                <a16:creationId xmlns:a16="http://schemas.microsoft.com/office/drawing/2014/main" id="{92BD6A2B-FA4E-41A2-AF04-28EBF0C401DE}"/>
              </a:ext>
            </a:extLst>
          </p:cNvPr>
          <p:cNvSpPr>
            <a:spLocks xmlns:a="http://schemas.openxmlformats.org/drawingml/2006/main" noGrp="1"/>
          </p:cNvSpPr>
          <p:nvPr/>
        </p:nvSpPr>
        <p:spPr>
          <a:xfrm xmlns:a="http://schemas.openxmlformats.org/drawingml/2006/main">
            <a:off x="428625" y="371475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Exact answers</a:t>
            </a:r>
          </a:p>
        </p:txBody>
      </p:sp>
      <p:sp>
        <p:nvSpPr>
          <p:cNvPr id="9" name="">
            <a:extLst xmlns:a="http://schemas.openxmlformats.org/drawingml/2006/main">
              <a:ext uri="{FF2B5EF4-FFF2-40B4-BE49-F238E27FC236}">
                <a16:creationId xmlns:a16="http://schemas.microsoft.com/office/drawing/2014/main" id="{B9242BEE-72D2-427B-9C3D-8F38E516441D}"/>
              </a:ext>
            </a:extLst>
          </p:cNvPr>
          <p:cNvSpPr>
            <a:spLocks xmlns:a="http://schemas.openxmlformats.org/drawingml/2006/main" noGrp="1"/>
          </p:cNvSpPr>
          <p:nvPr/>
        </p:nvSpPr>
        <p:spPr>
          <a:xfrm xmlns:a="http://schemas.openxmlformats.org/drawingml/2006/main">
            <a:off x="238125" y="4257675"/>
            <a:ext cx="23812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0">
                <a:solidFill>
                  <a:srgbClr val="62676F"/>
                </a:solidFill>
                <a:latin typeface="Helvetica Neue"/>
                <a:ea typeface="Helvetica Neue"/>
                <a:cs typeface="Helvetica Neue"/>
              </a:defRPr>
            </a:pPr>
            <a:r>
              <a:rPr sz="1350" b="0">
                <a:solidFill>
                  <a:srgbClr val="62676F"/>
                </a:solidFill>
                <a:latin typeface="Helvetica Neue"/>
                <a:ea typeface="Helvetica Neue"/>
                <a:cs typeface="Helvetica Neue"/>
              </a:rPr>
              <a:t>Useful experiment; scorer drift could look like model failure.</a:t>
            </a:r>
          </a:p>
        </p:txBody>
      </p:sp>
      <p:sp>
        <p:nvSpPr>
          <p:cNvPr id="10" name="">
            <a:extLst xmlns:a="http://schemas.openxmlformats.org/drawingml/2006/main">
              <a:ext uri="{FF2B5EF4-FFF2-40B4-BE49-F238E27FC236}">
                <a16:creationId xmlns:a16="http://schemas.microsoft.com/office/drawing/2014/main" id="{0D71FA61-1E04-41FE-A9F7-C934C49B0311}"/>
              </a:ext>
            </a:extLst>
          </p:cNvPr>
          <p:cNvSpPr>
            <a:spLocks xmlns:a="http://schemas.openxmlformats.org/drawingml/2006/main" noGrp="1"/>
          </p:cNvSpPr>
          <p:nvPr/>
        </p:nvSpPr>
        <p:spPr>
          <a:xfrm xmlns:a="http://schemas.openxmlformats.org/drawingml/2006/main">
            <a:off x="4448175" y="3257550"/>
            <a:ext cx="152400" cy="152400"/>
          </a:xfrm>
          <a:prstGeom xmlns:a="http://schemas.openxmlformats.org/drawingml/2006/main" prst="ellipse">
            <a:avLst/>
          </a:prstGeom>
          <a:solidFill xmlns:a="http://schemas.openxmlformats.org/drawingml/2006/main">
            <a:srgbClr val="111111"/>
          </a:solidFill>
          <a:ln xmlns:a="http://schemas.openxmlformats.org/drawingml/2006/main" w="9525">
            <a:solidFill>
              <a:srgbClr val="111111"/>
            </a:solidFill>
            <a:prstDash val="solid"/>
          </a:ln>
        </p:spPr>
      </p:sp>
      <p:sp>
        <p:nvSpPr>
          <p:cNvPr id="11" name="">
            <a:extLst xmlns:a="http://schemas.openxmlformats.org/drawingml/2006/main">
              <a:ext uri="{FF2B5EF4-FFF2-40B4-BE49-F238E27FC236}">
                <a16:creationId xmlns:a16="http://schemas.microsoft.com/office/drawing/2014/main" id="{9D3E069F-EF18-4521-8BD3-5F0825AFE739}"/>
              </a:ext>
            </a:extLst>
          </p:cNvPr>
          <p:cNvSpPr>
            <a:spLocks xmlns:a="http://schemas.openxmlformats.org/drawingml/2006/main" noGrp="1"/>
          </p:cNvSpPr>
          <p:nvPr/>
        </p:nvSpPr>
        <p:spPr>
          <a:xfrm xmlns:a="http://schemas.openxmlformats.org/drawingml/2006/main">
            <a:off x="4191000" y="27813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V2</a:t>
            </a:r>
          </a:p>
        </p:txBody>
      </p:sp>
      <p:sp>
        <p:nvSpPr>
          <p:cNvPr id="12" name="">
            <a:extLst xmlns:a="http://schemas.openxmlformats.org/drawingml/2006/main">
              <a:ext uri="{FF2B5EF4-FFF2-40B4-BE49-F238E27FC236}">
                <a16:creationId xmlns:a16="http://schemas.microsoft.com/office/drawing/2014/main" id="{0A3DC0EE-BB75-4C2C-AE59-C89AAE8312BE}"/>
              </a:ext>
            </a:extLst>
          </p:cNvPr>
          <p:cNvSpPr>
            <a:spLocks xmlns:a="http://schemas.openxmlformats.org/drawingml/2006/main" noGrp="1"/>
          </p:cNvSpPr>
          <p:nvPr/>
        </p:nvSpPr>
        <p:spPr>
          <a:xfrm xmlns:a="http://schemas.openxmlformats.org/drawingml/2006/main">
            <a:off x="3524250" y="371475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Typed claims</a:t>
            </a:r>
          </a:p>
        </p:txBody>
      </p:sp>
      <p:sp>
        <p:nvSpPr>
          <p:cNvPr id="13" name="">
            <a:extLst xmlns:a="http://schemas.openxmlformats.org/drawingml/2006/main">
              <a:ext uri="{FF2B5EF4-FFF2-40B4-BE49-F238E27FC236}">
                <a16:creationId xmlns:a16="http://schemas.microsoft.com/office/drawing/2014/main" id="{4FC63A25-460A-4F72-B5EF-1B6A2AC10423}"/>
              </a:ext>
            </a:extLst>
          </p:cNvPr>
          <p:cNvSpPr>
            <a:spLocks xmlns:a="http://schemas.openxmlformats.org/drawingml/2006/main" noGrp="1"/>
          </p:cNvSpPr>
          <p:nvPr/>
        </p:nvSpPr>
        <p:spPr>
          <a:xfrm xmlns:a="http://schemas.openxmlformats.org/drawingml/2006/main">
            <a:off x="3333750" y="4257675"/>
            <a:ext cx="23812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0">
                <a:solidFill>
                  <a:srgbClr val="62676F"/>
                </a:solidFill>
                <a:latin typeface="Helvetica Neue"/>
                <a:ea typeface="Helvetica Neue"/>
                <a:cs typeface="Helvetica Neue"/>
              </a:defRPr>
            </a:pPr>
            <a:r>
              <a:rPr sz="1350" b="0">
                <a:solidFill>
                  <a:srgbClr val="62676F"/>
                </a:solidFill>
                <a:latin typeface="Helvetica Neue"/>
                <a:ea typeface="Helvetica Neue"/>
                <a:cs typeface="Helvetica Neue"/>
              </a:rPr>
              <a:t>Public AcceptanceSpec and sealed oracle compile from one claim.</a:t>
            </a:r>
          </a:p>
        </p:txBody>
      </p:sp>
      <p:sp>
        <p:nvSpPr>
          <p:cNvPr id="14" name="">
            <a:extLst xmlns:a="http://schemas.openxmlformats.org/drawingml/2006/main">
              <a:ext uri="{FF2B5EF4-FFF2-40B4-BE49-F238E27FC236}">
                <a16:creationId xmlns:a16="http://schemas.microsoft.com/office/drawing/2014/main" id="{69D79C0D-7472-4B9C-872F-CF33EEC6F2EF}"/>
              </a:ext>
            </a:extLst>
          </p:cNvPr>
          <p:cNvSpPr>
            <a:spLocks xmlns:a="http://schemas.openxmlformats.org/drawingml/2006/main" noGrp="1"/>
          </p:cNvSpPr>
          <p:nvPr/>
        </p:nvSpPr>
        <p:spPr>
          <a:xfrm xmlns:a="http://schemas.openxmlformats.org/drawingml/2006/main">
            <a:off x="7543800" y="3257550"/>
            <a:ext cx="152400" cy="152400"/>
          </a:xfrm>
          <a:prstGeom xmlns:a="http://schemas.openxmlformats.org/drawingml/2006/main" prst="ellipse">
            <a:avLst/>
          </a:prstGeom>
          <a:solidFill xmlns:a="http://schemas.openxmlformats.org/drawingml/2006/main">
            <a:srgbClr val="111111"/>
          </a:solidFill>
          <a:ln xmlns:a="http://schemas.openxmlformats.org/drawingml/2006/main" w="9525">
            <a:solidFill>
              <a:srgbClr val="111111"/>
            </a:solidFill>
            <a:prstDash val="solid"/>
          </a:ln>
        </p:spPr>
      </p:sp>
      <p:sp>
        <p:nvSpPr>
          <p:cNvPr id="15" name="">
            <a:extLst xmlns:a="http://schemas.openxmlformats.org/drawingml/2006/main">
              <a:ext uri="{FF2B5EF4-FFF2-40B4-BE49-F238E27FC236}">
                <a16:creationId xmlns:a16="http://schemas.microsoft.com/office/drawing/2014/main" id="{DC33A942-B6B0-477B-BEFD-905D2684185B}"/>
              </a:ext>
            </a:extLst>
          </p:cNvPr>
          <p:cNvSpPr>
            <a:spLocks xmlns:a="http://schemas.openxmlformats.org/drawingml/2006/main" noGrp="1"/>
          </p:cNvSpPr>
          <p:nvPr/>
        </p:nvSpPr>
        <p:spPr>
          <a:xfrm xmlns:a="http://schemas.openxmlformats.org/drawingml/2006/main">
            <a:off x="7286625" y="27813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V28</a:t>
            </a:r>
          </a:p>
        </p:txBody>
      </p:sp>
      <p:sp>
        <p:nvSpPr>
          <p:cNvPr id="16" name="">
            <a:extLst xmlns:a="http://schemas.openxmlformats.org/drawingml/2006/main">
              <a:ext uri="{FF2B5EF4-FFF2-40B4-BE49-F238E27FC236}">
                <a16:creationId xmlns:a16="http://schemas.microsoft.com/office/drawing/2014/main" id="{D22B268C-EB6B-4D10-8A3A-82CEB860775F}"/>
              </a:ext>
            </a:extLst>
          </p:cNvPr>
          <p:cNvSpPr>
            <a:spLocks xmlns:a="http://schemas.openxmlformats.org/drawingml/2006/main" noGrp="1"/>
          </p:cNvSpPr>
          <p:nvPr/>
        </p:nvSpPr>
        <p:spPr>
          <a:xfrm xmlns:a="http://schemas.openxmlformats.org/drawingml/2006/main">
            <a:off x="6619875" y="371475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Live parity</a:t>
            </a:r>
          </a:p>
        </p:txBody>
      </p:sp>
      <p:sp>
        <p:nvSpPr>
          <p:cNvPr id="17" name="">
            <a:extLst xmlns:a="http://schemas.openxmlformats.org/drawingml/2006/main">
              <a:ext uri="{FF2B5EF4-FFF2-40B4-BE49-F238E27FC236}">
                <a16:creationId xmlns:a16="http://schemas.microsoft.com/office/drawing/2014/main" id="{3A381D2E-D7A3-43AD-86F3-5CC44F0BE08E}"/>
              </a:ext>
            </a:extLst>
          </p:cNvPr>
          <p:cNvSpPr>
            <a:spLocks xmlns:a="http://schemas.openxmlformats.org/drawingml/2006/main" noGrp="1"/>
          </p:cNvSpPr>
          <p:nvPr/>
        </p:nvSpPr>
        <p:spPr>
          <a:xfrm xmlns:a="http://schemas.openxmlformats.org/drawingml/2006/main">
            <a:off x="6429375" y="4257675"/>
            <a:ext cx="23812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0">
                <a:solidFill>
                  <a:srgbClr val="62676F"/>
                </a:solidFill>
                <a:latin typeface="Helvetica Neue"/>
                <a:ea typeface="Helvetica Neue"/>
                <a:cs typeface="Helvetica Neue"/>
              </a:defRPr>
            </a:pPr>
            <a:r>
              <a:rPr sz="1350" b="0">
                <a:solidFill>
                  <a:srgbClr val="62676F"/>
                </a:solidFill>
                <a:latin typeface="Helvetica Neue"/>
                <a:ea typeface="Helvetica Neue"/>
                <a:cs typeface="Helvetica Neue"/>
              </a:rPr>
              <a:t>Track adapters, evidence projection, and graph gates cross the same fixtures.</a:t>
            </a:r>
          </a:p>
        </p:txBody>
      </p:sp>
      <p:sp>
        <p:nvSpPr>
          <p:cNvPr id="18" name="">
            <a:extLst xmlns:a="http://schemas.openxmlformats.org/drawingml/2006/main">
              <a:ext uri="{FF2B5EF4-FFF2-40B4-BE49-F238E27FC236}">
                <a16:creationId xmlns:a16="http://schemas.microsoft.com/office/drawing/2014/main" id="{48F48A6B-2259-4F66-AE5B-2868D0F6EE5B}"/>
              </a:ext>
            </a:extLst>
          </p:cNvPr>
          <p:cNvSpPr>
            <a:spLocks xmlns:a="http://schemas.openxmlformats.org/drawingml/2006/main" noGrp="1"/>
          </p:cNvSpPr>
          <p:nvPr/>
        </p:nvSpPr>
        <p:spPr>
          <a:xfrm xmlns:a="http://schemas.openxmlformats.org/drawingml/2006/main">
            <a:off x="10639425" y="3257550"/>
            <a:ext cx="152400" cy="152400"/>
          </a:xfrm>
          <a:prstGeom xmlns:a="http://schemas.openxmlformats.org/drawingml/2006/main" prst="ellipse">
            <a:avLst/>
          </a:prstGeom>
          <a:solidFill xmlns:a="http://schemas.openxmlformats.org/drawingml/2006/main">
            <a:srgbClr val="3D8DFF"/>
          </a:solidFill>
          <a:ln xmlns:a="http://schemas.openxmlformats.org/drawingml/2006/main" w="9525">
            <a:solidFill>
              <a:srgbClr val="3D8DFF"/>
            </a:solidFill>
            <a:prstDash val="solid"/>
          </a:ln>
        </p:spPr>
      </p:sp>
      <p:sp>
        <p:nvSpPr>
          <p:cNvPr id="19" name="">
            <a:extLst xmlns:a="http://schemas.openxmlformats.org/drawingml/2006/main">
              <a:ext uri="{FF2B5EF4-FFF2-40B4-BE49-F238E27FC236}">
                <a16:creationId xmlns:a16="http://schemas.microsoft.com/office/drawing/2014/main" id="{CEB5E9FE-7FFF-4EA7-B180-68633F6CD287}"/>
              </a:ext>
            </a:extLst>
          </p:cNvPr>
          <p:cNvSpPr>
            <a:spLocks xmlns:a="http://schemas.openxmlformats.org/drawingml/2006/main" noGrp="1"/>
          </p:cNvSpPr>
          <p:nvPr/>
        </p:nvSpPr>
        <p:spPr>
          <a:xfrm xmlns:a="http://schemas.openxmlformats.org/drawingml/2006/main">
            <a:off x="10382250" y="2781300"/>
            <a:ext cx="66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V29</a:t>
            </a:r>
          </a:p>
        </p:txBody>
      </p:sp>
      <p:sp>
        <p:nvSpPr>
          <p:cNvPr id="20" name="">
            <a:extLst xmlns:a="http://schemas.openxmlformats.org/drawingml/2006/main">
              <a:ext uri="{FF2B5EF4-FFF2-40B4-BE49-F238E27FC236}">
                <a16:creationId xmlns:a16="http://schemas.microsoft.com/office/drawing/2014/main" id="{631DB402-2F73-45C2-A2C9-8D9BEB0C130B}"/>
              </a:ext>
            </a:extLst>
          </p:cNvPr>
          <p:cNvSpPr>
            <a:spLocks xmlns:a="http://schemas.openxmlformats.org/drawingml/2006/main" noGrp="1"/>
          </p:cNvSpPr>
          <p:nvPr/>
        </p:nvSpPr>
        <p:spPr>
          <a:xfrm xmlns:a="http://schemas.openxmlformats.org/drawingml/2006/main">
            <a:off x="9715500" y="371475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Durable release</a:t>
            </a:r>
          </a:p>
        </p:txBody>
      </p:sp>
      <p:sp>
        <p:nvSpPr>
          <p:cNvPr id="21" name="">
            <a:extLst xmlns:a="http://schemas.openxmlformats.org/drawingml/2006/main">
              <a:ext uri="{FF2B5EF4-FFF2-40B4-BE49-F238E27FC236}">
                <a16:creationId xmlns:a16="http://schemas.microsoft.com/office/drawing/2014/main" id="{5E3E4A37-9A9B-42C2-906D-D662F806F8DB}"/>
              </a:ext>
            </a:extLst>
          </p:cNvPr>
          <p:cNvSpPr>
            <a:spLocks xmlns:a="http://schemas.openxmlformats.org/drawingml/2006/main" noGrp="1"/>
          </p:cNvSpPr>
          <p:nvPr/>
        </p:nvSpPr>
        <p:spPr>
          <a:xfrm xmlns:a="http://schemas.openxmlformats.org/drawingml/2006/main">
            <a:off x="9525000" y="4257675"/>
            <a:ext cx="23812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0">
                <a:solidFill>
                  <a:srgbClr val="62676F"/>
                </a:solidFill>
                <a:latin typeface="Helvetica Neue"/>
                <a:ea typeface="Helvetica Neue"/>
                <a:cs typeface="Helvetica Neue"/>
              </a:defRPr>
            </a:pPr>
            <a:r>
              <a:rPr sz="1350" b="0">
                <a:solidFill>
                  <a:srgbClr val="62676F"/>
                </a:solidFill>
                <a:latin typeface="Helvetica Neue"/>
                <a:ea typeface="Helvetica Neue"/>
                <a:cs typeface="Helvetica Neue"/>
              </a:rPr>
              <a:t>Semantic scheduling, campaign locks, checkpoints, and per-track publication.</a:t>
            </a:r>
          </a:p>
        </p:txBody>
      </p:sp>
      <p:sp>
        <p:nvSpPr>
          <p:cNvPr id="22" name="">
            <a:extLst xmlns:a="http://schemas.openxmlformats.org/drawingml/2006/main">
              <a:ext uri="{FF2B5EF4-FFF2-40B4-BE49-F238E27FC236}">
                <a16:creationId xmlns:a16="http://schemas.microsoft.com/office/drawing/2014/main" id="{95B77DE5-A034-4A3F-8AEF-451F47202214}"/>
              </a:ext>
            </a:extLst>
          </p:cNvPr>
          <p:cNvSpPr>
            <a:spLocks xmlns:a="http://schemas.openxmlformats.org/drawingml/2006/main" noGrp="1"/>
          </p:cNvSpPr>
          <p:nvPr/>
        </p:nvSpPr>
        <p:spPr>
          <a:xfrm xmlns:a="http://schemas.openxmlformats.org/drawingml/2006/main">
            <a:off x="1619250" y="1809750"/>
            <a:ext cx="8953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250" b="1">
                <a:solidFill>
                  <a:srgbClr val="C23B22"/>
                </a:solidFill>
                <a:latin typeface="Helvetica Neue"/>
                <a:ea typeface="Helvetica Neue"/>
                <a:cs typeface="Helvetica Neue"/>
              </a:defRPr>
            </a:pPr>
            <a:r>
              <a:rPr sz="2250" b="1">
                <a:solidFill>
                  <a:srgbClr val="C23B22"/>
                </a:solidFill>
                <a:latin typeface="Helvetica Neue"/>
                <a:ea typeface="Helvetica Neue"/>
                <a:cs typeface="Helvetica Neue"/>
              </a:rPr>
              <a:t>Benchmark defects can masquerade as model failures.</a:t>
            </a:r>
          </a:p>
        </p:txBody>
      </p:sp>
    </p:spTree>
    <p:extLst>
      <p:ext uri="{BB962C8B-B14F-4D97-AF65-F5344CB8AC3E}">
        <p14:creationId xmlns:p14="http://schemas.microsoft.com/office/powerpoint/2010/main" val="91470019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D860A072-1DCD-42DA-AF51-D2AA1094AD71}"/>
              </a:ext>
            </a:extLst>
          </p:cNvPr>
          <p:cNvSpPr>
            <a:spLocks xmlns:a="http://schemas.openxmlformats.org/drawingml/2006/main" noGrp="1"/>
          </p:cNvSpPr>
          <p:nvPr/>
        </p:nvSpPr>
        <p:spPr>
          <a:xfrm xmlns:a="http://schemas.openxmlformats.org/drawingml/2006/main">
            <a:off x="51435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OFFENSIVE REASONING INDEX</a:t>
            </a:r>
          </a:p>
        </p:txBody>
      </p:sp>
      <p:sp>
        <p:nvSpPr>
          <p:cNvPr id="2" name="">
            <a:extLst xmlns:a="http://schemas.openxmlformats.org/drawingml/2006/main">
              <a:ext uri="{FF2B5EF4-FFF2-40B4-BE49-F238E27FC236}">
                <a16:creationId xmlns:a16="http://schemas.microsoft.com/office/drawing/2014/main" id="{D88C2E01-B8F0-4978-8C87-CA222D0C6460}"/>
              </a:ext>
            </a:extLst>
          </p:cNvPr>
          <p:cNvSpPr>
            <a:spLocks xmlns:a="http://schemas.openxmlformats.org/drawingml/2006/main" noGrp="1"/>
          </p:cNvSpPr>
          <p:nvPr/>
        </p:nvSpPr>
        <p:spPr>
          <a:xfrm xmlns:a="http://schemas.openxmlformats.org/drawingml/2006/main">
            <a:off x="514350" y="666750"/>
            <a:ext cx="10953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Graph truth comes before model spend</a:t>
            </a:r>
          </a:p>
        </p:txBody>
      </p:sp>
      <p:cxnSp>
        <p:nvCxnSpPr>
          <p:cNvPr id="32" name=""/>
          <p:cNvCxnSpPr/>
          <p:nvPr/>
        </p:nvCxnSpPr>
        <p:spPr>
          <a:xfrm xmlns:a="http://schemas.openxmlformats.org/drawingml/2006/main">
            <a:off x="514350" y="1438275"/>
            <a:ext cx="11163300" cy="0"/>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05758992-BA39-44A9-B220-235073C27D4C}"/>
              </a:ext>
            </a:extLst>
          </p:cNvPr>
          <p:cNvSpPr>
            <a:spLocks xmlns:a="http://schemas.openxmlformats.org/drawingml/2006/main" noGrp="1"/>
          </p:cNvSpPr>
          <p:nvPr/>
        </p:nvSpPr>
        <p:spPr>
          <a:xfrm xmlns:a="http://schemas.openxmlformats.org/drawingml/2006/main">
            <a:off x="11258550" y="64198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62676F"/>
                </a:solidFill>
                <a:latin typeface="Helvetica Neue"/>
                <a:ea typeface="Helvetica Neue"/>
                <a:cs typeface="Helvetica Neue"/>
              </a:defRPr>
            </a:pPr>
            <a:r>
              <a:rPr sz="975" b="0">
                <a:solidFill>
                  <a:srgbClr val="62676F"/>
                </a:solidFill>
                <a:latin typeface="Helvetica Neue"/>
                <a:ea typeface="Helvetica Neue"/>
                <a:cs typeface="Helvetica Neue"/>
              </a:rPr>
              <a:t>05</a:t>
            </a:r>
          </a:p>
        </p:txBody>
      </p:sp>
      <p:cxnSp>
        <p:nvCxnSpPr>
          <p:cNvPr id="34" name=""/>
          <p:cNvCxnSpPr/>
          <p:nvPr/>
        </p:nvCxnSpPr>
        <p:spPr>
          <a:xfrm xmlns:a="http://schemas.openxmlformats.org/drawingml/2006/main">
            <a:off x="2066925" y="3381375"/>
            <a:ext cx="114300" cy="0"/>
          </a:xfrm>
          <a:prstGeom xmlns:a="http://schemas.openxmlformats.org/drawingml/2006/main" prst="straightConnector1">
            <a:avLst/>
          </a:prstGeom>
          <a:ln xmlns:a="http://schemas.openxmlformats.org/drawingml/2006/main" w="19050">
            <a:solidFill>
              <a:srgbClr val="B8BCC4"/>
            </a:solidFill>
            <a:prstDash val="solid"/>
          </a:ln>
        </p:spPr>
      </p:cxnSp>
      <p:sp>
        <p:nvSpPr>
          <p:cNvPr id="6" name="">
            <a:extLst xmlns:a="http://schemas.openxmlformats.org/drawingml/2006/main">
              <a:ext uri="{FF2B5EF4-FFF2-40B4-BE49-F238E27FC236}">
                <a16:creationId xmlns:a16="http://schemas.microsoft.com/office/drawing/2014/main" id="{5FAE8AE9-3EE6-49C1-8152-86B915065E31}"/>
              </a:ext>
            </a:extLst>
          </p:cNvPr>
          <p:cNvSpPr>
            <a:spLocks xmlns:a="http://schemas.openxmlformats.org/drawingml/2006/main" noGrp="1"/>
          </p:cNvSpPr>
          <p:nvPr/>
        </p:nvSpPr>
        <p:spPr>
          <a:xfrm xmlns:a="http://schemas.openxmlformats.org/drawingml/2006/main">
            <a:off x="571500" y="2714625"/>
            <a:ext cx="1495425" cy="1333500"/>
          </a:xfrm>
          <a:prstGeom xmlns:a="http://schemas.openxmlformats.org/drawingml/2006/main" prst="rect">
            <a:avLst/>
          </a:prstGeom>
          <a:solidFill xmlns:a="http://schemas.openxmlformats.org/drawingml/2006/main">
            <a:srgbClr val="F2F2F2"/>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B49A05D8-9F7A-4E89-90E1-21D13F8073EB}"/>
              </a:ext>
            </a:extLst>
          </p:cNvPr>
          <p:cNvSpPr>
            <a:spLocks xmlns:a="http://schemas.openxmlformats.org/drawingml/2006/main" noGrp="1"/>
          </p:cNvSpPr>
          <p:nvPr/>
        </p:nvSpPr>
        <p:spPr>
          <a:xfrm xmlns:a="http://schemas.openxmlformats.org/drawingml/2006/main">
            <a:off x="666750" y="3048000"/>
            <a:ext cx="13049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Generate</a:t>
            </a:r>
          </a:p>
        </p:txBody>
      </p:sp>
      <p:cxnSp>
        <p:nvCxnSpPr>
          <p:cNvPr id="37" name=""/>
          <p:cNvCxnSpPr/>
          <p:nvPr/>
        </p:nvCxnSpPr>
        <p:spPr>
          <a:xfrm xmlns:a="http://schemas.openxmlformats.org/drawingml/2006/main">
            <a:off x="3676650" y="3381375"/>
            <a:ext cx="114300" cy="0"/>
          </a:xfrm>
          <a:prstGeom xmlns:a="http://schemas.openxmlformats.org/drawingml/2006/main" prst="straightConnector1">
            <a:avLst/>
          </a:prstGeom>
          <a:ln xmlns:a="http://schemas.openxmlformats.org/drawingml/2006/main" w="19050">
            <a:solidFill>
              <a:srgbClr val="B8BCC4"/>
            </a:solidFill>
            <a:prstDash val="solid"/>
          </a:ln>
        </p:spPr>
      </p:cxnSp>
      <p:sp>
        <p:nvSpPr>
          <p:cNvPr id="9" name="">
            <a:extLst xmlns:a="http://schemas.openxmlformats.org/drawingml/2006/main">
              <a:ext uri="{FF2B5EF4-FFF2-40B4-BE49-F238E27FC236}">
                <a16:creationId xmlns:a16="http://schemas.microsoft.com/office/drawing/2014/main" id="{5283D6C0-BF17-4DBF-B523-3212796F0490}"/>
              </a:ext>
            </a:extLst>
          </p:cNvPr>
          <p:cNvSpPr>
            <a:spLocks xmlns:a="http://schemas.openxmlformats.org/drawingml/2006/main" noGrp="1"/>
          </p:cNvSpPr>
          <p:nvPr/>
        </p:nvSpPr>
        <p:spPr>
          <a:xfrm xmlns:a="http://schemas.openxmlformats.org/drawingml/2006/main">
            <a:off x="2181225" y="2714625"/>
            <a:ext cx="1495425" cy="1333500"/>
          </a:xfrm>
          <a:prstGeom xmlns:a="http://schemas.openxmlformats.org/drawingml/2006/main" prst="rect">
            <a:avLst/>
          </a:prstGeom>
          <a:solidFill xmlns:a="http://schemas.openxmlformats.org/drawingml/2006/main">
            <a:srgbClr val="F2F2F2"/>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06C30AF8-DEF3-4E38-AB9C-3BED0AF91B59}"/>
              </a:ext>
            </a:extLst>
          </p:cNvPr>
          <p:cNvSpPr>
            <a:spLocks xmlns:a="http://schemas.openxmlformats.org/drawingml/2006/main" noGrp="1"/>
          </p:cNvSpPr>
          <p:nvPr/>
        </p:nvSpPr>
        <p:spPr>
          <a:xfrm xmlns:a="http://schemas.openxmlformats.org/drawingml/2006/main">
            <a:off x="2276475" y="3048000"/>
            <a:ext cx="13049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Archive</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validate</a:t>
            </a:r>
          </a:p>
        </p:txBody>
      </p:sp>
      <p:cxnSp>
        <p:nvCxnSpPr>
          <p:cNvPr id="40" name=""/>
          <p:cNvCxnSpPr/>
          <p:nvPr/>
        </p:nvCxnSpPr>
        <p:spPr>
          <a:xfrm xmlns:a="http://schemas.openxmlformats.org/drawingml/2006/main">
            <a:off x="5286375" y="3381375"/>
            <a:ext cx="114300" cy="0"/>
          </a:xfrm>
          <a:prstGeom xmlns:a="http://schemas.openxmlformats.org/drawingml/2006/main" prst="straightConnector1">
            <a:avLst/>
          </a:prstGeom>
          <a:ln xmlns:a="http://schemas.openxmlformats.org/drawingml/2006/main" w="19050">
            <a:solidFill>
              <a:srgbClr val="B8BCC4"/>
            </a:solidFill>
            <a:prstDash val="solid"/>
          </a:ln>
        </p:spPr>
      </p:cxnSp>
      <p:sp>
        <p:nvSpPr>
          <p:cNvPr id="12" name="">
            <a:extLst xmlns:a="http://schemas.openxmlformats.org/drawingml/2006/main">
              <a:ext uri="{FF2B5EF4-FFF2-40B4-BE49-F238E27FC236}">
                <a16:creationId xmlns:a16="http://schemas.microsoft.com/office/drawing/2014/main" id="{991AF3FE-EE0A-4910-8A57-8252A18FB37C}"/>
              </a:ext>
            </a:extLst>
          </p:cNvPr>
          <p:cNvSpPr>
            <a:spLocks xmlns:a="http://schemas.openxmlformats.org/drawingml/2006/main" noGrp="1"/>
          </p:cNvSpPr>
          <p:nvPr/>
        </p:nvSpPr>
        <p:spPr>
          <a:xfrm xmlns:a="http://schemas.openxmlformats.org/drawingml/2006/main">
            <a:off x="3790950" y="2714625"/>
            <a:ext cx="1495425" cy="1333500"/>
          </a:xfrm>
          <a:prstGeom xmlns:a="http://schemas.openxmlformats.org/drawingml/2006/main" prst="rect">
            <a:avLst/>
          </a:prstGeom>
          <a:solidFill xmlns:a="http://schemas.openxmlformats.org/drawingml/2006/main">
            <a:srgbClr val="F2F2F2"/>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9705AD04-C8F1-43C4-99A3-BB461FCF136F}"/>
              </a:ext>
            </a:extLst>
          </p:cNvPr>
          <p:cNvSpPr>
            <a:spLocks xmlns:a="http://schemas.openxmlformats.org/drawingml/2006/main" noGrp="1"/>
          </p:cNvSpPr>
          <p:nvPr/>
        </p:nvSpPr>
        <p:spPr>
          <a:xfrm xmlns:a="http://schemas.openxmlformats.org/drawingml/2006/main">
            <a:off x="3886200" y="3048000"/>
            <a:ext cx="13049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Verify</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ingest</a:t>
            </a:r>
          </a:p>
        </p:txBody>
      </p:sp>
      <p:cxnSp>
        <p:nvCxnSpPr>
          <p:cNvPr id="43" name=""/>
          <p:cNvCxnSpPr/>
          <p:nvPr/>
        </p:nvCxnSpPr>
        <p:spPr>
          <a:xfrm xmlns:a="http://schemas.openxmlformats.org/drawingml/2006/main">
            <a:off x="6896100" y="3381375"/>
            <a:ext cx="114300" cy="0"/>
          </a:xfrm>
          <a:prstGeom xmlns:a="http://schemas.openxmlformats.org/drawingml/2006/main" prst="straightConnector1">
            <a:avLst/>
          </a:prstGeom>
          <a:ln xmlns:a="http://schemas.openxmlformats.org/drawingml/2006/main" w="19050">
            <a:solidFill>
              <a:srgbClr val="B8BCC4"/>
            </a:solidFill>
            <a:prstDash val="solid"/>
          </a:ln>
        </p:spPr>
      </p:cxnSp>
      <p:sp>
        <p:nvSpPr>
          <p:cNvPr id="15" name="">
            <a:extLst xmlns:a="http://schemas.openxmlformats.org/drawingml/2006/main">
              <a:ext uri="{FF2B5EF4-FFF2-40B4-BE49-F238E27FC236}">
                <a16:creationId xmlns:a16="http://schemas.microsoft.com/office/drawing/2014/main" id="{F67E648A-D768-4581-91BC-365736CFCDA5}"/>
              </a:ext>
            </a:extLst>
          </p:cNvPr>
          <p:cNvSpPr>
            <a:spLocks xmlns:a="http://schemas.openxmlformats.org/drawingml/2006/main" noGrp="1"/>
          </p:cNvSpPr>
          <p:nvPr/>
        </p:nvSpPr>
        <p:spPr>
          <a:xfrm xmlns:a="http://schemas.openxmlformats.org/drawingml/2006/main">
            <a:off x="5400675" y="2714625"/>
            <a:ext cx="1495425" cy="1333500"/>
          </a:xfrm>
          <a:prstGeom xmlns:a="http://schemas.openxmlformats.org/drawingml/2006/main" prst="rect">
            <a:avLst/>
          </a:prstGeom>
          <a:solidFill xmlns:a="http://schemas.openxmlformats.org/drawingml/2006/main">
            <a:srgbClr val="F2F2F2"/>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7ED3910D-EE71-41F4-AE9D-322ADD787685}"/>
              </a:ext>
            </a:extLst>
          </p:cNvPr>
          <p:cNvSpPr>
            <a:spLocks xmlns:a="http://schemas.openxmlformats.org/drawingml/2006/main" noGrp="1"/>
          </p:cNvSpPr>
          <p:nvPr/>
        </p:nvSpPr>
        <p:spPr>
          <a:xfrm xmlns:a="http://schemas.openxmlformats.org/drawingml/2006/main">
            <a:off x="5495925" y="3048000"/>
            <a:ext cx="13049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Compile +</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certify</a:t>
            </a:r>
          </a:p>
        </p:txBody>
      </p:sp>
      <p:cxnSp>
        <p:nvCxnSpPr>
          <p:cNvPr id="46" name=""/>
          <p:cNvCxnSpPr/>
          <p:nvPr/>
        </p:nvCxnSpPr>
        <p:spPr>
          <a:xfrm xmlns:a="http://schemas.openxmlformats.org/drawingml/2006/main">
            <a:off x="8505825" y="3381375"/>
            <a:ext cx="114300" cy="0"/>
          </a:xfrm>
          <a:prstGeom xmlns:a="http://schemas.openxmlformats.org/drawingml/2006/main" prst="straightConnector1">
            <a:avLst/>
          </a:prstGeom>
          <a:ln xmlns:a="http://schemas.openxmlformats.org/drawingml/2006/main" w="19050">
            <a:solidFill>
              <a:srgbClr val="B8BCC4"/>
            </a:solidFill>
            <a:prstDash val="solid"/>
          </a:ln>
        </p:spPr>
      </p:cxnSp>
      <p:sp>
        <p:nvSpPr>
          <p:cNvPr id="18" name="">
            <a:extLst xmlns:a="http://schemas.openxmlformats.org/drawingml/2006/main">
              <a:ext uri="{FF2B5EF4-FFF2-40B4-BE49-F238E27FC236}">
                <a16:creationId xmlns:a16="http://schemas.microsoft.com/office/drawing/2014/main" id="{65ADC36E-591D-4714-9681-668AA8E25094}"/>
              </a:ext>
            </a:extLst>
          </p:cNvPr>
          <p:cNvSpPr>
            <a:spLocks xmlns:a="http://schemas.openxmlformats.org/drawingml/2006/main" noGrp="1"/>
          </p:cNvSpPr>
          <p:nvPr/>
        </p:nvSpPr>
        <p:spPr>
          <a:xfrm xmlns:a="http://schemas.openxmlformats.org/drawingml/2006/main">
            <a:off x="7010400" y="2714625"/>
            <a:ext cx="1495425" cy="1333500"/>
          </a:xfrm>
          <a:prstGeom xmlns:a="http://schemas.openxmlformats.org/drawingml/2006/main" prst="rect">
            <a:avLst/>
          </a:prstGeom>
          <a:solidFill xmlns:a="http://schemas.openxmlformats.org/drawingml/2006/main">
            <a:srgbClr val="F2F2F2"/>
          </a:solidFill>
          <a:ln xmlns:a="http://schemas.openxmlformats.org/drawingml/2006/main" w="9525">
            <a:solidFill>
              <a:srgbClr val="B8BCC4"/>
            </a:solidFill>
            <a:prstDash val="solid"/>
          </a:ln>
        </p:spPr>
      </p:sp>
      <p:sp>
        <p:nvSpPr>
          <p:cNvPr id="19" name="">
            <a:extLst xmlns:a="http://schemas.openxmlformats.org/drawingml/2006/main">
              <a:ext uri="{FF2B5EF4-FFF2-40B4-BE49-F238E27FC236}">
                <a16:creationId xmlns:a16="http://schemas.microsoft.com/office/drawing/2014/main" id="{A9DB8386-0C1E-41ED-8204-56D17785C10D}"/>
              </a:ext>
            </a:extLst>
          </p:cNvPr>
          <p:cNvSpPr>
            <a:spLocks xmlns:a="http://schemas.openxmlformats.org/drawingml/2006/main" noGrp="1"/>
          </p:cNvSpPr>
          <p:nvPr/>
        </p:nvSpPr>
        <p:spPr>
          <a:xfrm xmlns:a="http://schemas.openxmlformats.org/drawingml/2006/main">
            <a:off x="7105650" y="3048000"/>
            <a:ext cx="13049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Readiness</a:t>
            </a:r>
          </a:p>
        </p:txBody>
      </p:sp>
      <p:cxnSp>
        <p:nvCxnSpPr>
          <p:cNvPr id="49" name=""/>
          <p:cNvCxnSpPr/>
          <p:nvPr/>
        </p:nvCxnSpPr>
        <p:spPr>
          <a:xfrm xmlns:a="http://schemas.openxmlformats.org/drawingml/2006/main">
            <a:off x="10115550" y="3381375"/>
            <a:ext cx="114300" cy="0"/>
          </a:xfrm>
          <a:prstGeom xmlns:a="http://schemas.openxmlformats.org/drawingml/2006/main" prst="straightConnector1">
            <a:avLst/>
          </a:prstGeom>
          <a:ln xmlns:a="http://schemas.openxmlformats.org/drawingml/2006/main" w="19050">
            <a:solidFill>
              <a:srgbClr val="B8BCC4"/>
            </a:solidFill>
            <a:prstDash val="solid"/>
          </a:ln>
        </p:spPr>
      </p:cxnSp>
      <p:sp>
        <p:nvSpPr>
          <p:cNvPr id="21" name="">
            <a:extLst xmlns:a="http://schemas.openxmlformats.org/drawingml/2006/main">
              <a:ext uri="{FF2B5EF4-FFF2-40B4-BE49-F238E27FC236}">
                <a16:creationId xmlns:a16="http://schemas.microsoft.com/office/drawing/2014/main" id="{F7E6EE1F-2AB7-4112-B301-6A1837BF8468}"/>
              </a:ext>
            </a:extLst>
          </p:cNvPr>
          <p:cNvSpPr>
            <a:spLocks xmlns:a="http://schemas.openxmlformats.org/drawingml/2006/main" noGrp="1"/>
          </p:cNvSpPr>
          <p:nvPr/>
        </p:nvSpPr>
        <p:spPr>
          <a:xfrm xmlns:a="http://schemas.openxmlformats.org/drawingml/2006/main">
            <a:off x="8620125" y="2714625"/>
            <a:ext cx="1495425" cy="1333500"/>
          </a:xfrm>
          <a:prstGeom xmlns:a="http://schemas.openxmlformats.org/drawingml/2006/main" prst="rect">
            <a:avLst/>
          </a:prstGeom>
          <a:solidFill xmlns:a="http://schemas.openxmlformats.org/drawingml/2006/main">
            <a:srgbClr val="D0EDFA"/>
          </a:solidFill>
          <a:ln xmlns:a="http://schemas.openxmlformats.org/drawingml/2006/main" w="9525">
            <a:solidFill>
              <a:srgbClr val="3D8DFF"/>
            </a:solidFill>
            <a:prstDash val="solid"/>
          </a:ln>
        </p:spPr>
      </p:sp>
      <p:sp>
        <p:nvSpPr>
          <p:cNvPr id="22" name="">
            <a:extLst xmlns:a="http://schemas.openxmlformats.org/drawingml/2006/main">
              <a:ext uri="{FF2B5EF4-FFF2-40B4-BE49-F238E27FC236}">
                <a16:creationId xmlns:a16="http://schemas.microsoft.com/office/drawing/2014/main" id="{EE3A7E64-945F-49E9-A47E-CE9C6A22C310}"/>
              </a:ext>
            </a:extLst>
          </p:cNvPr>
          <p:cNvSpPr>
            <a:spLocks xmlns:a="http://schemas.openxmlformats.org/drawingml/2006/main" noGrp="1"/>
          </p:cNvSpPr>
          <p:nvPr/>
        </p:nvSpPr>
        <p:spPr>
          <a:xfrm xmlns:a="http://schemas.openxmlformats.org/drawingml/2006/main">
            <a:off x="8715375" y="3048000"/>
            <a:ext cx="13049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Execute</a:t>
            </a:r>
          </a:p>
        </p:txBody>
      </p:sp>
      <p:sp>
        <p:nvSpPr>
          <p:cNvPr id="23" name="">
            <a:extLst xmlns:a="http://schemas.openxmlformats.org/drawingml/2006/main">
              <a:ext uri="{FF2B5EF4-FFF2-40B4-BE49-F238E27FC236}">
                <a16:creationId xmlns:a16="http://schemas.microsoft.com/office/drawing/2014/main" id="{B38EBB5C-EA54-4681-BB17-8A71D4CB49B5}"/>
              </a:ext>
            </a:extLst>
          </p:cNvPr>
          <p:cNvSpPr>
            <a:spLocks xmlns:a="http://schemas.openxmlformats.org/drawingml/2006/main" noGrp="1"/>
          </p:cNvSpPr>
          <p:nvPr/>
        </p:nvSpPr>
        <p:spPr>
          <a:xfrm xmlns:a="http://schemas.openxmlformats.org/drawingml/2006/main">
            <a:off x="10229850" y="2714625"/>
            <a:ext cx="1495425" cy="1333500"/>
          </a:xfrm>
          <a:prstGeom xmlns:a="http://schemas.openxmlformats.org/drawingml/2006/main" prst="rect">
            <a:avLst/>
          </a:prstGeom>
          <a:solidFill xmlns:a="http://schemas.openxmlformats.org/drawingml/2006/main">
            <a:srgbClr val="F2F2F2"/>
          </a:solidFill>
          <a:ln xmlns:a="http://schemas.openxmlformats.org/drawingml/2006/main" w="9525">
            <a:solidFill>
              <a:srgbClr val="B8BCC4"/>
            </a:solidFill>
            <a:prstDash val="solid"/>
          </a:ln>
        </p:spPr>
      </p:sp>
      <p:sp>
        <p:nvSpPr>
          <p:cNvPr id="24" name="">
            <a:extLst xmlns:a="http://schemas.openxmlformats.org/drawingml/2006/main">
              <a:ext uri="{FF2B5EF4-FFF2-40B4-BE49-F238E27FC236}">
                <a16:creationId xmlns:a16="http://schemas.microsoft.com/office/drawing/2014/main" id="{9977B842-B92B-4A92-A70C-4F4EB9CEEB8C}"/>
              </a:ext>
            </a:extLst>
          </p:cNvPr>
          <p:cNvSpPr>
            <a:spLocks xmlns:a="http://schemas.openxmlformats.org/drawingml/2006/main" noGrp="1"/>
          </p:cNvSpPr>
          <p:nvPr/>
        </p:nvSpPr>
        <p:spPr>
          <a:xfrm xmlns:a="http://schemas.openxmlformats.org/drawingml/2006/main">
            <a:off x="10325100" y="3048000"/>
            <a:ext cx="13049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Post-track</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gate</a:t>
            </a:r>
          </a:p>
        </p:txBody>
      </p:sp>
      <p:sp>
        <p:nvSpPr>
          <p:cNvPr id="25" name="">
            <a:extLst xmlns:a="http://schemas.openxmlformats.org/drawingml/2006/main">
              <a:ext uri="{FF2B5EF4-FFF2-40B4-BE49-F238E27FC236}">
                <a16:creationId xmlns:a16="http://schemas.microsoft.com/office/drawing/2014/main" id="{2561A8D3-2EB1-47FA-A55E-9A1533BA33B3}"/>
              </a:ext>
            </a:extLst>
          </p:cNvPr>
          <p:cNvSpPr>
            <a:spLocks xmlns:a="http://schemas.openxmlformats.org/drawingml/2006/main" noGrp="1"/>
          </p:cNvSpPr>
          <p:nvPr/>
        </p:nvSpPr>
        <p:spPr>
          <a:xfrm xmlns:a="http://schemas.openxmlformats.org/drawingml/2006/main">
            <a:off x="3590925" y="4295775"/>
            <a:ext cx="85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C23B22"/>
                </a:solidFill>
                <a:latin typeface="Helvetica Neue"/>
                <a:ea typeface="Helvetica Neue"/>
                <a:cs typeface="Helvetica Neue"/>
              </a:defRPr>
            </a:pPr>
            <a:r>
              <a:rPr sz="1350" b="1">
                <a:solidFill>
                  <a:srgbClr val="C23B22"/>
                </a:solidFill>
                <a:latin typeface="Helvetica Neue"/>
                <a:ea typeface="Helvetica Neue"/>
                <a:cs typeface="Helvetica Neue"/>
              </a:rPr>
              <a:t>STOP</a:t>
            </a:r>
          </a:p>
        </p:txBody>
      </p:sp>
      <p:sp>
        <p:nvSpPr>
          <p:cNvPr id="26" name="">
            <a:extLst xmlns:a="http://schemas.openxmlformats.org/drawingml/2006/main">
              <a:ext uri="{FF2B5EF4-FFF2-40B4-BE49-F238E27FC236}">
                <a16:creationId xmlns:a16="http://schemas.microsoft.com/office/drawing/2014/main" id="{EF393628-31A3-4D28-A5E9-78CD07CF510F}"/>
              </a:ext>
            </a:extLst>
          </p:cNvPr>
          <p:cNvSpPr>
            <a:spLocks xmlns:a="http://schemas.openxmlformats.org/drawingml/2006/main" noGrp="1"/>
          </p:cNvSpPr>
          <p:nvPr/>
        </p:nvSpPr>
        <p:spPr>
          <a:xfrm xmlns:a="http://schemas.openxmlformats.org/drawingml/2006/main">
            <a:off x="3429000" y="4629150"/>
            <a:ext cx="1181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62676F"/>
                </a:solidFill>
                <a:latin typeface="Helvetica Neue"/>
                <a:ea typeface="Helvetica Neue"/>
                <a:cs typeface="Helvetica Neue"/>
              </a:defRPr>
            </a:pPr>
            <a:r>
              <a:rPr sz="1275" b="0">
                <a:solidFill>
                  <a:srgbClr val="62676F"/>
                </a:solidFill>
                <a:latin typeface="Helvetica Neue"/>
                <a:ea typeface="Helvetica Neue"/>
                <a:cs typeface="Helvetica Neue"/>
              </a:rPr>
              <a:t>wrong graph</a:t>
            </a:r>
          </a:p>
        </p:txBody>
      </p:sp>
      <p:sp>
        <p:nvSpPr>
          <p:cNvPr id="27" name="">
            <a:extLst xmlns:a="http://schemas.openxmlformats.org/drawingml/2006/main">
              <a:ext uri="{FF2B5EF4-FFF2-40B4-BE49-F238E27FC236}">
                <a16:creationId xmlns:a16="http://schemas.microsoft.com/office/drawing/2014/main" id="{E973DD22-1F8F-44E9-871A-9C255B525A1A}"/>
              </a:ext>
            </a:extLst>
          </p:cNvPr>
          <p:cNvSpPr>
            <a:spLocks xmlns:a="http://schemas.openxmlformats.org/drawingml/2006/main" noGrp="1"/>
          </p:cNvSpPr>
          <p:nvPr/>
        </p:nvSpPr>
        <p:spPr>
          <a:xfrm xmlns:a="http://schemas.openxmlformats.org/drawingml/2006/main">
            <a:off x="8420100" y="4295775"/>
            <a:ext cx="857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350" b="1">
                <a:solidFill>
                  <a:srgbClr val="C23B22"/>
                </a:solidFill>
                <a:latin typeface="Helvetica Neue"/>
                <a:ea typeface="Helvetica Neue"/>
                <a:cs typeface="Helvetica Neue"/>
              </a:defRPr>
            </a:pPr>
            <a:r>
              <a:rPr sz="1350" b="1">
                <a:solidFill>
                  <a:srgbClr val="C23B22"/>
                </a:solidFill>
                <a:latin typeface="Helvetica Neue"/>
                <a:ea typeface="Helvetica Neue"/>
                <a:cs typeface="Helvetica Neue"/>
              </a:rPr>
              <a:t>STOP</a:t>
            </a:r>
          </a:p>
        </p:txBody>
      </p:sp>
      <p:sp>
        <p:nvSpPr>
          <p:cNvPr id="28" name="">
            <a:extLst xmlns:a="http://schemas.openxmlformats.org/drawingml/2006/main">
              <a:ext uri="{FF2B5EF4-FFF2-40B4-BE49-F238E27FC236}">
                <a16:creationId xmlns:a16="http://schemas.microsoft.com/office/drawing/2014/main" id="{D4B11648-3223-4DA7-8538-1914BB191344}"/>
              </a:ext>
            </a:extLst>
          </p:cNvPr>
          <p:cNvSpPr>
            <a:spLocks xmlns:a="http://schemas.openxmlformats.org/drawingml/2006/main" noGrp="1"/>
          </p:cNvSpPr>
          <p:nvPr/>
        </p:nvSpPr>
        <p:spPr>
          <a:xfrm xmlns:a="http://schemas.openxmlformats.org/drawingml/2006/main">
            <a:off x="8020050" y="4629150"/>
            <a:ext cx="16573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75" b="0">
                <a:solidFill>
                  <a:srgbClr val="62676F"/>
                </a:solidFill>
                <a:latin typeface="Helvetica Neue"/>
                <a:ea typeface="Helvetica Neue"/>
                <a:cs typeface="Helvetica Neue"/>
              </a:defRPr>
            </a:pPr>
            <a:r>
              <a:rPr sz="1275" b="0">
                <a:solidFill>
                  <a:srgbClr val="62676F"/>
                </a:solidFill>
                <a:latin typeface="Helvetica Neue"/>
                <a:ea typeface="Helvetica Neue"/>
                <a:cs typeface="Helvetica Neue"/>
              </a:rPr>
              <a:t>stale or incompatible</a:t>
            </a:r>
          </a:p>
        </p:txBody>
      </p:sp>
      <p:sp>
        <p:nvSpPr>
          <p:cNvPr id="29" name="">
            <a:extLst xmlns:a="http://schemas.openxmlformats.org/drawingml/2006/main">
              <a:ext uri="{FF2B5EF4-FFF2-40B4-BE49-F238E27FC236}">
                <a16:creationId xmlns:a16="http://schemas.microsoft.com/office/drawing/2014/main" id="{C741846C-013F-48C1-B8D9-B0D31390D758}"/>
              </a:ext>
            </a:extLst>
          </p:cNvPr>
          <p:cNvSpPr>
            <a:spLocks xmlns:a="http://schemas.openxmlformats.org/drawingml/2006/main" noGrp="1"/>
          </p:cNvSpPr>
          <p:nvPr/>
        </p:nvSpPr>
        <p:spPr>
          <a:xfrm xmlns:a="http://schemas.openxmlformats.org/drawingml/2006/main">
            <a:off x="1809750" y="5476875"/>
            <a:ext cx="857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250" b="1">
                <a:solidFill>
                  <a:srgbClr val="111111"/>
                </a:solidFill>
                <a:latin typeface="Helvetica Neue"/>
                <a:ea typeface="Helvetica Neue"/>
                <a:cs typeface="Helvetica Neue"/>
              </a:defRPr>
            </a:pPr>
            <a:r>
              <a:rPr sz="2250" b="1">
                <a:solidFill>
                  <a:srgbClr val="111111"/>
                </a:solidFill>
                <a:latin typeface="Helvetica Neue"/>
                <a:ea typeface="Helvetica Neue"/>
                <a:cs typeface="Helvetica Neue"/>
              </a:rPr>
              <a:t>Health is not ingest. Readiness is not execution.</a:t>
            </a:r>
          </a:p>
        </p:txBody>
      </p:sp>
    </p:spTree>
    <p:extLst>
      <p:ext uri="{BB962C8B-B14F-4D97-AF65-F5344CB8AC3E}">
        <p14:creationId xmlns:p14="http://schemas.microsoft.com/office/powerpoint/2010/main" val="8555527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2466E75B-9649-4AD6-A5CA-00CA6D4F3682}"/>
              </a:ext>
            </a:extLst>
          </p:cNvPr>
          <p:cNvSpPr>
            <a:spLocks xmlns:a="http://schemas.openxmlformats.org/drawingml/2006/main" noGrp="1"/>
          </p:cNvSpPr>
          <p:nvPr/>
        </p:nvSpPr>
        <p:spPr>
          <a:xfrm xmlns:a="http://schemas.openxmlformats.org/drawingml/2006/main">
            <a:off x="51435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OFFENSIVE REASONING INDEX</a:t>
            </a:r>
          </a:p>
        </p:txBody>
      </p:sp>
      <p:sp>
        <p:nvSpPr>
          <p:cNvPr id="2" name="">
            <a:extLst xmlns:a="http://schemas.openxmlformats.org/drawingml/2006/main">
              <a:ext uri="{FF2B5EF4-FFF2-40B4-BE49-F238E27FC236}">
                <a16:creationId xmlns:a16="http://schemas.microsoft.com/office/drawing/2014/main" id="{F9BB2201-9FE1-47A6-A0E6-EDBE2C8E2E77}"/>
              </a:ext>
            </a:extLst>
          </p:cNvPr>
          <p:cNvSpPr>
            <a:spLocks xmlns:a="http://schemas.openxmlformats.org/drawingml/2006/main" noGrp="1"/>
          </p:cNvSpPr>
          <p:nvPr/>
        </p:nvSpPr>
        <p:spPr>
          <a:xfrm xmlns:a="http://schemas.openxmlformats.org/drawingml/2006/main">
            <a:off x="514350" y="666750"/>
            <a:ext cx="10953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One claim. Two boundaries.</a:t>
            </a:r>
          </a:p>
        </p:txBody>
      </p:sp>
      <p:cxnSp>
        <p:nvCxnSpPr>
          <p:cNvPr id="24" name=""/>
          <p:cNvCxnSpPr/>
          <p:nvPr/>
        </p:nvCxnSpPr>
        <p:spPr>
          <a:xfrm xmlns:a="http://schemas.openxmlformats.org/drawingml/2006/main">
            <a:off x="514350" y="1438275"/>
            <a:ext cx="11163300" cy="0"/>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B23FC649-6C20-4943-ADFA-463A7F75EB2B}"/>
              </a:ext>
            </a:extLst>
          </p:cNvPr>
          <p:cNvSpPr>
            <a:spLocks xmlns:a="http://schemas.openxmlformats.org/drawingml/2006/main" noGrp="1"/>
          </p:cNvSpPr>
          <p:nvPr/>
        </p:nvSpPr>
        <p:spPr>
          <a:xfrm xmlns:a="http://schemas.openxmlformats.org/drawingml/2006/main">
            <a:off x="11258550" y="64198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62676F"/>
                </a:solidFill>
                <a:latin typeface="Helvetica Neue"/>
                <a:ea typeface="Helvetica Neue"/>
                <a:cs typeface="Helvetica Neue"/>
              </a:defRPr>
            </a:pPr>
            <a:r>
              <a:rPr sz="975" b="0">
                <a:solidFill>
                  <a:srgbClr val="62676F"/>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9E7FC41D-A130-49C7-B4FB-3E069FCA5053}"/>
              </a:ext>
            </a:extLst>
          </p:cNvPr>
          <p:cNvSpPr>
            <a:spLocks xmlns:a="http://schemas.openxmlformats.org/drawingml/2006/main" noGrp="1"/>
          </p:cNvSpPr>
          <p:nvPr/>
        </p:nvSpPr>
        <p:spPr>
          <a:xfrm xmlns:a="http://schemas.openxmlformats.org/drawingml/2006/main">
            <a:off x="762000" y="2762250"/>
            <a:ext cx="2000250" cy="1047750"/>
          </a:xfrm>
          <a:prstGeom xmlns:a="http://schemas.openxmlformats.org/drawingml/2006/main" prst="rect">
            <a:avLst/>
          </a:prstGeom>
          <a:solidFill xmlns:a="http://schemas.openxmlformats.org/drawingml/2006/main">
            <a:srgbClr val="D0EDFA"/>
          </a:solidFill>
          <a:ln xmlns:a="http://schemas.openxmlformats.org/drawingml/2006/main" w="19050">
            <a:solidFill>
              <a:srgbClr val="3D8DFF"/>
            </a:solidFill>
            <a:prstDash val="solid"/>
          </a:ln>
        </p:spPr>
      </p:sp>
      <p:sp>
        <p:nvSpPr>
          <p:cNvPr id="6" name="">
            <a:extLst xmlns:a="http://schemas.openxmlformats.org/drawingml/2006/main">
              <a:ext uri="{FF2B5EF4-FFF2-40B4-BE49-F238E27FC236}">
                <a16:creationId xmlns:a16="http://schemas.microsoft.com/office/drawing/2014/main" id="{48FCB36A-2AF4-4BFB-86E8-C1A9FE2D1965}"/>
              </a:ext>
            </a:extLst>
          </p:cNvPr>
          <p:cNvSpPr>
            <a:spLocks xmlns:a="http://schemas.openxmlformats.org/drawingml/2006/main" noGrp="1"/>
          </p:cNvSpPr>
          <p:nvPr/>
        </p:nvSpPr>
        <p:spPr>
          <a:xfrm xmlns:a="http://schemas.openxmlformats.org/drawingml/2006/main">
            <a:off x="952500" y="3105150"/>
            <a:ext cx="1619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Typed claim</a:t>
            </a:r>
          </a:p>
        </p:txBody>
      </p:sp>
      <p:cxnSp>
        <p:nvCxnSpPr>
          <p:cNvPr id="28" name=""/>
          <p:cNvCxnSpPr/>
          <p:nvPr/>
        </p:nvCxnSpPr>
        <p:spPr>
          <a:xfrm xmlns:a="http://schemas.openxmlformats.org/drawingml/2006/main">
            <a:off x="2762250" y="2381250"/>
            <a:ext cx="0" cy="714375"/>
          </a:xfrm>
          <a:prstGeom xmlns:a="http://schemas.openxmlformats.org/drawingml/2006/main" prst="straightConnector1">
            <a:avLst/>
          </a:prstGeom>
          <a:ln xmlns:a="http://schemas.openxmlformats.org/drawingml/2006/main" w="28575">
            <a:solidFill>
              <a:srgbClr val="3D8DFF"/>
            </a:solidFill>
            <a:prstDash val="solid"/>
          </a:ln>
        </p:spPr>
      </p:cxnSp>
      <p:cxnSp>
        <p:nvCxnSpPr>
          <p:cNvPr id="29" name=""/>
          <p:cNvCxnSpPr/>
          <p:nvPr/>
        </p:nvCxnSpPr>
        <p:spPr>
          <a:xfrm xmlns:a="http://schemas.openxmlformats.org/drawingml/2006/main">
            <a:off x="2762250" y="2381250"/>
            <a:ext cx="1571625" cy="0"/>
          </a:xfrm>
          <a:prstGeom xmlns:a="http://schemas.openxmlformats.org/drawingml/2006/main" prst="straightConnector1">
            <a:avLst/>
          </a:prstGeom>
          <a:ln xmlns:a="http://schemas.openxmlformats.org/drawingml/2006/main" w="28575">
            <a:solidFill>
              <a:srgbClr val="3D8DFF"/>
            </a:solidFill>
            <a:prstDash val="solid"/>
          </a:ln>
        </p:spPr>
      </p:cxnSp>
      <p:cxnSp>
        <p:nvCxnSpPr>
          <p:cNvPr id="30" name=""/>
          <p:cNvCxnSpPr/>
          <p:nvPr/>
        </p:nvCxnSpPr>
        <p:spPr>
          <a:xfrm xmlns:a="http://schemas.openxmlformats.org/drawingml/2006/main">
            <a:off x="2762250" y="3476625"/>
            <a:ext cx="1571625" cy="904875"/>
          </a:xfrm>
          <a:prstGeom xmlns:a="http://schemas.openxmlformats.org/drawingml/2006/main" prst="straightConnector1">
            <a:avLst/>
          </a:prstGeom>
          <a:ln xmlns:a="http://schemas.openxmlformats.org/drawingml/2006/main" w="28575">
            <a:solidFill>
              <a:srgbClr val="111111"/>
            </a:solidFill>
            <a:prstDash val="solid"/>
          </a:ln>
        </p:spPr>
      </p:cxnSp>
      <p:sp>
        <p:nvSpPr>
          <p:cNvPr id="10" name="">
            <a:extLst xmlns:a="http://schemas.openxmlformats.org/drawingml/2006/main">
              <a:ext uri="{FF2B5EF4-FFF2-40B4-BE49-F238E27FC236}">
                <a16:creationId xmlns:a16="http://schemas.microsoft.com/office/drawing/2014/main" id="{5C8D927A-7E14-4959-8127-DC805BCE2866}"/>
              </a:ext>
            </a:extLst>
          </p:cNvPr>
          <p:cNvSpPr>
            <a:spLocks xmlns:a="http://schemas.openxmlformats.org/drawingml/2006/main" noGrp="1"/>
          </p:cNvSpPr>
          <p:nvPr/>
        </p:nvSpPr>
        <p:spPr>
          <a:xfrm xmlns:a="http://schemas.openxmlformats.org/drawingml/2006/main">
            <a:off x="4333875" y="1809750"/>
            <a:ext cx="2952750" cy="1524000"/>
          </a:xfrm>
          <a:prstGeom xmlns:a="http://schemas.openxmlformats.org/drawingml/2006/main" prst="rect">
            <a:avLst/>
          </a:prstGeom>
          <a:solidFill xmlns:a="http://schemas.openxmlformats.org/drawingml/2006/main">
            <a:srgbClr val="FFFFFF"/>
          </a:solidFill>
          <a:ln xmlns:a="http://schemas.openxmlformats.org/drawingml/2006/main" w="19050">
            <a:solidFill>
              <a:srgbClr val="3D8DFF"/>
            </a:solidFill>
            <a:prstDash val="solid"/>
          </a:ln>
        </p:spPr>
      </p:sp>
      <p:sp>
        <p:nvSpPr>
          <p:cNvPr id="11" name="">
            <a:extLst xmlns:a="http://schemas.openxmlformats.org/drawingml/2006/main">
              <a:ext uri="{FF2B5EF4-FFF2-40B4-BE49-F238E27FC236}">
                <a16:creationId xmlns:a16="http://schemas.microsoft.com/office/drawing/2014/main" id="{666A679A-3B09-42F6-92A6-DFBA4D06B109}"/>
              </a:ext>
            </a:extLst>
          </p:cNvPr>
          <p:cNvSpPr>
            <a:spLocks xmlns:a="http://schemas.openxmlformats.org/drawingml/2006/main" noGrp="1"/>
          </p:cNvSpPr>
          <p:nvPr/>
        </p:nvSpPr>
        <p:spPr>
          <a:xfrm xmlns:a="http://schemas.openxmlformats.org/drawingml/2006/main">
            <a:off x="4572000" y="20383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SOLVER-VISIBLE</a:t>
            </a:r>
          </a:p>
        </p:txBody>
      </p:sp>
      <p:sp>
        <p:nvSpPr>
          <p:cNvPr id="12" name="">
            <a:extLst xmlns:a="http://schemas.openxmlformats.org/drawingml/2006/main">
              <a:ext uri="{FF2B5EF4-FFF2-40B4-BE49-F238E27FC236}">
                <a16:creationId xmlns:a16="http://schemas.microsoft.com/office/drawing/2014/main" id="{E88EDF67-68AE-4ED5-A293-CC77AFCA82C2}"/>
              </a:ext>
            </a:extLst>
          </p:cNvPr>
          <p:cNvSpPr>
            <a:spLocks xmlns:a="http://schemas.openxmlformats.org/drawingml/2006/main" noGrp="1"/>
          </p:cNvSpPr>
          <p:nvPr/>
        </p:nvSpPr>
        <p:spPr>
          <a:xfrm xmlns:a="http://schemas.openxmlformats.org/drawingml/2006/main">
            <a:off x="4572000" y="24574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Question + AcceptanceSpec + answer schema</a:t>
            </a:r>
          </a:p>
        </p:txBody>
      </p:sp>
      <p:sp>
        <p:nvSpPr>
          <p:cNvPr id="13" name="">
            <a:extLst xmlns:a="http://schemas.openxmlformats.org/drawingml/2006/main">
              <a:ext uri="{FF2B5EF4-FFF2-40B4-BE49-F238E27FC236}">
                <a16:creationId xmlns:a16="http://schemas.microsoft.com/office/drawing/2014/main" id="{82718894-ADAA-4F2F-8336-A1DC929153A9}"/>
              </a:ext>
            </a:extLst>
          </p:cNvPr>
          <p:cNvSpPr>
            <a:spLocks xmlns:a="http://schemas.openxmlformats.org/drawingml/2006/main" noGrp="1"/>
          </p:cNvSpPr>
          <p:nvPr/>
        </p:nvSpPr>
        <p:spPr>
          <a:xfrm xmlns:a="http://schemas.openxmlformats.org/drawingml/2006/main">
            <a:off x="4333875" y="3810000"/>
            <a:ext cx="2952750" cy="1524000"/>
          </a:xfrm>
          <a:prstGeom xmlns:a="http://schemas.openxmlformats.org/drawingml/2006/main" prst="rect">
            <a:avLst/>
          </a:prstGeom>
          <a:solidFill xmlns:a="http://schemas.openxmlformats.org/drawingml/2006/main">
            <a:srgbClr val="F2F2F2"/>
          </a:solidFill>
          <a:ln xmlns:a="http://schemas.openxmlformats.org/drawingml/2006/main" w="19050">
            <a:solidFill>
              <a:srgbClr val="111111"/>
            </a:solidFill>
            <a:prstDash val="solid"/>
          </a:ln>
        </p:spPr>
      </p:sp>
      <p:sp>
        <p:nvSpPr>
          <p:cNvPr id="14" name="">
            <a:extLst xmlns:a="http://schemas.openxmlformats.org/drawingml/2006/main">
              <a:ext uri="{FF2B5EF4-FFF2-40B4-BE49-F238E27FC236}">
                <a16:creationId xmlns:a16="http://schemas.microsoft.com/office/drawing/2014/main" id="{644B8683-2E6A-4E3B-9763-69C11FD3E380}"/>
              </a:ext>
            </a:extLst>
          </p:cNvPr>
          <p:cNvSpPr>
            <a:spLocks xmlns:a="http://schemas.openxmlformats.org/drawingml/2006/main" noGrp="1"/>
          </p:cNvSpPr>
          <p:nvPr/>
        </p:nvSpPr>
        <p:spPr>
          <a:xfrm xmlns:a="http://schemas.openxmlformats.org/drawingml/2006/main">
            <a:off x="4572000" y="40386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C23B22"/>
                </a:solidFill>
                <a:latin typeface="Helvetica Neue"/>
                <a:ea typeface="Helvetica Neue"/>
                <a:cs typeface="Helvetica Neue"/>
              </a:defRPr>
            </a:pPr>
            <a:r>
              <a:rPr sz="1050" b="1">
                <a:solidFill>
                  <a:srgbClr val="C23B22"/>
                </a:solidFill>
                <a:latin typeface="Helvetica Neue"/>
                <a:ea typeface="Helvetica Neue"/>
                <a:cs typeface="Helvetica Neue"/>
              </a:rPr>
              <a:t>SEALED</a:t>
            </a:r>
          </a:p>
        </p:txBody>
      </p:sp>
      <p:sp>
        <p:nvSpPr>
          <p:cNvPr id="15" name="">
            <a:extLst xmlns:a="http://schemas.openxmlformats.org/drawingml/2006/main">
              <a:ext uri="{FF2B5EF4-FFF2-40B4-BE49-F238E27FC236}">
                <a16:creationId xmlns:a16="http://schemas.microsoft.com/office/drawing/2014/main" id="{1C35E13B-8A22-487C-80BD-0828AF99E1ED}"/>
              </a:ext>
            </a:extLst>
          </p:cNvPr>
          <p:cNvSpPr>
            <a:spLocks xmlns:a="http://schemas.openxmlformats.org/drawingml/2006/main" noGrp="1"/>
          </p:cNvSpPr>
          <p:nvPr/>
        </p:nvSpPr>
        <p:spPr>
          <a:xfrm xmlns:a="http://schemas.openxmlformats.org/drawingml/2006/main">
            <a:off x="4572000" y="445770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Oracle + expected graph facts + comparator policy</a:t>
            </a:r>
          </a:p>
        </p:txBody>
      </p:sp>
      <p:cxnSp>
        <p:nvCxnSpPr>
          <p:cNvPr id="37" name=""/>
          <p:cNvCxnSpPr/>
          <p:nvPr/>
        </p:nvCxnSpPr>
        <p:spPr>
          <a:xfrm xmlns:a="http://schemas.openxmlformats.org/drawingml/2006/main">
            <a:off x="7286625" y="2571750"/>
            <a:ext cx="1476375" cy="476250"/>
          </a:xfrm>
          <a:prstGeom xmlns:a="http://schemas.openxmlformats.org/drawingml/2006/main" prst="straightConnector1">
            <a:avLst/>
          </a:prstGeom>
          <a:ln xmlns:a="http://schemas.openxmlformats.org/drawingml/2006/main" w="28575">
            <a:solidFill>
              <a:srgbClr val="3D8DFF"/>
            </a:solidFill>
            <a:prstDash val="solid"/>
          </a:ln>
        </p:spPr>
      </p:cxnSp>
      <p:cxnSp>
        <p:nvCxnSpPr>
          <p:cNvPr id="38" name=""/>
          <p:cNvCxnSpPr/>
          <p:nvPr/>
        </p:nvCxnSpPr>
        <p:spPr>
          <a:xfrm xmlns:a="http://schemas.openxmlformats.org/drawingml/2006/main">
            <a:off x="7286625" y="3714750"/>
            <a:ext cx="0" cy="857250"/>
          </a:xfrm>
          <a:prstGeom xmlns:a="http://schemas.openxmlformats.org/drawingml/2006/main" prst="straightConnector1">
            <a:avLst/>
          </a:prstGeom>
          <a:ln xmlns:a="http://schemas.openxmlformats.org/drawingml/2006/main" w="28575">
            <a:solidFill>
              <a:srgbClr val="111111"/>
            </a:solidFill>
            <a:prstDash val="solid"/>
          </a:ln>
        </p:spPr>
      </p:cxnSp>
      <p:cxnSp>
        <p:nvCxnSpPr>
          <p:cNvPr id="39" name=""/>
          <p:cNvCxnSpPr/>
          <p:nvPr/>
        </p:nvCxnSpPr>
        <p:spPr>
          <a:xfrm xmlns:a="http://schemas.openxmlformats.org/drawingml/2006/main">
            <a:off x="7286625" y="3714750"/>
            <a:ext cx="1476375" cy="0"/>
          </a:xfrm>
          <a:prstGeom xmlns:a="http://schemas.openxmlformats.org/drawingml/2006/main" prst="straightConnector1">
            <a:avLst/>
          </a:prstGeom>
          <a:ln xmlns:a="http://schemas.openxmlformats.org/drawingml/2006/main" w="28575">
            <a:solidFill>
              <a:srgbClr val="111111"/>
            </a:solidFill>
            <a:prstDash val="solid"/>
          </a:ln>
        </p:spPr>
      </p:cxnSp>
      <p:sp>
        <p:nvSpPr>
          <p:cNvPr id="19" name="">
            <a:extLst xmlns:a="http://schemas.openxmlformats.org/drawingml/2006/main">
              <a:ext uri="{FF2B5EF4-FFF2-40B4-BE49-F238E27FC236}">
                <a16:creationId xmlns:a16="http://schemas.microsoft.com/office/drawing/2014/main" id="{F9A27874-074B-4009-B51E-8BEB34C85FB1}"/>
              </a:ext>
            </a:extLst>
          </p:cNvPr>
          <p:cNvSpPr>
            <a:spLocks xmlns:a="http://schemas.openxmlformats.org/drawingml/2006/main" noGrp="1"/>
          </p:cNvSpPr>
          <p:nvPr/>
        </p:nvSpPr>
        <p:spPr>
          <a:xfrm xmlns:a="http://schemas.openxmlformats.org/drawingml/2006/main">
            <a:off x="8763000" y="2714625"/>
            <a:ext cx="2619375" cy="1428750"/>
          </a:xfrm>
          <a:prstGeom xmlns:a="http://schemas.openxmlformats.org/drawingml/2006/main" prst="rect">
            <a:avLst/>
          </a:prstGeom>
          <a:solidFill xmlns:a="http://schemas.openxmlformats.org/drawingml/2006/main">
            <a:srgbClr val="FFFFFF"/>
          </a:solidFill>
          <a:ln xmlns:a="http://schemas.openxmlformats.org/drawingml/2006/main" w="19050">
            <a:solidFill>
              <a:srgbClr val="2A7A52"/>
            </a:solidFill>
            <a:prstDash val="solid"/>
          </a:ln>
        </p:spPr>
      </p:sp>
      <p:sp>
        <p:nvSpPr>
          <p:cNvPr id="20" name="">
            <a:extLst xmlns:a="http://schemas.openxmlformats.org/drawingml/2006/main">
              <a:ext uri="{FF2B5EF4-FFF2-40B4-BE49-F238E27FC236}">
                <a16:creationId xmlns:a16="http://schemas.microsoft.com/office/drawing/2014/main" id="{4E7E816E-EFC0-4C41-9A7B-6E51E400E9D2}"/>
              </a:ext>
            </a:extLst>
          </p:cNvPr>
          <p:cNvSpPr>
            <a:spLocks xmlns:a="http://schemas.openxmlformats.org/drawingml/2006/main" noGrp="1"/>
          </p:cNvSpPr>
          <p:nvPr/>
        </p:nvSpPr>
        <p:spPr>
          <a:xfrm xmlns:a="http://schemas.openxmlformats.org/drawingml/2006/main">
            <a:off x="9001125" y="3095625"/>
            <a:ext cx="2143125"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Evidence IR</a:t>
            </a:r>
          </a:p>
          <a:p xmlns:a="http://schemas.openxmlformats.org/drawingml/2006/main">
            <a:pPr algn="ctr">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 comparator</a:t>
            </a:r>
          </a:p>
        </p:txBody>
      </p:sp>
      <p:sp>
        <p:nvSpPr>
          <p:cNvPr id="21" name="">
            <a:extLst xmlns:a="http://schemas.openxmlformats.org/drawingml/2006/main">
              <a:ext uri="{FF2B5EF4-FFF2-40B4-BE49-F238E27FC236}">
                <a16:creationId xmlns:a16="http://schemas.microsoft.com/office/drawing/2014/main" id="{C7E4744B-15DF-4FDF-A21C-D986312CCC93}"/>
              </a:ext>
            </a:extLst>
          </p:cNvPr>
          <p:cNvSpPr>
            <a:spLocks xmlns:a="http://schemas.openxmlformats.org/drawingml/2006/main" noGrp="1"/>
          </p:cNvSpPr>
          <p:nvPr/>
        </p:nvSpPr>
        <p:spPr>
          <a:xfrm xmlns:a="http://schemas.openxmlformats.org/drawingml/2006/main">
            <a:off x="1619250" y="5638800"/>
            <a:ext cx="8953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If a hidden scoring rule cannot be derived from the public contract, compilation stops.</a:t>
            </a:r>
          </a:p>
        </p:txBody>
      </p:sp>
    </p:spTree>
    <p:extLst>
      <p:ext uri="{BB962C8B-B14F-4D97-AF65-F5344CB8AC3E}">
        <p14:creationId xmlns:p14="http://schemas.microsoft.com/office/powerpoint/2010/main" val="192169126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B4D4C24B-1EED-4988-9C85-A5152727A322}"/>
              </a:ext>
            </a:extLst>
          </p:cNvPr>
          <p:cNvSpPr>
            <a:spLocks xmlns:a="http://schemas.openxmlformats.org/drawingml/2006/main" noGrp="1"/>
          </p:cNvSpPr>
          <p:nvPr/>
        </p:nvSpPr>
        <p:spPr>
          <a:xfrm xmlns:a="http://schemas.openxmlformats.org/drawingml/2006/main">
            <a:off x="51435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OFFENSIVE REASONING INDEX</a:t>
            </a:r>
          </a:p>
        </p:txBody>
      </p:sp>
      <p:sp>
        <p:nvSpPr>
          <p:cNvPr id="2" name="">
            <a:extLst xmlns:a="http://schemas.openxmlformats.org/drawingml/2006/main">
              <a:ext uri="{FF2B5EF4-FFF2-40B4-BE49-F238E27FC236}">
                <a16:creationId xmlns:a16="http://schemas.microsoft.com/office/drawing/2014/main" id="{87E2CBED-7DC0-4B4F-8B07-AC7317488A1C}"/>
              </a:ext>
            </a:extLst>
          </p:cNvPr>
          <p:cNvSpPr>
            <a:spLocks xmlns:a="http://schemas.openxmlformats.org/drawingml/2006/main" noGrp="1"/>
          </p:cNvSpPr>
          <p:nvPr/>
        </p:nvSpPr>
        <p:spPr>
          <a:xfrm xmlns:a="http://schemas.openxmlformats.org/drawingml/2006/main">
            <a:off x="514350" y="666750"/>
            <a:ext cx="10953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Difficulty should come from reasoning—not hidden rules</a:t>
            </a:r>
          </a:p>
        </p:txBody>
      </p:sp>
      <p:cxnSp>
        <p:nvCxnSpPr>
          <p:cNvPr id="25" name=""/>
          <p:cNvCxnSpPr/>
          <p:nvPr/>
        </p:nvCxnSpPr>
        <p:spPr>
          <a:xfrm xmlns:a="http://schemas.openxmlformats.org/drawingml/2006/main">
            <a:off x="514350" y="1438275"/>
            <a:ext cx="11163300" cy="0"/>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29F59C22-D3C4-4D1A-B5CB-198A839AAFBA}"/>
              </a:ext>
            </a:extLst>
          </p:cNvPr>
          <p:cNvSpPr>
            <a:spLocks xmlns:a="http://schemas.openxmlformats.org/drawingml/2006/main" noGrp="1"/>
          </p:cNvSpPr>
          <p:nvPr/>
        </p:nvSpPr>
        <p:spPr>
          <a:xfrm xmlns:a="http://schemas.openxmlformats.org/drawingml/2006/main">
            <a:off x="11258550" y="64198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62676F"/>
                </a:solidFill>
                <a:latin typeface="Helvetica Neue"/>
                <a:ea typeface="Helvetica Neue"/>
                <a:cs typeface="Helvetica Neue"/>
              </a:defRPr>
            </a:pPr>
            <a:r>
              <a:rPr sz="975" b="0">
                <a:solidFill>
                  <a:srgbClr val="62676F"/>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0270E0DA-8D4F-4F4D-A6DB-453CDB6DC108}"/>
              </a:ext>
            </a:extLst>
          </p:cNvPr>
          <p:cNvSpPr>
            <a:spLocks xmlns:a="http://schemas.openxmlformats.org/drawingml/2006/main" noGrp="1"/>
          </p:cNvSpPr>
          <p:nvPr/>
        </p:nvSpPr>
        <p:spPr>
          <a:xfrm xmlns:a="http://schemas.openxmlformats.org/drawingml/2006/main">
            <a:off x="666750" y="1809750"/>
            <a:ext cx="266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SANITIZED TASK</a:t>
            </a:r>
          </a:p>
        </p:txBody>
      </p:sp>
      <p:sp>
        <p:nvSpPr>
          <p:cNvPr id="6" name="">
            <a:extLst xmlns:a="http://schemas.openxmlformats.org/drawingml/2006/main">
              <a:ext uri="{FF2B5EF4-FFF2-40B4-BE49-F238E27FC236}">
                <a16:creationId xmlns:a16="http://schemas.microsoft.com/office/drawing/2014/main" id="{7D0AB3C3-29FE-4219-83C0-73D8360DB2A4}"/>
              </a:ext>
            </a:extLst>
          </p:cNvPr>
          <p:cNvSpPr>
            <a:spLocks xmlns:a="http://schemas.openxmlformats.org/drawingml/2006/main" noGrp="1"/>
          </p:cNvSpPr>
          <p:nvPr/>
        </p:nvSpPr>
        <p:spPr>
          <a:xfrm xmlns:a="http://schemas.openxmlformats.org/drawingml/2006/main">
            <a:off x="666750" y="2238375"/>
            <a:ext cx="44767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Find a bounded route from the operator to Tier 0. Return the ordered path and required edge evidence. Reject disconnected decoys.</a:t>
            </a:r>
          </a:p>
        </p:txBody>
      </p:sp>
      <p:sp>
        <p:nvSpPr>
          <p:cNvPr id="7" name="">
            <a:extLst xmlns:a="http://schemas.openxmlformats.org/drawingml/2006/main">
              <a:ext uri="{FF2B5EF4-FFF2-40B4-BE49-F238E27FC236}">
                <a16:creationId xmlns:a16="http://schemas.microsoft.com/office/drawing/2014/main" id="{B81E3D7D-1F54-4D2E-9847-526A011B11E8}"/>
              </a:ext>
            </a:extLst>
          </p:cNvPr>
          <p:cNvSpPr>
            <a:spLocks xmlns:a="http://schemas.openxmlformats.org/drawingml/2006/main" noGrp="1"/>
          </p:cNvSpPr>
          <p:nvPr/>
        </p:nvSpPr>
        <p:spPr>
          <a:xfrm xmlns:a="http://schemas.openxmlformats.org/drawingml/2006/main">
            <a:off x="666750" y="4238625"/>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3D8DFF"/>
                </a:solidFill>
                <a:latin typeface="Helvetica Neue"/>
                <a:ea typeface="Helvetica Neue"/>
                <a:cs typeface="Helvetica Neue"/>
              </a:defRPr>
            </a:pPr>
            <a:r>
              <a:rPr sz="1650" b="1">
                <a:solidFill>
                  <a:srgbClr val="3D8DFF"/>
                </a:solidFill>
                <a:latin typeface="Helvetica Neue"/>
                <a:ea typeface="Helvetica Neue"/>
                <a:cs typeface="Helvetica Neue"/>
              </a:rPr>
              <a:t>Public contract</a:t>
            </a:r>
          </a:p>
        </p:txBody>
      </p:sp>
      <p:sp>
        <p:nvSpPr>
          <p:cNvPr id="8" name="">
            <a:extLst xmlns:a="http://schemas.openxmlformats.org/drawingml/2006/main">
              <a:ext uri="{FF2B5EF4-FFF2-40B4-BE49-F238E27FC236}">
                <a16:creationId xmlns:a16="http://schemas.microsoft.com/office/drawing/2014/main" id="{2B09F97B-BA99-4F71-8363-BB617E15AEB0}"/>
              </a:ext>
            </a:extLst>
          </p:cNvPr>
          <p:cNvSpPr>
            <a:spLocks xmlns:a="http://schemas.openxmlformats.org/drawingml/2006/main" noGrp="1"/>
          </p:cNvSpPr>
          <p:nvPr/>
        </p:nvSpPr>
        <p:spPr>
          <a:xfrm xmlns:a="http://schemas.openxmlformats.org/drawingml/2006/main">
            <a:off x="666750" y="4667250"/>
            <a:ext cx="40957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62676F"/>
                </a:solidFill>
                <a:latin typeface="Helvetica Neue"/>
                <a:ea typeface="Helvetica Neue"/>
                <a:cs typeface="Helvetica Neue"/>
              </a:defRPr>
            </a:pPr>
            <a:r>
              <a:rPr sz="1575" b="0">
                <a:solidFill>
                  <a:srgbClr val="62676F"/>
                </a:solidFill>
                <a:latin typeface="Helvetica Neue"/>
                <a:ea typeface="Helvetica Neue"/>
                <a:cs typeface="Helvetica Neue"/>
              </a:rPr>
              <a:t>• ordered source and target</a:t>
            </a:r>
          </a:p>
          <a:p xmlns:a="http://schemas.openxmlformats.org/drawingml/2006/main">
            <a:pPr algn="l">
              <a:defRPr sz="1575" b="0">
                <a:solidFill>
                  <a:srgbClr val="62676F"/>
                </a:solidFill>
                <a:latin typeface="Helvetica Neue"/>
                <a:ea typeface="Helvetica Neue"/>
                <a:cs typeface="Helvetica Neue"/>
              </a:defRPr>
            </a:pPr>
            <a:r>
              <a:rPr sz="1575" b="0">
                <a:solidFill>
                  <a:srgbClr val="62676F"/>
                </a:solidFill>
                <a:latin typeface="Helvetica Neue"/>
                <a:ea typeface="Helvetica Neue"/>
                <a:cs typeface="Helvetica Neue"/>
              </a:rPr>
              <a:t>• bounded hop ceiling</a:t>
            </a:r>
          </a:p>
          <a:p xmlns:a="http://schemas.openxmlformats.org/drawingml/2006/main">
            <a:pPr algn="l">
              <a:defRPr sz="1575" b="0">
                <a:solidFill>
                  <a:srgbClr val="62676F"/>
                </a:solidFill>
                <a:latin typeface="Helvetica Neue"/>
                <a:ea typeface="Helvetica Neue"/>
                <a:cs typeface="Helvetica Neue"/>
              </a:defRPr>
            </a:pPr>
            <a:r>
              <a:rPr sz="1575" b="0">
                <a:solidFill>
                  <a:srgbClr val="62676F"/>
                </a:solidFill>
                <a:latin typeface="Helvetica Neue"/>
                <a:ea typeface="Helvetica Neue"/>
                <a:cs typeface="Helvetica Neue"/>
              </a:rPr>
              <a:t>• path-shaped graph receipt</a:t>
            </a:r>
          </a:p>
          <a:p xmlns:a="http://schemas.openxmlformats.org/drawingml/2006/main">
            <a:pPr algn="l">
              <a:defRPr sz="1575" b="0">
                <a:solidFill>
                  <a:srgbClr val="62676F"/>
                </a:solidFill>
                <a:latin typeface="Helvetica Neue"/>
                <a:ea typeface="Helvetica Neue"/>
                <a:cs typeface="Helvetica Neue"/>
              </a:defRPr>
            </a:pPr>
            <a:r>
              <a:rPr sz="1575" b="0">
                <a:solidFill>
                  <a:srgbClr val="62676F"/>
                </a:solidFill>
                <a:latin typeface="Helvetica Neue"/>
                <a:ea typeface="Helvetica Neue"/>
                <a:cs typeface="Helvetica Neue"/>
              </a:rPr>
              <a:t>• declared supporting properties</a:t>
            </a:r>
          </a:p>
        </p:txBody>
      </p:sp>
      <p:cxnSp>
        <p:nvCxnSpPr>
          <p:cNvPr id="31" name=""/>
          <p:cNvCxnSpPr/>
          <p:nvPr/>
        </p:nvCxnSpPr>
        <p:spPr>
          <a:xfrm xmlns:a="http://schemas.openxmlformats.org/drawingml/2006/main">
            <a:off x="5810250" y="1905000"/>
            <a:ext cx="0" cy="4048125"/>
          </a:xfrm>
          <a:prstGeom xmlns:a="http://schemas.openxmlformats.org/drawingml/2006/main" prst="straightConnector1">
            <a:avLst/>
          </a:prstGeom>
          <a:ln xmlns:a="http://schemas.openxmlformats.org/drawingml/2006/main" w="9525">
            <a:solidFill>
              <a:srgbClr val="B8BCC4"/>
            </a:solidFill>
            <a:prstDash val="solid"/>
          </a:ln>
        </p:spPr>
      </p:cxnSp>
      <p:cxnSp>
        <p:nvCxnSpPr>
          <p:cNvPr id="32" name=""/>
          <p:cNvCxnSpPr/>
          <p:nvPr/>
        </p:nvCxnSpPr>
        <p:spPr>
          <a:xfrm xmlns:a="http://schemas.openxmlformats.org/drawingml/2006/main">
            <a:off x="7000875" y="2857500"/>
            <a:ext cx="2095500" cy="0"/>
          </a:xfrm>
          <a:prstGeom xmlns:a="http://schemas.openxmlformats.org/drawingml/2006/main" prst="straightConnector1">
            <a:avLst/>
          </a:prstGeom>
          <a:ln xmlns:a="http://schemas.openxmlformats.org/drawingml/2006/main" w="28575">
            <a:solidFill>
              <a:srgbClr val="111111"/>
            </a:solidFill>
            <a:prstDash val="solid"/>
          </a:ln>
        </p:spPr>
      </p:cxnSp>
      <p:cxnSp>
        <p:nvCxnSpPr>
          <p:cNvPr id="33" name=""/>
          <p:cNvCxnSpPr/>
          <p:nvPr/>
        </p:nvCxnSpPr>
        <p:spPr>
          <a:xfrm xmlns:a="http://schemas.openxmlformats.org/drawingml/2006/main">
            <a:off x="9096375" y="2857500"/>
            <a:ext cx="1476375" cy="1571625"/>
          </a:xfrm>
          <a:prstGeom xmlns:a="http://schemas.openxmlformats.org/drawingml/2006/main" prst="straightConnector1">
            <a:avLst/>
          </a:prstGeom>
          <a:ln xmlns:a="http://schemas.openxmlformats.org/drawingml/2006/main" w="28575">
            <a:solidFill>
              <a:srgbClr val="111111"/>
            </a:solidFill>
            <a:prstDash val="solid"/>
          </a:ln>
        </p:spPr>
      </p:cxnSp>
      <p:sp>
        <p:nvSpPr>
          <p:cNvPr id="12" name="">
            <a:extLst xmlns:a="http://schemas.openxmlformats.org/drawingml/2006/main">
              <a:ext uri="{FF2B5EF4-FFF2-40B4-BE49-F238E27FC236}">
                <a16:creationId xmlns:a16="http://schemas.microsoft.com/office/drawing/2014/main" id="{B64BEC41-5FFA-4E1F-8801-7C789C313448}"/>
              </a:ext>
            </a:extLst>
          </p:cNvPr>
          <p:cNvSpPr>
            <a:spLocks xmlns:a="http://schemas.openxmlformats.org/drawingml/2006/main" noGrp="1"/>
          </p:cNvSpPr>
          <p:nvPr/>
        </p:nvSpPr>
        <p:spPr>
          <a:xfrm xmlns:a="http://schemas.openxmlformats.org/drawingml/2006/main">
            <a:off x="6096000" y="2524125"/>
            <a:ext cx="1428750" cy="685800"/>
          </a:xfrm>
          <a:prstGeom xmlns:a="http://schemas.openxmlformats.org/drawingml/2006/main" prst="ellipse">
            <a:avLst/>
          </a:prstGeom>
          <a:solidFill xmlns:a="http://schemas.openxmlformats.org/drawingml/2006/main">
            <a:srgbClr val="D0EDFA"/>
          </a:solidFill>
          <a:ln xmlns:a="http://schemas.openxmlformats.org/drawingml/2006/main" w="19050">
            <a:solidFill>
              <a:srgbClr val="3D8DFF"/>
            </a:solidFill>
            <a:prstDash val="solid"/>
          </a:ln>
        </p:spPr>
      </p:sp>
      <p:sp>
        <p:nvSpPr>
          <p:cNvPr id="13" name="">
            <a:extLst xmlns:a="http://schemas.openxmlformats.org/drawingml/2006/main">
              <a:ext uri="{FF2B5EF4-FFF2-40B4-BE49-F238E27FC236}">
                <a16:creationId xmlns:a16="http://schemas.microsoft.com/office/drawing/2014/main" id="{E353C8BF-201A-4041-9337-07C4A08C9858}"/>
              </a:ext>
            </a:extLst>
          </p:cNvPr>
          <p:cNvSpPr>
            <a:spLocks xmlns:a="http://schemas.openxmlformats.org/drawingml/2006/main" noGrp="1"/>
          </p:cNvSpPr>
          <p:nvPr/>
        </p:nvSpPr>
        <p:spPr>
          <a:xfrm xmlns:a="http://schemas.openxmlformats.org/drawingml/2006/main">
            <a:off x="6191250" y="2686050"/>
            <a:ext cx="123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Source</a:t>
            </a:r>
          </a:p>
        </p:txBody>
      </p:sp>
      <p:sp>
        <p:nvSpPr>
          <p:cNvPr id="14" name="">
            <a:extLst xmlns:a="http://schemas.openxmlformats.org/drawingml/2006/main">
              <a:ext uri="{FF2B5EF4-FFF2-40B4-BE49-F238E27FC236}">
                <a16:creationId xmlns:a16="http://schemas.microsoft.com/office/drawing/2014/main" id="{FB37BD38-D418-49CF-B25B-93397023DC71}"/>
              </a:ext>
            </a:extLst>
          </p:cNvPr>
          <p:cNvSpPr>
            <a:spLocks xmlns:a="http://schemas.openxmlformats.org/drawingml/2006/main" noGrp="1"/>
          </p:cNvSpPr>
          <p:nvPr/>
        </p:nvSpPr>
        <p:spPr>
          <a:xfrm xmlns:a="http://schemas.openxmlformats.org/drawingml/2006/main">
            <a:off x="8667750" y="2524125"/>
            <a:ext cx="1428750" cy="685800"/>
          </a:xfrm>
          <a:prstGeom xmlns:a="http://schemas.openxmlformats.org/drawingml/2006/main" prst="ellipse">
            <a:avLst/>
          </a:prstGeom>
          <a:solidFill xmlns:a="http://schemas.openxmlformats.org/drawingml/2006/main">
            <a:srgbClr val="FFFFFF"/>
          </a:solidFill>
          <a:ln xmlns:a="http://schemas.openxmlformats.org/drawingml/2006/main" w="19050">
            <a:solidFill>
              <a:srgbClr val="111111"/>
            </a:solidFill>
            <a:prstDash val="solid"/>
          </a:ln>
        </p:spPr>
      </p:sp>
      <p:sp>
        <p:nvSpPr>
          <p:cNvPr id="15" name="">
            <a:extLst xmlns:a="http://schemas.openxmlformats.org/drawingml/2006/main">
              <a:ext uri="{FF2B5EF4-FFF2-40B4-BE49-F238E27FC236}">
                <a16:creationId xmlns:a16="http://schemas.microsoft.com/office/drawing/2014/main" id="{6FE3B859-5480-488D-9F90-C9AED63F8954}"/>
              </a:ext>
            </a:extLst>
          </p:cNvPr>
          <p:cNvSpPr>
            <a:spLocks xmlns:a="http://schemas.openxmlformats.org/drawingml/2006/main" noGrp="1"/>
          </p:cNvSpPr>
          <p:nvPr/>
        </p:nvSpPr>
        <p:spPr>
          <a:xfrm xmlns:a="http://schemas.openxmlformats.org/drawingml/2006/main">
            <a:off x="8763000" y="2686050"/>
            <a:ext cx="123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Pivot</a:t>
            </a:r>
          </a:p>
        </p:txBody>
      </p:sp>
      <p:sp>
        <p:nvSpPr>
          <p:cNvPr id="16" name="">
            <a:extLst xmlns:a="http://schemas.openxmlformats.org/drawingml/2006/main">
              <a:ext uri="{FF2B5EF4-FFF2-40B4-BE49-F238E27FC236}">
                <a16:creationId xmlns:a16="http://schemas.microsoft.com/office/drawing/2014/main" id="{510E642D-39E1-4219-99B1-003C48C187CE}"/>
              </a:ext>
            </a:extLst>
          </p:cNvPr>
          <p:cNvSpPr>
            <a:spLocks xmlns:a="http://schemas.openxmlformats.org/drawingml/2006/main" noGrp="1"/>
          </p:cNvSpPr>
          <p:nvPr/>
        </p:nvSpPr>
        <p:spPr>
          <a:xfrm xmlns:a="http://schemas.openxmlformats.org/drawingml/2006/main">
            <a:off x="10096500" y="4095750"/>
            <a:ext cx="1428750" cy="685800"/>
          </a:xfrm>
          <a:prstGeom xmlns:a="http://schemas.openxmlformats.org/drawingml/2006/main" prst="ellipse">
            <a:avLst/>
          </a:prstGeom>
          <a:solidFill xmlns:a="http://schemas.openxmlformats.org/drawingml/2006/main">
            <a:srgbClr val="E9F5EE"/>
          </a:solidFill>
          <a:ln xmlns:a="http://schemas.openxmlformats.org/drawingml/2006/main" w="19050">
            <a:solidFill>
              <a:srgbClr val="2A7A52"/>
            </a:solidFill>
            <a:prstDash val="solid"/>
          </a:ln>
        </p:spPr>
      </p:sp>
      <p:sp>
        <p:nvSpPr>
          <p:cNvPr id="17" name="">
            <a:extLst xmlns:a="http://schemas.openxmlformats.org/drawingml/2006/main">
              <a:ext uri="{FF2B5EF4-FFF2-40B4-BE49-F238E27FC236}">
                <a16:creationId xmlns:a16="http://schemas.microsoft.com/office/drawing/2014/main" id="{A8CD3FBA-16C8-47FC-B3F8-496E2D08A817}"/>
              </a:ext>
            </a:extLst>
          </p:cNvPr>
          <p:cNvSpPr>
            <a:spLocks xmlns:a="http://schemas.openxmlformats.org/drawingml/2006/main" noGrp="1"/>
          </p:cNvSpPr>
          <p:nvPr/>
        </p:nvSpPr>
        <p:spPr>
          <a:xfrm xmlns:a="http://schemas.openxmlformats.org/drawingml/2006/main">
            <a:off x="10191750" y="4257675"/>
            <a:ext cx="123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Target</a:t>
            </a:r>
          </a:p>
        </p:txBody>
      </p:sp>
      <p:sp>
        <p:nvSpPr>
          <p:cNvPr id="18" name="">
            <a:extLst xmlns:a="http://schemas.openxmlformats.org/drawingml/2006/main">
              <a:ext uri="{FF2B5EF4-FFF2-40B4-BE49-F238E27FC236}">
                <a16:creationId xmlns:a16="http://schemas.microsoft.com/office/drawing/2014/main" id="{904C69B3-AA80-483E-8953-51702CEB97DD}"/>
              </a:ext>
            </a:extLst>
          </p:cNvPr>
          <p:cNvSpPr>
            <a:spLocks xmlns:a="http://schemas.openxmlformats.org/drawingml/2006/main" noGrp="1"/>
          </p:cNvSpPr>
          <p:nvPr/>
        </p:nvSpPr>
        <p:spPr>
          <a:xfrm xmlns:a="http://schemas.openxmlformats.org/drawingml/2006/main">
            <a:off x="7143750" y="4476750"/>
            <a:ext cx="1428750" cy="685800"/>
          </a:xfrm>
          <a:prstGeom xmlns:a="http://schemas.openxmlformats.org/drawingml/2006/main" prst="ellipse">
            <a:avLst/>
          </a:prstGeom>
          <a:solidFill xmlns:a="http://schemas.openxmlformats.org/drawingml/2006/main">
            <a:srgbClr val="FFF4F1"/>
          </a:solidFill>
          <a:ln xmlns:a="http://schemas.openxmlformats.org/drawingml/2006/main" w="19050">
            <a:solidFill>
              <a:srgbClr val="C23B22"/>
            </a:solidFill>
            <a:prstDash val="solid"/>
          </a:ln>
        </p:spPr>
      </p:sp>
      <p:sp>
        <p:nvSpPr>
          <p:cNvPr id="19" name="">
            <a:extLst xmlns:a="http://schemas.openxmlformats.org/drawingml/2006/main">
              <a:ext uri="{FF2B5EF4-FFF2-40B4-BE49-F238E27FC236}">
                <a16:creationId xmlns:a16="http://schemas.microsoft.com/office/drawing/2014/main" id="{A5FD2B14-2F39-4A18-BF84-2ECC04AE34D8}"/>
              </a:ext>
            </a:extLst>
          </p:cNvPr>
          <p:cNvSpPr>
            <a:spLocks xmlns:a="http://schemas.openxmlformats.org/drawingml/2006/main" noGrp="1"/>
          </p:cNvSpPr>
          <p:nvPr/>
        </p:nvSpPr>
        <p:spPr>
          <a:xfrm xmlns:a="http://schemas.openxmlformats.org/drawingml/2006/main">
            <a:off x="7239000" y="4638675"/>
            <a:ext cx="1238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Decoy</a:t>
            </a:r>
          </a:p>
        </p:txBody>
      </p:sp>
      <p:cxnSp>
        <p:nvCxnSpPr>
          <p:cNvPr id="42" name=""/>
          <p:cNvCxnSpPr/>
          <p:nvPr/>
        </p:nvCxnSpPr>
        <p:spPr>
          <a:xfrm xmlns:a="http://schemas.openxmlformats.org/drawingml/2006/main">
            <a:off x="7905750" y="4333875"/>
            <a:ext cx="1190625" cy="0"/>
          </a:xfrm>
          <a:prstGeom xmlns:a="http://schemas.openxmlformats.org/drawingml/2006/main" prst="straightConnector1">
            <a:avLst/>
          </a:prstGeom>
          <a:ln xmlns:a="http://schemas.openxmlformats.org/drawingml/2006/main" w="19050">
            <a:solidFill>
              <a:srgbClr val="C23B22"/>
            </a:solidFill>
            <a:prstDash val="solid"/>
          </a:ln>
        </p:spPr>
      </p:cxnSp>
      <p:cxnSp>
        <p:nvCxnSpPr>
          <p:cNvPr id="43" name=""/>
          <p:cNvCxnSpPr/>
          <p:nvPr/>
        </p:nvCxnSpPr>
        <p:spPr>
          <a:xfrm xmlns:a="http://schemas.openxmlformats.org/drawingml/2006/main">
            <a:off x="9096375" y="3209925"/>
            <a:ext cx="0" cy="1123950"/>
          </a:xfrm>
          <a:prstGeom xmlns:a="http://schemas.openxmlformats.org/drawingml/2006/main" prst="straightConnector1">
            <a:avLst/>
          </a:prstGeom>
          <a:ln xmlns:a="http://schemas.openxmlformats.org/drawingml/2006/main" w="19050">
            <a:solidFill>
              <a:srgbClr val="C23B22"/>
            </a:solidFill>
            <a:prstDash val="solid"/>
          </a:ln>
        </p:spPr>
      </p:cxnSp>
      <p:sp>
        <p:nvSpPr>
          <p:cNvPr id="22" name="">
            <a:extLst xmlns:a="http://schemas.openxmlformats.org/drawingml/2006/main">
              <a:ext uri="{FF2B5EF4-FFF2-40B4-BE49-F238E27FC236}">
                <a16:creationId xmlns:a16="http://schemas.microsoft.com/office/drawing/2014/main" id="{C1373F94-B65A-4200-BDDA-E5F8994C366C}"/>
              </a:ext>
            </a:extLst>
          </p:cNvPr>
          <p:cNvSpPr>
            <a:spLocks xmlns:a="http://schemas.openxmlformats.org/drawingml/2006/main" noGrp="1"/>
          </p:cNvSpPr>
          <p:nvPr/>
        </p:nvSpPr>
        <p:spPr>
          <a:xfrm xmlns:a="http://schemas.openxmlformats.org/drawingml/2006/main">
            <a:off x="7477125" y="56197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1">
                <a:solidFill>
                  <a:srgbClr val="C23B22"/>
                </a:solidFill>
                <a:latin typeface="Helvetica Neue"/>
                <a:ea typeface="Helvetica Neue"/>
                <a:cs typeface="Helvetica Neue"/>
              </a:defRPr>
            </a:pPr>
            <a:r>
              <a:rPr sz="1500" b="1">
                <a:solidFill>
                  <a:srgbClr val="C23B22"/>
                </a:solidFill>
                <a:latin typeface="Helvetica Neue"/>
                <a:ea typeface="Helvetica Neue"/>
                <a:cs typeface="Helvetica Neue"/>
              </a:rPr>
              <a:t>sealed answer omitted</a:t>
            </a:r>
          </a:p>
        </p:txBody>
      </p:sp>
    </p:spTree>
    <p:extLst>
      <p:ext uri="{BB962C8B-B14F-4D97-AF65-F5344CB8AC3E}">
        <p14:creationId xmlns:p14="http://schemas.microsoft.com/office/powerpoint/2010/main" val="24223973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3F7CA504-87E0-43CE-AA2A-F4A6CDD0D433}"/>
              </a:ext>
            </a:extLst>
          </p:cNvPr>
          <p:cNvSpPr>
            <a:spLocks xmlns:a="http://schemas.openxmlformats.org/drawingml/2006/main" noGrp="1"/>
          </p:cNvSpPr>
          <p:nvPr/>
        </p:nvSpPr>
        <p:spPr>
          <a:xfrm xmlns:a="http://schemas.openxmlformats.org/drawingml/2006/main">
            <a:off x="51435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OFFENSIVE REASONING INDEX</a:t>
            </a:r>
          </a:p>
        </p:txBody>
      </p:sp>
      <p:sp>
        <p:nvSpPr>
          <p:cNvPr id="2" name="">
            <a:extLst xmlns:a="http://schemas.openxmlformats.org/drawingml/2006/main">
              <a:ext uri="{FF2B5EF4-FFF2-40B4-BE49-F238E27FC236}">
                <a16:creationId xmlns:a16="http://schemas.microsoft.com/office/drawing/2014/main" id="{FC035D28-72E4-4E37-B769-4098CC1C97AA}"/>
              </a:ext>
            </a:extLst>
          </p:cNvPr>
          <p:cNvSpPr>
            <a:spLocks xmlns:a="http://schemas.openxmlformats.org/drawingml/2006/main" noGrp="1"/>
          </p:cNvSpPr>
          <p:nvPr/>
        </p:nvSpPr>
        <p:spPr>
          <a:xfrm xmlns:a="http://schemas.openxmlformats.org/drawingml/2006/main">
            <a:off x="514350" y="666750"/>
            <a:ext cx="10953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Incidents became typed runtime boundaries</a:t>
            </a:r>
          </a:p>
        </p:txBody>
      </p:sp>
      <p:cxnSp>
        <p:nvCxnSpPr>
          <p:cNvPr id="30" name=""/>
          <p:cNvCxnSpPr/>
          <p:nvPr/>
        </p:nvCxnSpPr>
        <p:spPr>
          <a:xfrm xmlns:a="http://schemas.openxmlformats.org/drawingml/2006/main">
            <a:off x="514350" y="1438275"/>
            <a:ext cx="11163300" cy="0"/>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77C8E1DD-07B4-4FE4-BB64-CA7C301426FC}"/>
              </a:ext>
            </a:extLst>
          </p:cNvPr>
          <p:cNvSpPr>
            <a:spLocks xmlns:a="http://schemas.openxmlformats.org/drawingml/2006/main" noGrp="1"/>
          </p:cNvSpPr>
          <p:nvPr/>
        </p:nvSpPr>
        <p:spPr>
          <a:xfrm xmlns:a="http://schemas.openxmlformats.org/drawingml/2006/main">
            <a:off x="11258550" y="64198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62676F"/>
                </a:solidFill>
                <a:latin typeface="Helvetica Neue"/>
                <a:ea typeface="Helvetica Neue"/>
                <a:cs typeface="Helvetica Neue"/>
              </a:defRPr>
            </a:pPr>
            <a:r>
              <a:rPr sz="975" b="0">
                <a:solidFill>
                  <a:srgbClr val="62676F"/>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A0A0305D-2B31-47F6-B7F2-BC1DB35C5FD3}"/>
              </a:ext>
            </a:extLst>
          </p:cNvPr>
          <p:cNvSpPr>
            <a:spLocks xmlns:a="http://schemas.openxmlformats.org/drawingml/2006/main" noGrp="1"/>
          </p:cNvSpPr>
          <p:nvPr/>
        </p:nvSpPr>
        <p:spPr>
          <a:xfrm xmlns:a="http://schemas.openxmlformats.org/drawingml/2006/main">
            <a:off x="666750" y="1809750"/>
            <a:ext cx="3619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C23B22"/>
                </a:solidFill>
                <a:latin typeface="Helvetica Neue"/>
                <a:ea typeface="Helvetica Neue"/>
                <a:cs typeface="Helvetica Neue"/>
              </a:defRPr>
            </a:pPr>
            <a:r>
              <a:rPr sz="1350" b="1">
                <a:solidFill>
                  <a:srgbClr val="C23B22"/>
                </a:solidFill>
                <a:latin typeface="Helvetica Neue"/>
                <a:ea typeface="Helvetica Neue"/>
                <a:cs typeface="Helvetica Neue"/>
              </a:rPr>
              <a:t>Incident</a:t>
            </a:r>
          </a:p>
        </p:txBody>
      </p:sp>
      <p:sp>
        <p:nvSpPr>
          <p:cNvPr id="6" name="">
            <a:extLst xmlns:a="http://schemas.openxmlformats.org/drawingml/2006/main">
              <a:ext uri="{FF2B5EF4-FFF2-40B4-BE49-F238E27FC236}">
                <a16:creationId xmlns:a16="http://schemas.microsoft.com/office/drawing/2014/main" id="{7F2B3B8E-B82E-4D17-B139-2C2FCBB06CE7}"/>
              </a:ext>
            </a:extLst>
          </p:cNvPr>
          <p:cNvSpPr>
            <a:spLocks xmlns:a="http://schemas.openxmlformats.org/drawingml/2006/main" noGrp="1"/>
          </p:cNvSpPr>
          <p:nvPr/>
        </p:nvSpPr>
        <p:spPr>
          <a:xfrm xmlns:a="http://schemas.openxmlformats.org/drawingml/2006/main">
            <a:off x="5143500" y="1809750"/>
            <a:ext cx="552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Regression-covered boundary</a:t>
            </a:r>
          </a:p>
        </p:txBody>
      </p:sp>
      <p:cxnSp>
        <p:nvCxnSpPr>
          <p:cNvPr id="34" name=""/>
          <p:cNvCxnSpPr/>
          <p:nvPr/>
        </p:nvCxnSpPr>
        <p:spPr>
          <a:xfrm xmlns:a="http://schemas.openxmlformats.org/drawingml/2006/main">
            <a:off x="666750" y="2828925"/>
            <a:ext cx="10668000" cy="0"/>
          </a:xfrm>
          <a:prstGeom xmlns:a="http://schemas.openxmlformats.org/drawingml/2006/main" prst="straightConnector1">
            <a:avLst/>
          </a:prstGeom>
          <a:ln xmlns:a="http://schemas.openxmlformats.org/drawingml/2006/main" w="9525">
            <a:solidFill>
              <a:srgbClr val="B8BCC4"/>
            </a:solidFill>
            <a:prstDash val="solid"/>
          </a:ln>
        </p:spPr>
      </p:cxnSp>
      <p:sp>
        <p:nvSpPr>
          <p:cNvPr id="8" name="">
            <a:extLst xmlns:a="http://schemas.openxmlformats.org/drawingml/2006/main">
              <a:ext uri="{FF2B5EF4-FFF2-40B4-BE49-F238E27FC236}">
                <a16:creationId xmlns:a16="http://schemas.microsoft.com/office/drawing/2014/main" id="{6A19B3B4-91FE-495D-A767-72AC8CA72799}"/>
              </a:ext>
            </a:extLst>
          </p:cNvPr>
          <p:cNvSpPr>
            <a:spLocks xmlns:a="http://schemas.openxmlformats.org/drawingml/2006/main" noGrp="1"/>
          </p:cNvSpPr>
          <p:nvPr/>
        </p:nvSpPr>
        <p:spPr>
          <a:xfrm xmlns:a="http://schemas.openxmlformats.org/drawingml/2006/main">
            <a:off x="666750" y="2352675"/>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Nullable provider content</a:t>
            </a:r>
          </a:p>
        </p:txBody>
      </p:sp>
      <p:cxnSp>
        <p:nvCxnSpPr>
          <p:cNvPr id="36" name=""/>
          <p:cNvCxnSpPr/>
          <p:nvPr/>
        </p:nvCxnSpPr>
        <p:spPr>
          <a:xfrm xmlns:a="http://schemas.openxmlformats.org/drawingml/2006/main">
            <a:off x="4429125" y="2552700"/>
            <a:ext cx="523875" cy="0"/>
          </a:xfrm>
          <a:prstGeom xmlns:a="http://schemas.openxmlformats.org/drawingml/2006/main" prst="straightConnector1">
            <a:avLst/>
          </a:prstGeom>
          <a:ln xmlns:a="http://schemas.openxmlformats.org/drawingml/2006/main" w="19050">
            <a:solidFill>
              <a:srgbClr val="B8BCC4"/>
            </a:solidFill>
            <a:prstDash val="solid"/>
          </a:ln>
        </p:spPr>
      </p:cxnSp>
      <p:sp>
        <p:nvSpPr>
          <p:cNvPr id="10" name="">
            <a:extLst xmlns:a="http://schemas.openxmlformats.org/drawingml/2006/main">
              <a:ext uri="{FF2B5EF4-FFF2-40B4-BE49-F238E27FC236}">
                <a16:creationId xmlns:a16="http://schemas.microsoft.com/office/drawing/2014/main" id="{FADE139E-E4E6-4A94-8C01-6490F309EA17}"/>
              </a:ext>
            </a:extLst>
          </p:cNvPr>
          <p:cNvSpPr>
            <a:spLocks xmlns:a="http://schemas.openxmlformats.org/drawingml/2006/main" noGrp="1"/>
          </p:cNvSpPr>
          <p:nvPr/>
        </p:nvSpPr>
        <p:spPr>
          <a:xfrm xmlns:a="http://schemas.openxmlformats.org/drawingml/2006/main">
            <a:off x="5238750" y="2324100"/>
            <a:ext cx="581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62676F"/>
                </a:solidFill>
                <a:latin typeface="Helvetica Neue"/>
                <a:ea typeface="Helvetica Neue"/>
                <a:cs typeface="Helvetica Neue"/>
              </a:defRPr>
            </a:pPr>
            <a:r>
              <a:rPr sz="1575" b="0">
                <a:solidFill>
                  <a:srgbClr val="62676F"/>
                </a:solidFill>
                <a:latin typeface="Helvetica Neue"/>
                <a:ea typeface="Helvetica Neue"/>
                <a:cs typeface="Helvetica Neue"/>
              </a:rPr>
              <a:t>typed output items; text is never nullable</a:t>
            </a:r>
          </a:p>
        </p:txBody>
      </p:sp>
      <p:cxnSp>
        <p:nvCxnSpPr>
          <p:cNvPr id="38" name=""/>
          <p:cNvCxnSpPr/>
          <p:nvPr/>
        </p:nvCxnSpPr>
        <p:spPr>
          <a:xfrm xmlns:a="http://schemas.openxmlformats.org/drawingml/2006/main">
            <a:off x="666750" y="3590925"/>
            <a:ext cx="10668000" cy="0"/>
          </a:xfrm>
          <a:prstGeom xmlns:a="http://schemas.openxmlformats.org/drawingml/2006/main" prst="straightConnector1">
            <a:avLst/>
          </a:prstGeom>
          <a:ln xmlns:a="http://schemas.openxmlformats.org/drawingml/2006/main" w="9525">
            <a:solidFill>
              <a:srgbClr val="B8BCC4"/>
            </a:solidFill>
            <a:prstDash val="solid"/>
          </a:ln>
        </p:spPr>
      </p:cxnSp>
      <p:sp>
        <p:nvSpPr>
          <p:cNvPr id="12" name="">
            <a:extLst xmlns:a="http://schemas.openxmlformats.org/drawingml/2006/main">
              <a:ext uri="{FF2B5EF4-FFF2-40B4-BE49-F238E27FC236}">
                <a16:creationId xmlns:a16="http://schemas.microsoft.com/office/drawing/2014/main" id="{69A28023-0261-49B9-9AB5-48540E831146}"/>
              </a:ext>
            </a:extLst>
          </p:cNvPr>
          <p:cNvSpPr>
            <a:spLocks xmlns:a="http://schemas.openxmlformats.org/drawingml/2006/main" noGrp="1"/>
          </p:cNvSpPr>
          <p:nvPr/>
        </p:nvSpPr>
        <p:spPr>
          <a:xfrm xmlns:a="http://schemas.openxmlformats.org/drawingml/2006/main">
            <a:off x="666750" y="3114675"/>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Nous rejected null schemas</a:t>
            </a:r>
          </a:p>
        </p:txBody>
      </p:sp>
      <p:cxnSp>
        <p:nvCxnSpPr>
          <p:cNvPr id="40" name=""/>
          <p:cNvCxnSpPr/>
          <p:nvPr/>
        </p:nvCxnSpPr>
        <p:spPr>
          <a:xfrm xmlns:a="http://schemas.openxmlformats.org/drawingml/2006/main">
            <a:off x="4429125" y="3314700"/>
            <a:ext cx="523875" cy="0"/>
          </a:xfrm>
          <a:prstGeom xmlns:a="http://schemas.openxmlformats.org/drawingml/2006/main" prst="straightConnector1">
            <a:avLst/>
          </a:prstGeom>
          <a:ln xmlns:a="http://schemas.openxmlformats.org/drawingml/2006/main" w="19050">
            <a:solidFill>
              <a:srgbClr val="B8BCC4"/>
            </a:solidFill>
            <a:prstDash val="solid"/>
          </a:ln>
        </p:spPr>
      </p:cxnSp>
      <p:sp>
        <p:nvSpPr>
          <p:cNvPr id="14" name="">
            <a:extLst xmlns:a="http://schemas.openxmlformats.org/drawingml/2006/main">
              <a:ext uri="{FF2B5EF4-FFF2-40B4-BE49-F238E27FC236}">
                <a16:creationId xmlns:a16="http://schemas.microsoft.com/office/drawing/2014/main" id="{1043A62B-37F9-4310-831E-C8FCF9B32C0A}"/>
              </a:ext>
            </a:extLst>
          </p:cNvPr>
          <p:cNvSpPr>
            <a:spLocks xmlns:a="http://schemas.openxmlformats.org/drawingml/2006/main" noGrp="1"/>
          </p:cNvSpPr>
          <p:nvPr/>
        </p:nvSpPr>
        <p:spPr>
          <a:xfrm xmlns:a="http://schemas.openxmlformats.org/drawingml/2006/main">
            <a:off x="5238750" y="3086100"/>
            <a:ext cx="581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62676F"/>
                </a:solidFill>
                <a:latin typeface="Helvetica Neue"/>
                <a:ea typeface="Helvetica Neue"/>
                <a:cs typeface="Helvetica Neue"/>
              </a:defRPr>
            </a:pPr>
            <a:r>
              <a:rPr sz="1575" b="0">
                <a:solidFill>
                  <a:srgbClr val="62676F"/>
                </a:solidFill>
                <a:latin typeface="Helvetica Neue"/>
                <a:ea typeface="Helvetica Neue"/>
                <a:cs typeface="Helvetica Neue"/>
              </a:rPr>
              <a:t>normalized tool schemas before transport</a:t>
            </a:r>
          </a:p>
        </p:txBody>
      </p:sp>
      <p:cxnSp>
        <p:nvCxnSpPr>
          <p:cNvPr id="42" name=""/>
          <p:cNvCxnSpPr/>
          <p:nvPr/>
        </p:nvCxnSpPr>
        <p:spPr>
          <a:xfrm xmlns:a="http://schemas.openxmlformats.org/drawingml/2006/main">
            <a:off x="666750" y="4352925"/>
            <a:ext cx="10668000" cy="0"/>
          </a:xfrm>
          <a:prstGeom xmlns:a="http://schemas.openxmlformats.org/drawingml/2006/main" prst="straightConnector1">
            <a:avLst/>
          </a:prstGeom>
          <a:ln xmlns:a="http://schemas.openxmlformats.org/drawingml/2006/main" w="9525">
            <a:solidFill>
              <a:srgbClr val="B8BCC4"/>
            </a:solidFill>
            <a:prstDash val="solid"/>
          </a:ln>
        </p:spPr>
      </p:cxnSp>
      <p:sp>
        <p:nvSpPr>
          <p:cNvPr id="16" name="">
            <a:extLst xmlns:a="http://schemas.openxmlformats.org/drawingml/2006/main">
              <a:ext uri="{FF2B5EF4-FFF2-40B4-BE49-F238E27FC236}">
                <a16:creationId xmlns:a16="http://schemas.microsoft.com/office/drawing/2014/main" id="{F730D933-9D7D-4BEB-8446-1A13B3FE5340}"/>
              </a:ext>
            </a:extLst>
          </p:cNvPr>
          <p:cNvSpPr>
            <a:spLocks xmlns:a="http://schemas.openxmlformats.org/drawingml/2006/main" noGrp="1"/>
          </p:cNvSpPr>
          <p:nvPr/>
        </p:nvSpPr>
        <p:spPr>
          <a:xfrm xmlns:a="http://schemas.openxmlformats.org/drawingml/2006/main">
            <a:off x="666750" y="3876675"/>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Unsafe or runaway CySQL</a:t>
            </a:r>
          </a:p>
        </p:txBody>
      </p:sp>
      <p:cxnSp>
        <p:nvCxnSpPr>
          <p:cNvPr id="44" name=""/>
          <p:cNvCxnSpPr/>
          <p:nvPr/>
        </p:nvCxnSpPr>
        <p:spPr>
          <a:xfrm xmlns:a="http://schemas.openxmlformats.org/drawingml/2006/main">
            <a:off x="4429125" y="4076700"/>
            <a:ext cx="523875" cy="0"/>
          </a:xfrm>
          <a:prstGeom xmlns:a="http://schemas.openxmlformats.org/drawingml/2006/main" prst="straightConnector1">
            <a:avLst/>
          </a:prstGeom>
          <a:ln xmlns:a="http://schemas.openxmlformats.org/drawingml/2006/main" w="19050">
            <a:solidFill>
              <a:srgbClr val="B8BCC4"/>
            </a:solidFill>
            <a:prstDash val="solid"/>
          </a:ln>
        </p:spPr>
      </p:cxnSp>
      <p:sp>
        <p:nvSpPr>
          <p:cNvPr id="18" name="">
            <a:extLst xmlns:a="http://schemas.openxmlformats.org/drawingml/2006/main">
              <a:ext uri="{FF2B5EF4-FFF2-40B4-BE49-F238E27FC236}">
                <a16:creationId xmlns:a16="http://schemas.microsoft.com/office/drawing/2014/main" id="{A24D18B0-70C7-4D2D-8E3F-929923B4D68C}"/>
              </a:ext>
            </a:extLst>
          </p:cNvPr>
          <p:cNvSpPr>
            <a:spLocks xmlns:a="http://schemas.openxmlformats.org/drawingml/2006/main" noGrp="1"/>
          </p:cNvSpPr>
          <p:nvPr/>
        </p:nvSpPr>
        <p:spPr>
          <a:xfrm xmlns:a="http://schemas.openxmlformats.org/drawingml/2006/main">
            <a:off x="5238750" y="3848100"/>
            <a:ext cx="581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62676F"/>
                </a:solidFill>
                <a:latin typeface="Helvetica Neue"/>
                <a:ea typeface="Helvetica Neue"/>
                <a:cs typeface="Helvetica Neue"/>
              </a:defRPr>
            </a:pPr>
            <a:r>
              <a:rPr sz="1575" b="0">
                <a:solidFill>
                  <a:srgbClr val="62676F"/>
                </a:solidFill>
                <a:latin typeface="Helvetica Neue"/>
                <a:ea typeface="Helvetica Neue"/>
                <a:cs typeface="Helvetica Neue"/>
              </a:rPr>
              <a:t>model-blind query containment + deny cache</a:t>
            </a:r>
          </a:p>
        </p:txBody>
      </p:sp>
      <p:cxnSp>
        <p:nvCxnSpPr>
          <p:cNvPr id="46" name=""/>
          <p:cNvCxnSpPr/>
          <p:nvPr/>
        </p:nvCxnSpPr>
        <p:spPr>
          <a:xfrm xmlns:a="http://schemas.openxmlformats.org/drawingml/2006/main">
            <a:off x="666750" y="5114925"/>
            <a:ext cx="10668000" cy="0"/>
          </a:xfrm>
          <a:prstGeom xmlns:a="http://schemas.openxmlformats.org/drawingml/2006/main" prst="straightConnector1">
            <a:avLst/>
          </a:prstGeom>
          <a:ln xmlns:a="http://schemas.openxmlformats.org/drawingml/2006/main" w="9525">
            <a:solidFill>
              <a:srgbClr val="B8BCC4"/>
            </a:solidFill>
            <a:prstDash val="solid"/>
          </a:ln>
        </p:spPr>
      </p:cxnSp>
      <p:sp>
        <p:nvSpPr>
          <p:cNvPr id="20" name="">
            <a:extLst xmlns:a="http://schemas.openxmlformats.org/drawingml/2006/main">
              <a:ext uri="{FF2B5EF4-FFF2-40B4-BE49-F238E27FC236}">
                <a16:creationId xmlns:a16="http://schemas.microsoft.com/office/drawing/2014/main" id="{66670472-049B-46AF-B63F-D0DFDB8EEA47}"/>
              </a:ext>
            </a:extLst>
          </p:cNvPr>
          <p:cNvSpPr>
            <a:spLocks xmlns:a="http://schemas.openxmlformats.org/drawingml/2006/main" noGrp="1"/>
          </p:cNvSpPr>
          <p:nvPr/>
        </p:nvSpPr>
        <p:spPr>
          <a:xfrm xmlns:a="http://schemas.openxmlformats.org/drawingml/2006/main">
            <a:off x="666750" y="4638675"/>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Wrong launcher binary</a:t>
            </a:r>
          </a:p>
        </p:txBody>
      </p:sp>
      <p:cxnSp>
        <p:nvCxnSpPr>
          <p:cNvPr id="48" name=""/>
          <p:cNvCxnSpPr/>
          <p:nvPr/>
        </p:nvCxnSpPr>
        <p:spPr>
          <a:xfrm xmlns:a="http://schemas.openxmlformats.org/drawingml/2006/main">
            <a:off x="4429125" y="4838700"/>
            <a:ext cx="523875" cy="0"/>
          </a:xfrm>
          <a:prstGeom xmlns:a="http://schemas.openxmlformats.org/drawingml/2006/main" prst="straightConnector1">
            <a:avLst/>
          </a:prstGeom>
          <a:ln xmlns:a="http://schemas.openxmlformats.org/drawingml/2006/main" w="19050">
            <a:solidFill>
              <a:srgbClr val="B8BCC4"/>
            </a:solidFill>
            <a:prstDash val="solid"/>
          </a:ln>
        </p:spPr>
      </p:cxnSp>
      <p:sp>
        <p:nvSpPr>
          <p:cNvPr id="22" name="">
            <a:extLst xmlns:a="http://schemas.openxmlformats.org/drawingml/2006/main">
              <a:ext uri="{FF2B5EF4-FFF2-40B4-BE49-F238E27FC236}">
                <a16:creationId xmlns:a16="http://schemas.microsoft.com/office/drawing/2014/main" id="{EA7D45FE-5A83-46C2-9951-D70D685BD93E}"/>
              </a:ext>
            </a:extLst>
          </p:cNvPr>
          <p:cNvSpPr>
            <a:spLocks xmlns:a="http://schemas.openxmlformats.org/drawingml/2006/main" noGrp="1"/>
          </p:cNvSpPr>
          <p:nvPr/>
        </p:nvSpPr>
        <p:spPr>
          <a:xfrm xmlns:a="http://schemas.openxmlformats.org/drawingml/2006/main">
            <a:off x="5238750" y="4610100"/>
            <a:ext cx="581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62676F"/>
                </a:solidFill>
                <a:latin typeface="Helvetica Neue"/>
                <a:ea typeface="Helvetica Neue"/>
                <a:cs typeface="Helvetica Neue"/>
              </a:defRPr>
            </a:pPr>
            <a:r>
              <a:rPr sz="1575" b="0">
                <a:solidFill>
                  <a:srgbClr val="62676F"/>
                </a:solidFill>
                <a:latin typeface="Helvetica Neue"/>
                <a:ea typeface="Helvetica Neue"/>
                <a:cs typeface="Helvetica Neue"/>
              </a:rPr>
              <a:t>resolved executable identity in readiness fingerprints</a:t>
            </a:r>
          </a:p>
        </p:txBody>
      </p:sp>
      <p:cxnSp>
        <p:nvCxnSpPr>
          <p:cNvPr id="50" name=""/>
          <p:cNvCxnSpPr/>
          <p:nvPr/>
        </p:nvCxnSpPr>
        <p:spPr>
          <a:xfrm xmlns:a="http://schemas.openxmlformats.org/drawingml/2006/main">
            <a:off x="666750" y="5876925"/>
            <a:ext cx="10668000" cy="0"/>
          </a:xfrm>
          <a:prstGeom xmlns:a="http://schemas.openxmlformats.org/drawingml/2006/main" prst="straightConnector1">
            <a:avLst/>
          </a:prstGeom>
          <a:ln xmlns:a="http://schemas.openxmlformats.org/drawingml/2006/main" w="9525">
            <a:solidFill>
              <a:srgbClr val="B8BCC4"/>
            </a:solidFill>
            <a:prstDash val="solid"/>
          </a:ln>
        </p:spPr>
      </p:cxnSp>
      <p:sp>
        <p:nvSpPr>
          <p:cNvPr id="24" name="">
            <a:extLst xmlns:a="http://schemas.openxmlformats.org/drawingml/2006/main">
              <a:ext uri="{FF2B5EF4-FFF2-40B4-BE49-F238E27FC236}">
                <a16:creationId xmlns:a16="http://schemas.microsoft.com/office/drawing/2014/main" id="{0186EB16-AE10-4F36-B421-BA0A9351F064}"/>
              </a:ext>
            </a:extLst>
          </p:cNvPr>
          <p:cNvSpPr>
            <a:spLocks xmlns:a="http://schemas.openxmlformats.org/drawingml/2006/main" noGrp="1"/>
          </p:cNvSpPr>
          <p:nvPr/>
        </p:nvSpPr>
        <p:spPr>
          <a:xfrm xmlns:a="http://schemas.openxmlformats.org/drawingml/2006/main">
            <a:off x="666750" y="5400675"/>
            <a:ext cx="3714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Neo4j failed mid-campaign</a:t>
            </a:r>
          </a:p>
        </p:txBody>
      </p:sp>
      <p:cxnSp>
        <p:nvCxnSpPr>
          <p:cNvPr id="52" name=""/>
          <p:cNvCxnSpPr/>
          <p:nvPr/>
        </p:nvCxnSpPr>
        <p:spPr>
          <a:xfrm xmlns:a="http://schemas.openxmlformats.org/drawingml/2006/main">
            <a:off x="4429125" y="5600700"/>
            <a:ext cx="523875" cy="0"/>
          </a:xfrm>
          <a:prstGeom xmlns:a="http://schemas.openxmlformats.org/drawingml/2006/main" prst="straightConnector1">
            <a:avLst/>
          </a:prstGeom>
          <a:ln xmlns:a="http://schemas.openxmlformats.org/drawingml/2006/main" w="19050">
            <a:solidFill>
              <a:srgbClr val="B8BCC4"/>
            </a:solidFill>
            <a:prstDash val="solid"/>
          </a:ln>
        </p:spPr>
      </p:cxnSp>
      <p:sp>
        <p:nvSpPr>
          <p:cNvPr id="26" name="">
            <a:extLst xmlns:a="http://schemas.openxmlformats.org/drawingml/2006/main">
              <a:ext uri="{FF2B5EF4-FFF2-40B4-BE49-F238E27FC236}">
                <a16:creationId xmlns:a16="http://schemas.microsoft.com/office/drawing/2014/main" id="{9F13962A-B71A-4EBE-8732-21D768F06EB4}"/>
              </a:ext>
            </a:extLst>
          </p:cNvPr>
          <p:cNvSpPr>
            <a:spLocks xmlns:a="http://schemas.openxmlformats.org/drawingml/2006/main" noGrp="1"/>
          </p:cNvSpPr>
          <p:nvPr/>
        </p:nvSpPr>
        <p:spPr>
          <a:xfrm xmlns:a="http://schemas.openxmlformats.org/drawingml/2006/main">
            <a:off x="5238750" y="5372100"/>
            <a:ext cx="5810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75" b="0">
                <a:solidFill>
                  <a:srgbClr val="62676F"/>
                </a:solidFill>
                <a:latin typeface="Helvetica Neue"/>
                <a:ea typeface="Helvetica Neue"/>
                <a:cs typeface="Helvetica Neue"/>
              </a:defRPr>
            </a:pPr>
            <a:r>
              <a:rPr sz="1575" b="0">
                <a:solidFill>
                  <a:srgbClr val="62676F"/>
                </a:solidFill>
                <a:latin typeface="Helvetica Neue"/>
                <a:ea typeface="Helvetica Neue"/>
                <a:cs typeface="Helvetica Neue"/>
              </a:rPr>
              <a:t>pre-provider circuit gate + post-track graph check</a:t>
            </a:r>
          </a:p>
        </p:txBody>
      </p:sp>
      <p:sp>
        <p:nvSpPr>
          <p:cNvPr id="27" name="">
            <a:extLst xmlns:a="http://schemas.openxmlformats.org/drawingml/2006/main">
              <a:ext uri="{FF2B5EF4-FFF2-40B4-BE49-F238E27FC236}">
                <a16:creationId xmlns:a16="http://schemas.microsoft.com/office/drawing/2014/main" id="{19190927-001E-423C-B760-F9B64603C3ED}"/>
              </a:ext>
            </a:extLst>
          </p:cNvPr>
          <p:cNvSpPr>
            <a:spLocks xmlns:a="http://schemas.openxmlformats.org/drawingml/2006/main" noGrp="1"/>
          </p:cNvSpPr>
          <p:nvPr/>
        </p:nvSpPr>
        <p:spPr>
          <a:xfrm xmlns:a="http://schemas.openxmlformats.org/drawingml/2006/main">
            <a:off x="1571625" y="6143625"/>
            <a:ext cx="904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Failures become scores only when the evidence says they are model outcomes.</a:t>
            </a:r>
          </a:p>
        </p:txBody>
      </p:sp>
    </p:spTree>
    <p:extLst>
      <p:ext uri="{BB962C8B-B14F-4D97-AF65-F5344CB8AC3E}">
        <p14:creationId xmlns:p14="http://schemas.microsoft.com/office/powerpoint/2010/main" val="937881493"/>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93F65D0-1948-449B-8D11-D2DFCB5BEEFB}"/>
              </a:ext>
            </a:extLst>
          </p:cNvPr>
          <p:cNvSpPr>
            <a:spLocks xmlns:a="http://schemas.openxmlformats.org/drawingml/2006/main" noGrp="1"/>
          </p:cNvSpPr>
          <p:nvPr/>
        </p:nvSpPr>
        <p:spPr>
          <a:xfrm xmlns:a="http://schemas.openxmlformats.org/drawingml/2006/main">
            <a:off x="51435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OFFENSIVE REASONING INDEX</a:t>
            </a:r>
          </a:p>
        </p:txBody>
      </p:sp>
      <p:sp>
        <p:nvSpPr>
          <p:cNvPr id="2" name="">
            <a:extLst xmlns:a="http://schemas.openxmlformats.org/drawingml/2006/main">
              <a:ext uri="{FF2B5EF4-FFF2-40B4-BE49-F238E27FC236}">
                <a16:creationId xmlns:a16="http://schemas.microsoft.com/office/drawing/2014/main" id="{2ECAD3A4-253C-44EF-BCDA-532CA814696A}"/>
              </a:ext>
            </a:extLst>
          </p:cNvPr>
          <p:cNvSpPr>
            <a:spLocks xmlns:a="http://schemas.openxmlformats.org/drawingml/2006/main" noGrp="1"/>
          </p:cNvSpPr>
          <p:nvPr/>
        </p:nvSpPr>
        <p:spPr>
          <a:xfrm xmlns:a="http://schemas.openxmlformats.org/drawingml/2006/main">
            <a:off x="514350" y="666750"/>
            <a:ext cx="10953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V29 is a certified development boundary</a:t>
            </a:r>
          </a:p>
        </p:txBody>
      </p:sp>
      <p:cxnSp>
        <p:nvCxnSpPr>
          <p:cNvPr id="21" name=""/>
          <p:cNvCxnSpPr/>
          <p:nvPr/>
        </p:nvCxnSpPr>
        <p:spPr>
          <a:xfrm xmlns:a="http://schemas.openxmlformats.org/drawingml/2006/main">
            <a:off x="514350" y="1438275"/>
            <a:ext cx="11163300" cy="0"/>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F4FC7C93-62F8-49DE-B694-0A457AF2BEE9}"/>
              </a:ext>
            </a:extLst>
          </p:cNvPr>
          <p:cNvSpPr>
            <a:spLocks xmlns:a="http://schemas.openxmlformats.org/drawingml/2006/main" noGrp="1"/>
          </p:cNvSpPr>
          <p:nvPr/>
        </p:nvSpPr>
        <p:spPr>
          <a:xfrm xmlns:a="http://schemas.openxmlformats.org/drawingml/2006/main">
            <a:off x="11258550" y="64198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62676F"/>
                </a:solidFill>
                <a:latin typeface="Helvetica Neue"/>
                <a:ea typeface="Helvetica Neue"/>
                <a:cs typeface="Helvetica Neue"/>
              </a:defRPr>
            </a:pPr>
            <a:r>
              <a:rPr sz="975" b="0">
                <a:solidFill>
                  <a:srgbClr val="62676F"/>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E5D75E70-4CBC-4DF6-BC6A-8BF6C1D273CB}"/>
              </a:ext>
            </a:extLst>
          </p:cNvPr>
          <p:cNvSpPr>
            <a:spLocks xmlns:a="http://schemas.openxmlformats.org/drawingml/2006/main" noGrp="1"/>
          </p:cNvSpPr>
          <p:nvPr/>
        </p:nvSpPr>
        <p:spPr>
          <a:xfrm xmlns:a="http://schemas.openxmlformats.org/drawingml/2006/main">
            <a:off x="666750" y="2047875"/>
            <a:ext cx="2190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5100" b="1">
                <a:solidFill>
                  <a:srgbClr val="111111"/>
                </a:solidFill>
                <a:latin typeface="Helvetica Neue"/>
                <a:ea typeface="Helvetica Neue"/>
                <a:cs typeface="Helvetica Neue"/>
              </a:defRPr>
            </a:pPr>
            <a:r>
              <a:rPr sz="5100" b="1">
                <a:solidFill>
                  <a:srgbClr val="111111"/>
                </a:solidFill>
                <a:latin typeface="Helvetica Neue"/>
                <a:ea typeface="Helvetica Neue"/>
                <a:cs typeface="Helvetica Neue"/>
              </a:rPr>
              <a:t>46</a:t>
            </a:r>
          </a:p>
        </p:txBody>
      </p:sp>
      <p:sp>
        <p:nvSpPr>
          <p:cNvPr id="6" name="">
            <a:extLst xmlns:a="http://schemas.openxmlformats.org/drawingml/2006/main">
              <a:ext uri="{FF2B5EF4-FFF2-40B4-BE49-F238E27FC236}">
                <a16:creationId xmlns:a16="http://schemas.microsoft.com/office/drawing/2014/main" id="{663C51FA-01CA-4332-8262-5F28013D4EE9}"/>
              </a:ext>
            </a:extLst>
          </p:cNvPr>
          <p:cNvSpPr>
            <a:spLocks xmlns:a="http://schemas.openxmlformats.org/drawingml/2006/main" noGrp="1"/>
          </p:cNvSpPr>
          <p:nvPr/>
        </p:nvSpPr>
        <p:spPr>
          <a:xfrm xmlns:a="http://schemas.openxmlformats.org/drawingml/2006/main">
            <a:off x="666750" y="3095625"/>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62676F"/>
                </a:solidFill>
                <a:latin typeface="Helvetica Neue"/>
                <a:ea typeface="Helvetica Neue"/>
                <a:cs typeface="Helvetica Neue"/>
              </a:defRPr>
            </a:pPr>
            <a:r>
              <a:rPr sz="1575" b="1">
                <a:solidFill>
                  <a:srgbClr val="62676F"/>
                </a:solidFill>
                <a:latin typeface="Helvetica Neue"/>
                <a:ea typeface="Helvetica Neue"/>
                <a:cs typeface="Helvetica Neue"/>
              </a:rPr>
              <a:t>Direct certified</a:t>
            </a:r>
          </a:p>
        </p:txBody>
      </p:sp>
      <p:sp>
        <p:nvSpPr>
          <p:cNvPr id="7" name="">
            <a:extLst xmlns:a="http://schemas.openxmlformats.org/drawingml/2006/main">
              <a:ext uri="{FF2B5EF4-FFF2-40B4-BE49-F238E27FC236}">
                <a16:creationId xmlns:a16="http://schemas.microsoft.com/office/drawing/2014/main" id="{29C62ABC-F282-4A1E-B173-60E3A51F3EB2}"/>
              </a:ext>
            </a:extLst>
          </p:cNvPr>
          <p:cNvSpPr>
            <a:spLocks xmlns:a="http://schemas.openxmlformats.org/drawingml/2006/main" noGrp="1"/>
          </p:cNvSpPr>
          <p:nvPr/>
        </p:nvSpPr>
        <p:spPr>
          <a:xfrm xmlns:a="http://schemas.openxmlformats.org/drawingml/2006/main">
            <a:off x="3476625" y="2047875"/>
            <a:ext cx="2190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5100" b="1">
                <a:solidFill>
                  <a:srgbClr val="111111"/>
                </a:solidFill>
                <a:latin typeface="Helvetica Neue"/>
                <a:ea typeface="Helvetica Neue"/>
                <a:cs typeface="Helvetica Neue"/>
              </a:defRPr>
            </a:pPr>
            <a:r>
              <a:rPr sz="5100" b="1">
                <a:solidFill>
                  <a:srgbClr val="111111"/>
                </a:solidFill>
                <a:latin typeface="Helvetica Neue"/>
                <a:ea typeface="Helvetica Neue"/>
                <a:cs typeface="Helvetica Neue"/>
              </a:rPr>
              <a:t>70</a:t>
            </a:r>
          </a:p>
        </p:txBody>
      </p:sp>
      <p:sp>
        <p:nvSpPr>
          <p:cNvPr id="8" name="">
            <a:extLst xmlns:a="http://schemas.openxmlformats.org/drawingml/2006/main">
              <a:ext uri="{FF2B5EF4-FFF2-40B4-BE49-F238E27FC236}">
                <a16:creationId xmlns:a16="http://schemas.microsoft.com/office/drawing/2014/main" id="{294359A4-9505-41F7-9F7F-D410491F4100}"/>
              </a:ext>
            </a:extLst>
          </p:cNvPr>
          <p:cNvSpPr>
            <a:spLocks xmlns:a="http://schemas.openxmlformats.org/drawingml/2006/main" noGrp="1"/>
          </p:cNvSpPr>
          <p:nvPr/>
        </p:nvSpPr>
        <p:spPr>
          <a:xfrm xmlns:a="http://schemas.openxmlformats.org/drawingml/2006/main">
            <a:off x="3476625" y="3095625"/>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62676F"/>
                </a:solidFill>
                <a:latin typeface="Helvetica Neue"/>
                <a:ea typeface="Helvetica Neue"/>
                <a:cs typeface="Helvetica Neue"/>
              </a:defRPr>
            </a:pPr>
            <a:r>
              <a:rPr sz="1575" b="1">
                <a:solidFill>
                  <a:srgbClr val="62676F"/>
                </a:solidFill>
                <a:latin typeface="Helvetica Neue"/>
                <a:ea typeface="Helvetica Neue"/>
                <a:cs typeface="Helvetica Neue"/>
              </a:rPr>
              <a:t>MCP certified</a:t>
            </a:r>
          </a:p>
        </p:txBody>
      </p:sp>
      <p:sp>
        <p:nvSpPr>
          <p:cNvPr id="9" name="">
            <a:extLst xmlns:a="http://schemas.openxmlformats.org/drawingml/2006/main">
              <a:ext uri="{FF2B5EF4-FFF2-40B4-BE49-F238E27FC236}">
                <a16:creationId xmlns:a16="http://schemas.microsoft.com/office/drawing/2014/main" id="{7948E40E-4364-4EA0-BF43-5986408096A8}"/>
              </a:ext>
            </a:extLst>
          </p:cNvPr>
          <p:cNvSpPr>
            <a:spLocks xmlns:a="http://schemas.openxmlformats.org/drawingml/2006/main" noGrp="1"/>
          </p:cNvSpPr>
          <p:nvPr/>
        </p:nvSpPr>
        <p:spPr>
          <a:xfrm xmlns:a="http://schemas.openxmlformats.org/drawingml/2006/main">
            <a:off x="6286500" y="2047875"/>
            <a:ext cx="2190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5100" b="1">
                <a:solidFill>
                  <a:srgbClr val="111111"/>
                </a:solidFill>
                <a:latin typeface="Helvetica Neue"/>
                <a:ea typeface="Helvetica Neue"/>
                <a:cs typeface="Helvetica Neue"/>
              </a:defRPr>
            </a:pPr>
            <a:r>
              <a:rPr sz="5100" b="1">
                <a:solidFill>
                  <a:srgbClr val="111111"/>
                </a:solidFill>
                <a:latin typeface="Helvetica Neue"/>
                <a:ea typeface="Helvetica Neue"/>
                <a:cs typeface="Helvetica Neue"/>
              </a:rPr>
              <a:t>42</a:t>
            </a:r>
          </a:p>
        </p:txBody>
      </p:sp>
      <p:sp>
        <p:nvSpPr>
          <p:cNvPr id="10" name="">
            <a:extLst xmlns:a="http://schemas.openxmlformats.org/drawingml/2006/main">
              <a:ext uri="{FF2B5EF4-FFF2-40B4-BE49-F238E27FC236}">
                <a16:creationId xmlns:a16="http://schemas.microsoft.com/office/drawing/2014/main" id="{BB1871A5-F456-4D21-8D08-833080C2CC85}"/>
              </a:ext>
            </a:extLst>
          </p:cNvPr>
          <p:cNvSpPr>
            <a:spLocks xmlns:a="http://schemas.openxmlformats.org/drawingml/2006/main" noGrp="1"/>
          </p:cNvSpPr>
          <p:nvPr/>
        </p:nvSpPr>
        <p:spPr>
          <a:xfrm xmlns:a="http://schemas.openxmlformats.org/drawingml/2006/main">
            <a:off x="6286500" y="3095625"/>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62676F"/>
                </a:solidFill>
                <a:latin typeface="Helvetica Neue"/>
                <a:ea typeface="Helvetica Neue"/>
                <a:cs typeface="Helvetica Neue"/>
              </a:defRPr>
            </a:pPr>
            <a:r>
              <a:rPr sz="1575" b="1">
                <a:solidFill>
                  <a:srgbClr val="62676F"/>
                </a:solidFill>
                <a:latin typeface="Helvetica Neue"/>
                <a:ea typeface="Helvetica Neue"/>
                <a:cs typeface="Helvetica Neue"/>
              </a:rPr>
              <a:t>Direct scheduled</a:t>
            </a:r>
          </a:p>
        </p:txBody>
      </p:sp>
      <p:sp>
        <p:nvSpPr>
          <p:cNvPr id="11" name="">
            <a:extLst xmlns:a="http://schemas.openxmlformats.org/drawingml/2006/main">
              <a:ext uri="{FF2B5EF4-FFF2-40B4-BE49-F238E27FC236}">
                <a16:creationId xmlns:a16="http://schemas.microsoft.com/office/drawing/2014/main" id="{D997654C-4FBD-4814-8044-B9335568495B}"/>
              </a:ext>
            </a:extLst>
          </p:cNvPr>
          <p:cNvSpPr>
            <a:spLocks xmlns:a="http://schemas.openxmlformats.org/drawingml/2006/main" noGrp="1"/>
          </p:cNvSpPr>
          <p:nvPr/>
        </p:nvSpPr>
        <p:spPr>
          <a:xfrm xmlns:a="http://schemas.openxmlformats.org/drawingml/2006/main">
            <a:off x="9096375" y="2047875"/>
            <a:ext cx="2190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5100" b="1">
                <a:solidFill>
                  <a:srgbClr val="111111"/>
                </a:solidFill>
                <a:latin typeface="Helvetica Neue"/>
                <a:ea typeface="Helvetica Neue"/>
                <a:cs typeface="Helvetica Neue"/>
              </a:defRPr>
            </a:pPr>
            <a:r>
              <a:rPr sz="5100" b="1">
                <a:solidFill>
                  <a:srgbClr val="111111"/>
                </a:solidFill>
                <a:latin typeface="Helvetica Neue"/>
                <a:ea typeface="Helvetica Neue"/>
                <a:cs typeface="Helvetica Neue"/>
              </a:rPr>
              <a:t>55</a:t>
            </a:r>
          </a:p>
        </p:txBody>
      </p:sp>
      <p:sp>
        <p:nvSpPr>
          <p:cNvPr id="12" name="">
            <a:extLst xmlns:a="http://schemas.openxmlformats.org/drawingml/2006/main">
              <a:ext uri="{FF2B5EF4-FFF2-40B4-BE49-F238E27FC236}">
                <a16:creationId xmlns:a16="http://schemas.microsoft.com/office/drawing/2014/main" id="{9C20A26F-EF70-45DD-88F4-4DC370CE2826}"/>
              </a:ext>
            </a:extLst>
          </p:cNvPr>
          <p:cNvSpPr>
            <a:spLocks xmlns:a="http://schemas.openxmlformats.org/drawingml/2006/main" noGrp="1"/>
          </p:cNvSpPr>
          <p:nvPr/>
        </p:nvSpPr>
        <p:spPr>
          <a:xfrm xmlns:a="http://schemas.openxmlformats.org/drawingml/2006/main">
            <a:off x="9096375" y="3095625"/>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62676F"/>
                </a:solidFill>
                <a:latin typeface="Helvetica Neue"/>
                <a:ea typeface="Helvetica Neue"/>
                <a:cs typeface="Helvetica Neue"/>
              </a:defRPr>
            </a:pPr>
            <a:r>
              <a:rPr sz="1575" b="1">
                <a:solidFill>
                  <a:srgbClr val="62676F"/>
                </a:solidFill>
                <a:latin typeface="Helvetica Neue"/>
                <a:ea typeface="Helvetica Neue"/>
                <a:cs typeface="Helvetica Neue"/>
              </a:rPr>
              <a:t>MCP scheduled</a:t>
            </a:r>
          </a:p>
        </p:txBody>
      </p:sp>
      <p:cxnSp>
        <p:nvCxnSpPr>
          <p:cNvPr id="31" name=""/>
          <p:cNvCxnSpPr/>
          <p:nvPr/>
        </p:nvCxnSpPr>
        <p:spPr>
          <a:xfrm xmlns:a="http://schemas.openxmlformats.org/drawingml/2006/main">
            <a:off x="666750" y="4000500"/>
            <a:ext cx="10668000" cy="0"/>
          </a:xfrm>
          <a:prstGeom xmlns:a="http://schemas.openxmlformats.org/drawingml/2006/main" prst="straightConnector1">
            <a:avLst/>
          </a:prstGeom>
          <a:ln xmlns:a="http://schemas.openxmlformats.org/drawingml/2006/main" w="9525">
            <a:solidFill>
              <a:srgbClr val="B8BCC4"/>
            </a:solidFill>
            <a:prstDash val="solid"/>
          </a:ln>
        </p:spPr>
      </p:cxnSp>
      <p:sp>
        <p:nvSpPr>
          <p:cNvPr id="14" name="">
            <a:extLst xmlns:a="http://schemas.openxmlformats.org/drawingml/2006/main">
              <a:ext uri="{FF2B5EF4-FFF2-40B4-BE49-F238E27FC236}">
                <a16:creationId xmlns:a16="http://schemas.microsoft.com/office/drawing/2014/main" id="{B096B2E3-F767-4622-A50B-E88692EDC9BB}"/>
              </a:ext>
            </a:extLst>
          </p:cNvPr>
          <p:cNvSpPr>
            <a:spLocks xmlns:a="http://schemas.openxmlformats.org/drawingml/2006/main" noGrp="1"/>
          </p:cNvSpPr>
          <p:nvPr/>
        </p:nvSpPr>
        <p:spPr>
          <a:xfrm xmlns:a="http://schemas.openxmlformats.org/drawingml/2006/main">
            <a:off x="714375" y="4429125"/>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Graph</a:t>
            </a:r>
          </a:p>
        </p:txBody>
      </p:sp>
      <p:sp>
        <p:nvSpPr>
          <p:cNvPr id="15" name="">
            <a:extLst xmlns:a="http://schemas.openxmlformats.org/drawingml/2006/main">
              <a:ext uri="{FF2B5EF4-FFF2-40B4-BE49-F238E27FC236}">
                <a16:creationId xmlns:a16="http://schemas.microsoft.com/office/drawing/2014/main" id="{856EAAA1-8418-4925-81BF-7F8AB24DC9A2}"/>
              </a:ext>
            </a:extLst>
          </p:cNvPr>
          <p:cNvSpPr>
            <a:spLocks xmlns:a="http://schemas.openxmlformats.org/drawingml/2006/main" noGrp="1"/>
          </p:cNvSpPr>
          <p:nvPr/>
        </p:nvSpPr>
        <p:spPr>
          <a:xfrm xmlns:a="http://schemas.openxmlformats.org/drawingml/2006/main">
            <a:off x="714375" y="4810125"/>
            <a:ext cx="400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fb0b6785…b74b1c4</a:t>
            </a:r>
          </a:p>
        </p:txBody>
      </p:sp>
      <p:sp>
        <p:nvSpPr>
          <p:cNvPr id="16" name="">
            <a:extLst xmlns:a="http://schemas.openxmlformats.org/drawingml/2006/main">
              <a:ext uri="{FF2B5EF4-FFF2-40B4-BE49-F238E27FC236}">
                <a16:creationId xmlns:a16="http://schemas.microsoft.com/office/drawing/2014/main" id="{2CDEBEA6-8B6E-4580-8EEB-613C3738EE5A}"/>
              </a:ext>
            </a:extLst>
          </p:cNvPr>
          <p:cNvSpPr>
            <a:spLocks xmlns:a="http://schemas.openxmlformats.org/drawingml/2006/main" noGrp="1"/>
          </p:cNvSpPr>
          <p:nvPr/>
        </p:nvSpPr>
        <p:spPr>
          <a:xfrm xmlns:a="http://schemas.openxmlformats.org/drawingml/2006/main">
            <a:off x="5619750" y="4429125"/>
            <a:ext cx="2000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3D8DFF"/>
                </a:solidFill>
                <a:latin typeface="Helvetica Neue"/>
                <a:ea typeface="Helvetica Neue"/>
                <a:cs typeface="Helvetica Neue"/>
              </a:defRPr>
            </a:pPr>
            <a:r>
              <a:rPr sz="1350" b="1">
                <a:solidFill>
                  <a:srgbClr val="3D8DFF"/>
                </a:solidFill>
                <a:latin typeface="Helvetica Neue"/>
                <a:ea typeface="Helvetica Neue"/>
                <a:cs typeface="Helvetica Neue"/>
              </a:rPr>
              <a:t>MCP capability</a:t>
            </a:r>
          </a:p>
        </p:txBody>
      </p:sp>
      <p:sp>
        <p:nvSpPr>
          <p:cNvPr id="17" name="">
            <a:extLst xmlns:a="http://schemas.openxmlformats.org/drawingml/2006/main">
              <a:ext uri="{FF2B5EF4-FFF2-40B4-BE49-F238E27FC236}">
                <a16:creationId xmlns:a16="http://schemas.microsoft.com/office/drawing/2014/main" id="{6243EC4B-ECED-4193-A077-CE1972D3C27F}"/>
              </a:ext>
            </a:extLst>
          </p:cNvPr>
          <p:cNvSpPr>
            <a:spLocks xmlns:a="http://schemas.openxmlformats.org/drawingml/2006/main" noGrp="1"/>
          </p:cNvSpPr>
          <p:nvPr/>
        </p:nvSpPr>
        <p:spPr>
          <a:xfrm xmlns:a="http://schemas.openxmlformats.org/drawingml/2006/main">
            <a:off x="5619750" y="4810125"/>
            <a:ext cx="5715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ori-mcp-92a37dd-bhce-9.1-cypher-v7</a:t>
            </a:r>
          </a:p>
        </p:txBody>
      </p:sp>
      <p:sp>
        <p:nvSpPr>
          <p:cNvPr id="18" name="">
            <a:extLst xmlns:a="http://schemas.openxmlformats.org/drawingml/2006/main">
              <a:ext uri="{FF2B5EF4-FFF2-40B4-BE49-F238E27FC236}">
                <a16:creationId xmlns:a16="http://schemas.microsoft.com/office/drawing/2014/main" id="{D3D5345B-5659-4175-BC97-792971715F2C}"/>
              </a:ext>
            </a:extLst>
          </p:cNvPr>
          <p:cNvSpPr>
            <a:spLocks xmlns:a="http://schemas.openxmlformats.org/drawingml/2006/main" noGrp="1"/>
          </p:cNvSpPr>
          <p:nvPr/>
        </p:nvSpPr>
        <p:spPr>
          <a:xfrm xmlns:a="http://schemas.openxmlformats.org/drawingml/2006/main">
            <a:off x="2381250" y="5810250"/>
            <a:ext cx="7429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C23B22"/>
                </a:solidFill>
                <a:latin typeface="Helvetica Neue"/>
                <a:ea typeface="Helvetica Neue"/>
                <a:cs typeface="Helvetica Neue"/>
              </a:defRPr>
            </a:pPr>
            <a:r>
              <a:rPr sz="1875" b="1">
                <a:solidFill>
                  <a:srgbClr val="C23B22"/>
                </a:solidFill>
                <a:latin typeface="Helvetica Neue"/>
                <a:ea typeface="Helvetica Neue"/>
                <a:cs typeface="Helvetica Neue"/>
              </a:rPr>
              <a:t>Not the future official 100 Direct / 100 MCP suite</a:t>
            </a:r>
          </a:p>
        </p:txBody>
      </p:sp>
    </p:spTree>
    <p:extLst>
      <p:ext uri="{BB962C8B-B14F-4D97-AF65-F5344CB8AC3E}">
        <p14:creationId xmlns:p14="http://schemas.microsoft.com/office/powerpoint/2010/main" val="113331326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BD0ED645-2735-43B8-BDC7-6207F08C9B18}"/>
              </a:ext>
            </a:extLst>
          </p:cNvPr>
          <p:cNvSpPr>
            <a:spLocks xmlns:a="http://schemas.openxmlformats.org/drawingml/2006/main" noGrp="1"/>
          </p:cNvSpPr>
          <p:nvPr/>
        </p:nvSpPr>
        <p:spPr>
          <a:xfrm xmlns:a="http://schemas.openxmlformats.org/drawingml/2006/main">
            <a:off x="51435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OFFENSIVE REASONING INDEX</a:t>
            </a:r>
          </a:p>
        </p:txBody>
      </p:sp>
      <p:sp>
        <p:nvSpPr>
          <p:cNvPr id="2" name="">
            <a:extLst xmlns:a="http://schemas.openxmlformats.org/drawingml/2006/main">
              <a:ext uri="{FF2B5EF4-FFF2-40B4-BE49-F238E27FC236}">
                <a16:creationId xmlns:a16="http://schemas.microsoft.com/office/drawing/2014/main" id="{52A32CF7-CF88-4AA3-9EF1-18FFA6B41633}"/>
              </a:ext>
            </a:extLst>
          </p:cNvPr>
          <p:cNvSpPr>
            <a:spLocks xmlns:a="http://schemas.openxmlformats.org/drawingml/2006/main" noGrp="1"/>
          </p:cNvSpPr>
          <p:nvPr/>
        </p:nvSpPr>
        <p:spPr>
          <a:xfrm xmlns:a="http://schemas.openxmlformats.org/drawingml/2006/main">
            <a:off x="514350" y="666750"/>
            <a:ext cx="10953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Historical Direct scores cluster tightly</a:t>
            </a:r>
          </a:p>
        </p:txBody>
      </p:sp>
      <p:cxnSp>
        <p:nvCxnSpPr>
          <p:cNvPr id="45" name=""/>
          <p:cNvCxnSpPr/>
          <p:nvPr/>
        </p:nvCxnSpPr>
        <p:spPr>
          <a:xfrm xmlns:a="http://schemas.openxmlformats.org/drawingml/2006/main">
            <a:off x="514350" y="1438275"/>
            <a:ext cx="11163300" cy="0"/>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8B24F438-A56B-429E-9E5B-92ADD4BBCCE8}"/>
              </a:ext>
            </a:extLst>
          </p:cNvPr>
          <p:cNvSpPr>
            <a:spLocks xmlns:a="http://schemas.openxmlformats.org/drawingml/2006/main" noGrp="1"/>
          </p:cNvSpPr>
          <p:nvPr/>
        </p:nvSpPr>
        <p:spPr>
          <a:xfrm xmlns:a="http://schemas.openxmlformats.org/drawingml/2006/main">
            <a:off x="11258550" y="64198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62676F"/>
                </a:solidFill>
                <a:latin typeface="Helvetica Neue"/>
                <a:ea typeface="Helvetica Neue"/>
                <a:cs typeface="Helvetica Neue"/>
              </a:defRPr>
            </a:pPr>
            <a:r>
              <a:rPr sz="975" b="0">
                <a:solidFill>
                  <a:srgbClr val="62676F"/>
                </a:solidFill>
                <a:latin typeface="Helvetica Neue"/>
                <a:ea typeface="Helvetica Neue"/>
                <a:cs typeface="Helvetica Neue"/>
              </a:rPr>
              <a:t>10</a:t>
            </a:r>
          </a:p>
        </p:txBody>
      </p:sp>
      <p:cxnSp>
        <p:nvCxnSpPr>
          <p:cNvPr id="47" name=""/>
          <p:cNvCxnSpPr/>
          <p:nvPr/>
        </p:nvCxnSpPr>
        <p:spPr>
          <a:xfrm xmlns:a="http://schemas.openxmlformats.org/drawingml/2006/main">
            <a:off x="3714750" y="2000250"/>
            <a:ext cx="0" cy="3381375"/>
          </a:xfrm>
          <a:prstGeom xmlns:a="http://schemas.openxmlformats.org/drawingml/2006/main" prst="straightConnector1">
            <a:avLst/>
          </a:prstGeom>
          <a:ln xmlns:a="http://schemas.openxmlformats.org/drawingml/2006/main" w="9525">
            <a:solidFill>
              <a:srgbClr val="B8BCC4"/>
            </a:solidFill>
            <a:prstDash val="solid"/>
          </a:ln>
        </p:spPr>
      </p:cxnSp>
      <p:sp>
        <p:nvSpPr>
          <p:cNvPr id="6" name="">
            <a:extLst xmlns:a="http://schemas.openxmlformats.org/drawingml/2006/main">
              <a:ext uri="{FF2B5EF4-FFF2-40B4-BE49-F238E27FC236}">
                <a16:creationId xmlns:a16="http://schemas.microsoft.com/office/drawing/2014/main" id="{05964F06-FA0E-4A90-911C-71BA64C98680}"/>
              </a:ext>
            </a:extLst>
          </p:cNvPr>
          <p:cNvSpPr>
            <a:spLocks xmlns:a="http://schemas.openxmlformats.org/drawingml/2006/main" noGrp="1"/>
          </p:cNvSpPr>
          <p:nvPr/>
        </p:nvSpPr>
        <p:spPr>
          <a:xfrm xmlns:a="http://schemas.openxmlformats.org/drawingml/2006/main">
            <a:off x="3429000" y="547687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0">
                <a:solidFill>
                  <a:srgbClr val="62676F"/>
                </a:solidFill>
                <a:latin typeface="Helvetica Neue"/>
                <a:ea typeface="Helvetica Neue"/>
                <a:cs typeface="Helvetica Neue"/>
              </a:defRPr>
            </a:pPr>
            <a:r>
              <a:rPr sz="1200" b="0">
                <a:solidFill>
                  <a:srgbClr val="62676F"/>
                </a:solidFill>
                <a:latin typeface="Helvetica Neue"/>
                <a:ea typeface="Helvetica Neue"/>
                <a:cs typeface="Helvetica Neue"/>
              </a:rPr>
              <a:t>75%</a:t>
            </a:r>
          </a:p>
        </p:txBody>
      </p:sp>
      <p:cxnSp>
        <p:nvCxnSpPr>
          <p:cNvPr id="49" name=""/>
          <p:cNvCxnSpPr/>
          <p:nvPr/>
        </p:nvCxnSpPr>
        <p:spPr>
          <a:xfrm xmlns:a="http://schemas.openxmlformats.org/drawingml/2006/main">
            <a:off x="5114925" y="2000250"/>
            <a:ext cx="0" cy="3381375"/>
          </a:xfrm>
          <a:prstGeom xmlns:a="http://schemas.openxmlformats.org/drawingml/2006/main" prst="straightConnector1">
            <a:avLst/>
          </a:prstGeom>
          <a:ln xmlns:a="http://schemas.openxmlformats.org/drawingml/2006/main" w="9525">
            <a:solidFill>
              <a:srgbClr val="B8BCC4"/>
            </a:solidFill>
            <a:prstDash val="solid"/>
          </a:ln>
        </p:spPr>
      </p:cxnSp>
      <p:sp>
        <p:nvSpPr>
          <p:cNvPr id="8" name="">
            <a:extLst xmlns:a="http://schemas.openxmlformats.org/drawingml/2006/main">
              <a:ext uri="{FF2B5EF4-FFF2-40B4-BE49-F238E27FC236}">
                <a16:creationId xmlns:a16="http://schemas.microsoft.com/office/drawing/2014/main" id="{C4DB1C9B-FAC5-4E8C-A80D-0BEDBDA74913}"/>
              </a:ext>
            </a:extLst>
          </p:cNvPr>
          <p:cNvSpPr>
            <a:spLocks xmlns:a="http://schemas.openxmlformats.org/drawingml/2006/main" noGrp="1"/>
          </p:cNvSpPr>
          <p:nvPr/>
        </p:nvSpPr>
        <p:spPr>
          <a:xfrm xmlns:a="http://schemas.openxmlformats.org/drawingml/2006/main">
            <a:off x="4829175" y="547687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0">
                <a:solidFill>
                  <a:srgbClr val="62676F"/>
                </a:solidFill>
                <a:latin typeface="Helvetica Neue"/>
                <a:ea typeface="Helvetica Neue"/>
                <a:cs typeface="Helvetica Neue"/>
              </a:defRPr>
            </a:pPr>
            <a:r>
              <a:rPr sz="1200" b="0">
                <a:solidFill>
                  <a:srgbClr val="62676F"/>
                </a:solidFill>
                <a:latin typeface="Helvetica Neue"/>
                <a:ea typeface="Helvetica Neue"/>
                <a:cs typeface="Helvetica Neue"/>
              </a:rPr>
              <a:t>80%</a:t>
            </a:r>
          </a:p>
        </p:txBody>
      </p:sp>
      <p:cxnSp>
        <p:nvCxnSpPr>
          <p:cNvPr id="51" name=""/>
          <p:cNvCxnSpPr/>
          <p:nvPr/>
        </p:nvCxnSpPr>
        <p:spPr>
          <a:xfrm xmlns:a="http://schemas.openxmlformats.org/drawingml/2006/main">
            <a:off x="6515100" y="2000250"/>
            <a:ext cx="0" cy="3381375"/>
          </a:xfrm>
          <a:prstGeom xmlns:a="http://schemas.openxmlformats.org/drawingml/2006/main" prst="straightConnector1">
            <a:avLst/>
          </a:prstGeom>
          <a:ln xmlns:a="http://schemas.openxmlformats.org/drawingml/2006/main" w="9525">
            <a:solidFill>
              <a:srgbClr val="B8BCC4"/>
            </a:solidFill>
            <a:prstDash val="solid"/>
          </a:ln>
        </p:spPr>
      </p:cxnSp>
      <p:sp>
        <p:nvSpPr>
          <p:cNvPr id="10" name="">
            <a:extLst xmlns:a="http://schemas.openxmlformats.org/drawingml/2006/main">
              <a:ext uri="{FF2B5EF4-FFF2-40B4-BE49-F238E27FC236}">
                <a16:creationId xmlns:a16="http://schemas.microsoft.com/office/drawing/2014/main" id="{F8C0265A-3E67-45EB-84D0-5584B4A2EC02}"/>
              </a:ext>
            </a:extLst>
          </p:cNvPr>
          <p:cNvSpPr>
            <a:spLocks xmlns:a="http://schemas.openxmlformats.org/drawingml/2006/main" noGrp="1"/>
          </p:cNvSpPr>
          <p:nvPr/>
        </p:nvSpPr>
        <p:spPr>
          <a:xfrm xmlns:a="http://schemas.openxmlformats.org/drawingml/2006/main">
            <a:off x="6229350" y="547687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0">
                <a:solidFill>
                  <a:srgbClr val="62676F"/>
                </a:solidFill>
                <a:latin typeface="Helvetica Neue"/>
                <a:ea typeface="Helvetica Neue"/>
                <a:cs typeface="Helvetica Neue"/>
              </a:defRPr>
            </a:pPr>
            <a:r>
              <a:rPr sz="1200" b="0">
                <a:solidFill>
                  <a:srgbClr val="62676F"/>
                </a:solidFill>
                <a:latin typeface="Helvetica Neue"/>
                <a:ea typeface="Helvetica Neue"/>
                <a:cs typeface="Helvetica Neue"/>
              </a:rPr>
              <a:t>85%</a:t>
            </a:r>
          </a:p>
        </p:txBody>
      </p:sp>
      <p:cxnSp>
        <p:nvCxnSpPr>
          <p:cNvPr id="53" name=""/>
          <p:cNvCxnSpPr/>
          <p:nvPr/>
        </p:nvCxnSpPr>
        <p:spPr>
          <a:xfrm xmlns:a="http://schemas.openxmlformats.org/drawingml/2006/main">
            <a:off x="7915275" y="2000250"/>
            <a:ext cx="0" cy="3381375"/>
          </a:xfrm>
          <a:prstGeom xmlns:a="http://schemas.openxmlformats.org/drawingml/2006/main" prst="straightConnector1">
            <a:avLst/>
          </a:prstGeom>
          <a:ln xmlns:a="http://schemas.openxmlformats.org/drawingml/2006/main" w="9525">
            <a:solidFill>
              <a:srgbClr val="B8BCC4"/>
            </a:solidFill>
            <a:prstDash val="solid"/>
          </a:ln>
        </p:spPr>
      </p:cxnSp>
      <p:sp>
        <p:nvSpPr>
          <p:cNvPr id="12" name="">
            <a:extLst xmlns:a="http://schemas.openxmlformats.org/drawingml/2006/main">
              <a:ext uri="{FF2B5EF4-FFF2-40B4-BE49-F238E27FC236}">
                <a16:creationId xmlns:a16="http://schemas.microsoft.com/office/drawing/2014/main" id="{F00DDCB4-0D6F-45D6-9208-11DFBBF3F662}"/>
              </a:ext>
            </a:extLst>
          </p:cNvPr>
          <p:cNvSpPr>
            <a:spLocks xmlns:a="http://schemas.openxmlformats.org/drawingml/2006/main" noGrp="1"/>
          </p:cNvSpPr>
          <p:nvPr/>
        </p:nvSpPr>
        <p:spPr>
          <a:xfrm xmlns:a="http://schemas.openxmlformats.org/drawingml/2006/main">
            <a:off x="7629525" y="547687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0">
                <a:solidFill>
                  <a:srgbClr val="62676F"/>
                </a:solidFill>
                <a:latin typeface="Helvetica Neue"/>
                <a:ea typeface="Helvetica Neue"/>
                <a:cs typeface="Helvetica Neue"/>
              </a:defRPr>
            </a:pPr>
            <a:r>
              <a:rPr sz="1200" b="0">
                <a:solidFill>
                  <a:srgbClr val="62676F"/>
                </a:solidFill>
                <a:latin typeface="Helvetica Neue"/>
                <a:ea typeface="Helvetica Neue"/>
                <a:cs typeface="Helvetica Neue"/>
              </a:rPr>
              <a:t>90%</a:t>
            </a:r>
          </a:p>
        </p:txBody>
      </p:sp>
      <p:cxnSp>
        <p:nvCxnSpPr>
          <p:cNvPr id="55" name=""/>
          <p:cNvCxnSpPr/>
          <p:nvPr/>
        </p:nvCxnSpPr>
        <p:spPr>
          <a:xfrm xmlns:a="http://schemas.openxmlformats.org/drawingml/2006/main">
            <a:off x="9315450" y="2000250"/>
            <a:ext cx="0" cy="3381375"/>
          </a:xfrm>
          <a:prstGeom xmlns:a="http://schemas.openxmlformats.org/drawingml/2006/main" prst="straightConnector1">
            <a:avLst/>
          </a:prstGeom>
          <a:ln xmlns:a="http://schemas.openxmlformats.org/drawingml/2006/main" w="9525">
            <a:solidFill>
              <a:srgbClr val="B8BCC4"/>
            </a:solidFill>
            <a:prstDash val="solid"/>
          </a:ln>
        </p:spPr>
      </p:cxnSp>
      <p:sp>
        <p:nvSpPr>
          <p:cNvPr id="14" name="">
            <a:extLst xmlns:a="http://schemas.openxmlformats.org/drawingml/2006/main">
              <a:ext uri="{FF2B5EF4-FFF2-40B4-BE49-F238E27FC236}">
                <a16:creationId xmlns:a16="http://schemas.microsoft.com/office/drawing/2014/main" id="{16CAE475-DA0F-4B77-A54F-2300E482A4D7}"/>
              </a:ext>
            </a:extLst>
          </p:cNvPr>
          <p:cNvSpPr>
            <a:spLocks xmlns:a="http://schemas.openxmlformats.org/drawingml/2006/main" noGrp="1"/>
          </p:cNvSpPr>
          <p:nvPr/>
        </p:nvSpPr>
        <p:spPr>
          <a:xfrm xmlns:a="http://schemas.openxmlformats.org/drawingml/2006/main">
            <a:off x="9029700" y="547687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0">
                <a:solidFill>
                  <a:srgbClr val="62676F"/>
                </a:solidFill>
                <a:latin typeface="Helvetica Neue"/>
                <a:ea typeface="Helvetica Neue"/>
                <a:cs typeface="Helvetica Neue"/>
              </a:defRPr>
            </a:pPr>
            <a:r>
              <a:rPr sz="1200" b="0">
                <a:solidFill>
                  <a:srgbClr val="62676F"/>
                </a:solidFill>
                <a:latin typeface="Helvetica Neue"/>
                <a:ea typeface="Helvetica Neue"/>
                <a:cs typeface="Helvetica Neue"/>
              </a:rPr>
              <a:t>95%</a:t>
            </a:r>
          </a:p>
        </p:txBody>
      </p:sp>
      <p:cxnSp>
        <p:nvCxnSpPr>
          <p:cNvPr id="57" name=""/>
          <p:cNvCxnSpPr/>
          <p:nvPr/>
        </p:nvCxnSpPr>
        <p:spPr>
          <a:xfrm xmlns:a="http://schemas.openxmlformats.org/drawingml/2006/main">
            <a:off x="10715625" y="2000250"/>
            <a:ext cx="0" cy="3381375"/>
          </a:xfrm>
          <a:prstGeom xmlns:a="http://schemas.openxmlformats.org/drawingml/2006/main" prst="straightConnector1">
            <a:avLst/>
          </a:prstGeom>
          <a:ln xmlns:a="http://schemas.openxmlformats.org/drawingml/2006/main" w="9525">
            <a:solidFill>
              <a:srgbClr val="111111"/>
            </a:solidFill>
            <a:prstDash val="solid"/>
          </a:ln>
        </p:spPr>
      </p:cxnSp>
      <p:sp>
        <p:nvSpPr>
          <p:cNvPr id="16" name="">
            <a:extLst xmlns:a="http://schemas.openxmlformats.org/drawingml/2006/main">
              <a:ext uri="{FF2B5EF4-FFF2-40B4-BE49-F238E27FC236}">
                <a16:creationId xmlns:a16="http://schemas.microsoft.com/office/drawing/2014/main" id="{6CB5A1F6-36B0-4121-85EB-FE6B5DFDECAA}"/>
              </a:ext>
            </a:extLst>
          </p:cNvPr>
          <p:cNvSpPr>
            <a:spLocks xmlns:a="http://schemas.openxmlformats.org/drawingml/2006/main" noGrp="1"/>
          </p:cNvSpPr>
          <p:nvPr/>
        </p:nvSpPr>
        <p:spPr>
          <a:xfrm xmlns:a="http://schemas.openxmlformats.org/drawingml/2006/main">
            <a:off x="10429875" y="5476875"/>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200" b="0">
                <a:solidFill>
                  <a:srgbClr val="62676F"/>
                </a:solidFill>
                <a:latin typeface="Helvetica Neue"/>
                <a:ea typeface="Helvetica Neue"/>
                <a:cs typeface="Helvetica Neue"/>
              </a:defRPr>
            </a:pPr>
            <a:r>
              <a:rPr sz="1200" b="0">
                <a:solidFill>
                  <a:srgbClr val="62676F"/>
                </a:solidFill>
                <a:latin typeface="Helvetica Neue"/>
                <a:ea typeface="Helvetica Neue"/>
                <a:cs typeface="Helvetica Neue"/>
              </a:rPr>
              <a:t>100%</a:t>
            </a:r>
          </a:p>
        </p:txBody>
      </p:sp>
      <p:sp>
        <p:nvSpPr>
          <p:cNvPr id="17" name="">
            <a:extLst xmlns:a="http://schemas.openxmlformats.org/drawingml/2006/main">
              <a:ext uri="{FF2B5EF4-FFF2-40B4-BE49-F238E27FC236}">
                <a16:creationId xmlns:a16="http://schemas.microsoft.com/office/drawing/2014/main" id="{38D211A6-CA7C-4849-B12C-FD119DC03143}"/>
              </a:ext>
            </a:extLst>
          </p:cNvPr>
          <p:cNvSpPr>
            <a:spLocks xmlns:a="http://schemas.openxmlformats.org/drawingml/2006/main" noGrp="1"/>
          </p:cNvSpPr>
          <p:nvPr/>
        </p:nvSpPr>
        <p:spPr>
          <a:xfrm xmlns:a="http://schemas.openxmlformats.org/drawingml/2006/main">
            <a:off x="666750" y="20955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GPT-5.5</a:t>
            </a:r>
          </a:p>
        </p:txBody>
      </p:sp>
      <p:cxnSp>
        <p:nvCxnSpPr>
          <p:cNvPr id="60" name=""/>
          <p:cNvCxnSpPr/>
          <p:nvPr/>
        </p:nvCxnSpPr>
        <p:spPr>
          <a:xfrm xmlns:a="http://schemas.openxmlformats.org/drawingml/2006/main">
            <a:off x="9382658" y="2238375"/>
            <a:ext cx="1332967" cy="0"/>
          </a:xfrm>
          <a:prstGeom xmlns:a="http://schemas.openxmlformats.org/drawingml/2006/main" prst="straightConnector1">
            <a:avLst/>
          </a:prstGeom>
          <a:ln xmlns:a="http://schemas.openxmlformats.org/drawingml/2006/main" w="57150">
            <a:solidFill>
              <a:srgbClr val="3D8DFF"/>
            </a:solidFill>
            <a:prstDash val="solid"/>
          </a:ln>
        </p:spPr>
      </p:cxnSp>
      <p:sp>
        <p:nvSpPr>
          <p:cNvPr id="19" name="">
            <a:extLst xmlns:a="http://schemas.openxmlformats.org/drawingml/2006/main">
              <a:ext uri="{FF2B5EF4-FFF2-40B4-BE49-F238E27FC236}">
                <a16:creationId xmlns:a16="http://schemas.microsoft.com/office/drawing/2014/main" id="{232D665B-5451-4BDF-9E98-FE3368E884E7}"/>
              </a:ext>
            </a:extLst>
          </p:cNvPr>
          <p:cNvSpPr>
            <a:spLocks xmlns:a="http://schemas.openxmlformats.org/drawingml/2006/main" noGrp="1"/>
          </p:cNvSpPr>
          <p:nvPr/>
        </p:nvSpPr>
        <p:spPr>
          <a:xfrm xmlns:a="http://schemas.openxmlformats.org/drawingml/2006/main">
            <a:off x="10238975" y="2162175"/>
            <a:ext cx="152400" cy="152400"/>
          </a:xfrm>
          <a:prstGeom xmlns:a="http://schemas.openxmlformats.org/drawingml/2006/main" prst="ellipse">
            <a:avLst/>
          </a:prstGeom>
          <a:solidFill xmlns:a="http://schemas.openxmlformats.org/drawingml/2006/main">
            <a:srgbClr val="3D8DFF"/>
          </a:solidFill>
          <a:ln xmlns:a="http://schemas.openxmlformats.org/drawingml/2006/main" w="9525">
            <a:solidFill>
              <a:srgbClr val="3D8DFF"/>
            </a:solidFill>
            <a:prstDash val="solid"/>
          </a:ln>
        </p:spPr>
      </p:sp>
      <p:sp>
        <p:nvSpPr>
          <p:cNvPr id="20" name="">
            <a:extLst xmlns:a="http://schemas.openxmlformats.org/drawingml/2006/main">
              <a:ext uri="{FF2B5EF4-FFF2-40B4-BE49-F238E27FC236}">
                <a16:creationId xmlns:a16="http://schemas.microsoft.com/office/drawing/2014/main" id="{855F1C07-6905-47C2-9791-C8E6900560D5}"/>
              </a:ext>
            </a:extLst>
          </p:cNvPr>
          <p:cNvSpPr>
            <a:spLocks xmlns:a="http://schemas.openxmlformats.org/drawingml/2006/main" noGrp="1"/>
          </p:cNvSpPr>
          <p:nvPr/>
        </p:nvSpPr>
        <p:spPr>
          <a:xfrm xmlns:a="http://schemas.openxmlformats.org/drawingml/2006/main">
            <a:off x="10868025" y="2095500"/>
            <a:ext cx="904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98.57%</a:t>
            </a:r>
          </a:p>
        </p:txBody>
      </p:sp>
      <p:sp>
        <p:nvSpPr>
          <p:cNvPr id="21" name="">
            <a:extLst xmlns:a="http://schemas.openxmlformats.org/drawingml/2006/main">
              <a:ext uri="{FF2B5EF4-FFF2-40B4-BE49-F238E27FC236}">
                <a16:creationId xmlns:a16="http://schemas.microsoft.com/office/drawing/2014/main" id="{F7AA0D6F-6C1A-4D08-AE1D-0C09E8E9216A}"/>
              </a:ext>
            </a:extLst>
          </p:cNvPr>
          <p:cNvSpPr>
            <a:spLocks xmlns:a="http://schemas.openxmlformats.org/drawingml/2006/main" noGrp="1"/>
          </p:cNvSpPr>
          <p:nvPr/>
        </p:nvSpPr>
        <p:spPr>
          <a:xfrm xmlns:a="http://schemas.openxmlformats.org/drawingml/2006/main">
            <a:off x="666750" y="26479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Daybreak Red</a:t>
            </a:r>
          </a:p>
        </p:txBody>
      </p:sp>
      <p:cxnSp>
        <p:nvCxnSpPr>
          <p:cNvPr id="64" name=""/>
          <p:cNvCxnSpPr/>
          <p:nvPr/>
        </p:nvCxnSpPr>
        <p:spPr>
          <a:xfrm xmlns:a="http://schemas.openxmlformats.org/drawingml/2006/main">
            <a:off x="9382658" y="2790825"/>
            <a:ext cx="1332967" cy="0"/>
          </a:xfrm>
          <a:prstGeom xmlns:a="http://schemas.openxmlformats.org/drawingml/2006/main" prst="straightConnector1">
            <a:avLst/>
          </a:prstGeom>
          <a:ln xmlns:a="http://schemas.openxmlformats.org/drawingml/2006/main" w="57150">
            <a:solidFill>
              <a:srgbClr val="3D8DFF"/>
            </a:solidFill>
            <a:prstDash val="solid"/>
          </a:ln>
        </p:spPr>
      </p:cxnSp>
      <p:sp>
        <p:nvSpPr>
          <p:cNvPr id="23" name="">
            <a:extLst xmlns:a="http://schemas.openxmlformats.org/drawingml/2006/main">
              <a:ext uri="{FF2B5EF4-FFF2-40B4-BE49-F238E27FC236}">
                <a16:creationId xmlns:a16="http://schemas.microsoft.com/office/drawing/2014/main" id="{1B7AA8BA-83ED-4544-B27C-E3DCD71A2AA4}"/>
              </a:ext>
            </a:extLst>
          </p:cNvPr>
          <p:cNvSpPr>
            <a:spLocks xmlns:a="http://schemas.openxmlformats.org/drawingml/2006/main" noGrp="1"/>
          </p:cNvSpPr>
          <p:nvPr/>
        </p:nvSpPr>
        <p:spPr>
          <a:xfrm xmlns:a="http://schemas.openxmlformats.org/drawingml/2006/main">
            <a:off x="10107358" y="2714625"/>
            <a:ext cx="152400" cy="152400"/>
          </a:xfrm>
          <a:prstGeom xmlns:a="http://schemas.openxmlformats.org/drawingml/2006/main" prst="ellipse">
            <a:avLst/>
          </a:prstGeom>
          <a:solidFill xmlns:a="http://schemas.openxmlformats.org/drawingml/2006/main">
            <a:srgbClr val="3D8DFF"/>
          </a:solidFill>
          <a:ln xmlns:a="http://schemas.openxmlformats.org/drawingml/2006/main" w="9525">
            <a:solidFill>
              <a:srgbClr val="3D8DFF"/>
            </a:solidFill>
            <a:prstDash val="solid"/>
          </a:ln>
        </p:spPr>
      </p:sp>
      <p:sp>
        <p:nvSpPr>
          <p:cNvPr id="24" name="">
            <a:extLst xmlns:a="http://schemas.openxmlformats.org/drawingml/2006/main">
              <a:ext uri="{FF2B5EF4-FFF2-40B4-BE49-F238E27FC236}">
                <a16:creationId xmlns:a16="http://schemas.microsoft.com/office/drawing/2014/main" id="{4222B668-68C5-45F1-AC4E-0C3DA35DDD84}"/>
              </a:ext>
            </a:extLst>
          </p:cNvPr>
          <p:cNvSpPr>
            <a:spLocks xmlns:a="http://schemas.openxmlformats.org/drawingml/2006/main" noGrp="1"/>
          </p:cNvSpPr>
          <p:nvPr/>
        </p:nvSpPr>
        <p:spPr>
          <a:xfrm xmlns:a="http://schemas.openxmlformats.org/drawingml/2006/main">
            <a:off x="10868025" y="2647950"/>
            <a:ext cx="904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98.10%</a:t>
            </a:r>
          </a:p>
        </p:txBody>
      </p:sp>
      <p:sp>
        <p:nvSpPr>
          <p:cNvPr id="25" name="">
            <a:extLst xmlns:a="http://schemas.openxmlformats.org/drawingml/2006/main">
              <a:ext uri="{FF2B5EF4-FFF2-40B4-BE49-F238E27FC236}">
                <a16:creationId xmlns:a16="http://schemas.microsoft.com/office/drawing/2014/main" id="{2696CD80-DB13-41CA-93FC-8A56E903121D}"/>
              </a:ext>
            </a:extLst>
          </p:cNvPr>
          <p:cNvSpPr>
            <a:spLocks xmlns:a="http://schemas.openxmlformats.org/drawingml/2006/main" noGrp="1"/>
          </p:cNvSpPr>
          <p:nvPr/>
        </p:nvSpPr>
        <p:spPr>
          <a:xfrm xmlns:a="http://schemas.openxmlformats.org/drawingml/2006/main">
            <a:off x="666750" y="32004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Daybreak Blue</a:t>
            </a:r>
          </a:p>
        </p:txBody>
      </p:sp>
      <p:cxnSp>
        <p:nvCxnSpPr>
          <p:cNvPr id="68" name=""/>
          <p:cNvCxnSpPr/>
          <p:nvPr/>
        </p:nvCxnSpPr>
        <p:spPr>
          <a:xfrm xmlns:a="http://schemas.openxmlformats.org/drawingml/2006/main">
            <a:off x="9382658" y="3343275"/>
            <a:ext cx="1332967" cy="0"/>
          </a:xfrm>
          <a:prstGeom xmlns:a="http://schemas.openxmlformats.org/drawingml/2006/main" prst="straightConnector1">
            <a:avLst/>
          </a:prstGeom>
          <a:ln xmlns:a="http://schemas.openxmlformats.org/drawingml/2006/main" w="57150">
            <a:solidFill>
              <a:srgbClr val="3D8DFF"/>
            </a:solidFill>
            <a:prstDash val="solid"/>
          </a:ln>
        </p:spPr>
      </p:cxnSp>
      <p:sp>
        <p:nvSpPr>
          <p:cNvPr id="27" name="">
            <a:extLst xmlns:a="http://schemas.openxmlformats.org/drawingml/2006/main">
              <a:ext uri="{FF2B5EF4-FFF2-40B4-BE49-F238E27FC236}">
                <a16:creationId xmlns:a16="http://schemas.microsoft.com/office/drawing/2014/main" id="{DCF6BCF5-FC88-4C35-99B4-990DA494B88D}"/>
              </a:ext>
            </a:extLst>
          </p:cNvPr>
          <p:cNvSpPr>
            <a:spLocks xmlns:a="http://schemas.openxmlformats.org/drawingml/2006/main" noGrp="1"/>
          </p:cNvSpPr>
          <p:nvPr/>
        </p:nvSpPr>
        <p:spPr>
          <a:xfrm xmlns:a="http://schemas.openxmlformats.org/drawingml/2006/main">
            <a:off x="9972942" y="3267075"/>
            <a:ext cx="152400" cy="152400"/>
          </a:xfrm>
          <a:prstGeom xmlns:a="http://schemas.openxmlformats.org/drawingml/2006/main" prst="ellipse">
            <a:avLst/>
          </a:prstGeom>
          <a:solidFill xmlns:a="http://schemas.openxmlformats.org/drawingml/2006/main">
            <a:srgbClr val="3D8DFF"/>
          </a:solidFill>
          <a:ln xmlns:a="http://schemas.openxmlformats.org/drawingml/2006/main" w="9525">
            <a:solidFill>
              <a:srgbClr val="3D8DFF"/>
            </a:solidFill>
            <a:prstDash val="solid"/>
          </a:ln>
        </p:spPr>
      </p:sp>
      <p:sp>
        <p:nvSpPr>
          <p:cNvPr id="28" name="">
            <a:extLst xmlns:a="http://schemas.openxmlformats.org/drawingml/2006/main">
              <a:ext uri="{FF2B5EF4-FFF2-40B4-BE49-F238E27FC236}">
                <a16:creationId xmlns:a16="http://schemas.microsoft.com/office/drawing/2014/main" id="{56E22F76-94A7-4D7B-BB21-2BFB34E6E650}"/>
              </a:ext>
            </a:extLst>
          </p:cNvPr>
          <p:cNvSpPr>
            <a:spLocks xmlns:a="http://schemas.openxmlformats.org/drawingml/2006/main" noGrp="1"/>
          </p:cNvSpPr>
          <p:nvPr/>
        </p:nvSpPr>
        <p:spPr>
          <a:xfrm xmlns:a="http://schemas.openxmlformats.org/drawingml/2006/main">
            <a:off x="10868025" y="3200400"/>
            <a:ext cx="904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97.62%</a:t>
            </a:r>
          </a:p>
        </p:txBody>
      </p:sp>
      <p:sp>
        <p:nvSpPr>
          <p:cNvPr id="29" name="">
            <a:extLst xmlns:a="http://schemas.openxmlformats.org/drawingml/2006/main">
              <a:ext uri="{FF2B5EF4-FFF2-40B4-BE49-F238E27FC236}">
                <a16:creationId xmlns:a16="http://schemas.microsoft.com/office/drawing/2014/main" id="{2F31D7E5-0F9B-4EFB-9C90-01B6A039EE1D}"/>
              </a:ext>
            </a:extLst>
          </p:cNvPr>
          <p:cNvSpPr>
            <a:spLocks xmlns:a="http://schemas.openxmlformats.org/drawingml/2006/main" noGrp="1"/>
          </p:cNvSpPr>
          <p:nvPr/>
        </p:nvSpPr>
        <p:spPr>
          <a:xfrm xmlns:a="http://schemas.openxmlformats.org/drawingml/2006/main">
            <a:off x="666750" y="37528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GPT-5.6 Sol</a:t>
            </a:r>
          </a:p>
        </p:txBody>
      </p:sp>
      <p:cxnSp>
        <p:nvCxnSpPr>
          <p:cNvPr id="72" name=""/>
          <p:cNvCxnSpPr/>
          <p:nvPr/>
        </p:nvCxnSpPr>
        <p:spPr>
          <a:xfrm xmlns:a="http://schemas.openxmlformats.org/drawingml/2006/main">
            <a:off x="9382658" y="3895725"/>
            <a:ext cx="1332967" cy="0"/>
          </a:xfrm>
          <a:prstGeom xmlns:a="http://schemas.openxmlformats.org/drawingml/2006/main" prst="straightConnector1">
            <a:avLst/>
          </a:prstGeom>
          <a:ln xmlns:a="http://schemas.openxmlformats.org/drawingml/2006/main" w="57150">
            <a:solidFill>
              <a:srgbClr val="3D8DFF"/>
            </a:solidFill>
            <a:prstDash val="solid"/>
          </a:ln>
        </p:spPr>
      </p:cxnSp>
      <p:sp>
        <p:nvSpPr>
          <p:cNvPr id="31" name="">
            <a:extLst xmlns:a="http://schemas.openxmlformats.org/drawingml/2006/main">
              <a:ext uri="{FF2B5EF4-FFF2-40B4-BE49-F238E27FC236}">
                <a16:creationId xmlns:a16="http://schemas.microsoft.com/office/drawing/2014/main" id="{542D8F3D-D23A-45DC-90E6-14B8830EC1ED}"/>
              </a:ext>
            </a:extLst>
          </p:cNvPr>
          <p:cNvSpPr>
            <a:spLocks xmlns:a="http://schemas.openxmlformats.org/drawingml/2006/main" noGrp="1"/>
          </p:cNvSpPr>
          <p:nvPr/>
        </p:nvSpPr>
        <p:spPr>
          <a:xfrm xmlns:a="http://schemas.openxmlformats.org/drawingml/2006/main">
            <a:off x="9838525" y="3819525"/>
            <a:ext cx="152400" cy="152400"/>
          </a:xfrm>
          <a:prstGeom xmlns:a="http://schemas.openxmlformats.org/drawingml/2006/main" prst="ellipse">
            <a:avLst/>
          </a:prstGeom>
          <a:solidFill xmlns:a="http://schemas.openxmlformats.org/drawingml/2006/main">
            <a:srgbClr val="3D8DFF"/>
          </a:solidFill>
          <a:ln xmlns:a="http://schemas.openxmlformats.org/drawingml/2006/main" w="9525">
            <a:solidFill>
              <a:srgbClr val="3D8DFF"/>
            </a:solidFill>
            <a:prstDash val="solid"/>
          </a:ln>
        </p:spPr>
      </p:sp>
      <p:sp>
        <p:nvSpPr>
          <p:cNvPr id="32" name="">
            <a:extLst xmlns:a="http://schemas.openxmlformats.org/drawingml/2006/main">
              <a:ext uri="{FF2B5EF4-FFF2-40B4-BE49-F238E27FC236}">
                <a16:creationId xmlns:a16="http://schemas.microsoft.com/office/drawing/2014/main" id="{3A4CF8C4-FF41-483E-A959-5613F2269244}"/>
              </a:ext>
            </a:extLst>
          </p:cNvPr>
          <p:cNvSpPr>
            <a:spLocks xmlns:a="http://schemas.openxmlformats.org/drawingml/2006/main" noGrp="1"/>
          </p:cNvSpPr>
          <p:nvPr/>
        </p:nvSpPr>
        <p:spPr>
          <a:xfrm xmlns:a="http://schemas.openxmlformats.org/drawingml/2006/main">
            <a:off x="10868025" y="3752850"/>
            <a:ext cx="904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97.14%</a:t>
            </a:r>
          </a:p>
        </p:txBody>
      </p:sp>
      <p:sp>
        <p:nvSpPr>
          <p:cNvPr id="33" name="">
            <a:extLst xmlns:a="http://schemas.openxmlformats.org/drawingml/2006/main">
              <a:ext uri="{FF2B5EF4-FFF2-40B4-BE49-F238E27FC236}">
                <a16:creationId xmlns:a16="http://schemas.microsoft.com/office/drawing/2014/main" id="{7FB5CBF8-1D70-4BEA-8952-39B8192066F2}"/>
              </a:ext>
            </a:extLst>
          </p:cNvPr>
          <p:cNvSpPr>
            <a:spLocks xmlns:a="http://schemas.openxmlformats.org/drawingml/2006/main" noGrp="1"/>
          </p:cNvSpPr>
          <p:nvPr/>
        </p:nvSpPr>
        <p:spPr>
          <a:xfrm xmlns:a="http://schemas.openxmlformats.org/drawingml/2006/main">
            <a:off x="666750" y="43053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GPT-5.6 Luna</a:t>
            </a:r>
          </a:p>
        </p:txBody>
      </p:sp>
      <p:cxnSp>
        <p:nvCxnSpPr>
          <p:cNvPr id="76" name=""/>
          <p:cNvCxnSpPr/>
          <p:nvPr/>
        </p:nvCxnSpPr>
        <p:spPr>
          <a:xfrm xmlns:a="http://schemas.openxmlformats.org/drawingml/2006/main">
            <a:off x="7383208" y="4448175"/>
            <a:ext cx="1999450" cy="0"/>
          </a:xfrm>
          <a:prstGeom xmlns:a="http://schemas.openxmlformats.org/drawingml/2006/main" prst="straightConnector1">
            <a:avLst/>
          </a:prstGeom>
          <a:ln xmlns:a="http://schemas.openxmlformats.org/drawingml/2006/main" w="57150">
            <a:solidFill>
              <a:srgbClr val="62676F"/>
            </a:solidFill>
            <a:prstDash val="solid"/>
          </a:ln>
        </p:spPr>
      </p:cxnSp>
      <p:sp>
        <p:nvSpPr>
          <p:cNvPr id="35" name="">
            <a:extLst xmlns:a="http://schemas.openxmlformats.org/drawingml/2006/main">
              <a:ext uri="{FF2B5EF4-FFF2-40B4-BE49-F238E27FC236}">
                <a16:creationId xmlns:a16="http://schemas.microsoft.com/office/drawing/2014/main" id="{A9C9D7F5-E2C7-4ACA-833A-B3C2D1A97CAC}"/>
              </a:ext>
            </a:extLst>
          </p:cNvPr>
          <p:cNvSpPr>
            <a:spLocks xmlns:a="http://schemas.openxmlformats.org/drawingml/2006/main" noGrp="1"/>
          </p:cNvSpPr>
          <p:nvPr/>
        </p:nvSpPr>
        <p:spPr>
          <a:xfrm xmlns:a="http://schemas.openxmlformats.org/drawingml/2006/main">
            <a:off x="8371142" y="4371975"/>
            <a:ext cx="152400" cy="152400"/>
          </a:xfrm>
          <a:prstGeom xmlns:a="http://schemas.openxmlformats.org/drawingml/2006/main" prst="ellipse">
            <a:avLst/>
          </a:prstGeom>
          <a:solidFill xmlns:a="http://schemas.openxmlformats.org/drawingml/2006/main">
            <a:srgbClr val="111111"/>
          </a:solidFill>
          <a:ln xmlns:a="http://schemas.openxmlformats.org/drawingml/2006/main" w="9525">
            <a:solidFill>
              <a:srgbClr val="111111"/>
            </a:solidFill>
            <a:prstDash val="solid"/>
          </a:ln>
        </p:spPr>
      </p:sp>
      <p:sp>
        <p:nvSpPr>
          <p:cNvPr id="36" name="">
            <a:extLst xmlns:a="http://schemas.openxmlformats.org/drawingml/2006/main">
              <a:ext uri="{FF2B5EF4-FFF2-40B4-BE49-F238E27FC236}">
                <a16:creationId xmlns:a16="http://schemas.microsoft.com/office/drawing/2014/main" id="{2E076B55-6B94-4888-99CC-3D1D4FB4C3CD}"/>
              </a:ext>
            </a:extLst>
          </p:cNvPr>
          <p:cNvSpPr>
            <a:spLocks xmlns:a="http://schemas.openxmlformats.org/drawingml/2006/main" noGrp="1"/>
          </p:cNvSpPr>
          <p:nvPr/>
        </p:nvSpPr>
        <p:spPr>
          <a:xfrm xmlns:a="http://schemas.openxmlformats.org/drawingml/2006/main">
            <a:off x="10868025" y="4305300"/>
            <a:ext cx="904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91.90%</a:t>
            </a:r>
          </a:p>
        </p:txBody>
      </p:sp>
      <p:sp>
        <p:nvSpPr>
          <p:cNvPr id="37" name="">
            <a:extLst xmlns:a="http://schemas.openxmlformats.org/drawingml/2006/main">
              <a:ext uri="{FF2B5EF4-FFF2-40B4-BE49-F238E27FC236}">
                <a16:creationId xmlns:a16="http://schemas.microsoft.com/office/drawing/2014/main" id="{1B6CFEFB-2C41-479E-B8E3-9688AB4E9651}"/>
              </a:ext>
            </a:extLst>
          </p:cNvPr>
          <p:cNvSpPr>
            <a:spLocks xmlns:a="http://schemas.openxmlformats.org/drawingml/2006/main" noGrp="1"/>
          </p:cNvSpPr>
          <p:nvPr/>
        </p:nvSpPr>
        <p:spPr>
          <a:xfrm xmlns:a="http://schemas.openxmlformats.org/drawingml/2006/main">
            <a:off x="666750" y="48577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GPT-5.6 Terra</a:t>
            </a:r>
          </a:p>
        </p:txBody>
      </p:sp>
      <p:cxnSp>
        <p:nvCxnSpPr>
          <p:cNvPr id="80" name=""/>
          <p:cNvCxnSpPr/>
          <p:nvPr/>
        </p:nvCxnSpPr>
        <p:spPr>
          <a:xfrm xmlns:a="http://schemas.openxmlformats.org/drawingml/2006/main">
            <a:off x="4714475" y="5000625"/>
            <a:ext cx="4668183" cy="0"/>
          </a:xfrm>
          <a:prstGeom xmlns:a="http://schemas.openxmlformats.org/drawingml/2006/main" prst="straightConnector1">
            <a:avLst/>
          </a:prstGeom>
          <a:ln xmlns:a="http://schemas.openxmlformats.org/drawingml/2006/main" w="57150">
            <a:solidFill>
              <a:srgbClr val="62676F"/>
            </a:solidFill>
            <a:prstDash val="solid"/>
          </a:ln>
        </p:spPr>
      </p:cxnSp>
      <p:sp>
        <p:nvSpPr>
          <p:cNvPr id="39" name="">
            <a:extLst xmlns:a="http://schemas.openxmlformats.org/drawingml/2006/main">
              <a:ext uri="{FF2B5EF4-FFF2-40B4-BE49-F238E27FC236}">
                <a16:creationId xmlns:a16="http://schemas.microsoft.com/office/drawing/2014/main" id="{4DBD5335-8910-4472-97AD-3DFB89734D57}"/>
              </a:ext>
            </a:extLst>
          </p:cNvPr>
          <p:cNvSpPr>
            <a:spLocks xmlns:a="http://schemas.openxmlformats.org/drawingml/2006/main" noGrp="1"/>
          </p:cNvSpPr>
          <p:nvPr/>
        </p:nvSpPr>
        <p:spPr>
          <a:xfrm xmlns:a="http://schemas.openxmlformats.org/drawingml/2006/main">
            <a:off x="6637725" y="4924425"/>
            <a:ext cx="152400" cy="152400"/>
          </a:xfrm>
          <a:prstGeom xmlns:a="http://schemas.openxmlformats.org/drawingml/2006/main" prst="ellipse">
            <a:avLst/>
          </a:prstGeom>
          <a:solidFill xmlns:a="http://schemas.openxmlformats.org/drawingml/2006/main">
            <a:srgbClr val="111111"/>
          </a:solidFill>
          <a:ln xmlns:a="http://schemas.openxmlformats.org/drawingml/2006/main" w="9525">
            <a:solidFill>
              <a:srgbClr val="111111"/>
            </a:solidFill>
            <a:prstDash val="solid"/>
          </a:ln>
        </p:spPr>
      </p:sp>
      <p:sp>
        <p:nvSpPr>
          <p:cNvPr id="40" name="">
            <a:extLst xmlns:a="http://schemas.openxmlformats.org/drawingml/2006/main">
              <a:ext uri="{FF2B5EF4-FFF2-40B4-BE49-F238E27FC236}">
                <a16:creationId xmlns:a16="http://schemas.microsoft.com/office/drawing/2014/main" id="{32420ACC-97A1-4CFC-8DA8-D6356B6F7AF3}"/>
              </a:ext>
            </a:extLst>
          </p:cNvPr>
          <p:cNvSpPr>
            <a:spLocks xmlns:a="http://schemas.openxmlformats.org/drawingml/2006/main" noGrp="1"/>
          </p:cNvSpPr>
          <p:nvPr/>
        </p:nvSpPr>
        <p:spPr>
          <a:xfrm xmlns:a="http://schemas.openxmlformats.org/drawingml/2006/main">
            <a:off x="10868025" y="4857750"/>
            <a:ext cx="9048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85.71%</a:t>
            </a:r>
          </a:p>
        </p:txBody>
      </p:sp>
      <p:sp>
        <p:nvSpPr>
          <p:cNvPr id="41" name="">
            <a:extLst xmlns:a="http://schemas.openxmlformats.org/drawingml/2006/main">
              <a:ext uri="{FF2B5EF4-FFF2-40B4-BE49-F238E27FC236}">
                <a16:creationId xmlns:a16="http://schemas.microsoft.com/office/drawing/2014/main" id="{705C3110-2316-4AB4-85D8-F0420378EFD4}"/>
              </a:ext>
            </a:extLst>
          </p:cNvPr>
          <p:cNvSpPr>
            <a:spLocks xmlns:a="http://schemas.openxmlformats.org/drawingml/2006/main" noGrp="1"/>
          </p:cNvSpPr>
          <p:nvPr/>
        </p:nvSpPr>
        <p:spPr>
          <a:xfrm xmlns:a="http://schemas.openxmlformats.org/drawingml/2006/main">
            <a:off x="666750" y="5905500"/>
            <a:ext cx="647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425" b="1">
                <a:solidFill>
                  <a:srgbClr val="62676F"/>
                </a:solidFill>
                <a:latin typeface="Helvetica Neue"/>
                <a:ea typeface="Helvetica Neue"/>
                <a:cs typeface="Helvetica Neue"/>
              </a:defRPr>
            </a:pPr>
            <a:r>
              <a:rPr sz="1425" b="1">
                <a:solidFill>
                  <a:srgbClr val="62676F"/>
                </a:solidFill>
                <a:latin typeface="Helvetica Neue"/>
                <a:ea typeface="Helvetica Neue"/>
                <a:cs typeface="Helvetica Neue"/>
              </a:rPr>
              <a:t>5 passes · 42 tasks/pass · n=210/model · n=1,260 overall</a:t>
            </a:r>
          </a:p>
        </p:txBody>
      </p:sp>
      <p:sp>
        <p:nvSpPr>
          <p:cNvPr id="42" name="">
            <a:extLst xmlns:a="http://schemas.openxmlformats.org/drawingml/2006/main">
              <a:ext uri="{FF2B5EF4-FFF2-40B4-BE49-F238E27FC236}">
                <a16:creationId xmlns:a16="http://schemas.microsoft.com/office/drawing/2014/main" id="{EB37828B-5608-4AEF-8E26-35C7DE38F5E0}"/>
              </a:ext>
            </a:extLst>
          </p:cNvPr>
          <p:cNvSpPr>
            <a:spLocks xmlns:a="http://schemas.openxmlformats.org/drawingml/2006/main" noGrp="1"/>
          </p:cNvSpPr>
          <p:nvPr/>
        </p:nvSpPr>
        <p:spPr>
          <a:xfrm xmlns:a="http://schemas.openxmlformats.org/drawingml/2006/main">
            <a:off x="7096125" y="5905500"/>
            <a:ext cx="4286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1350" b="1">
                <a:solidFill>
                  <a:srgbClr val="2A7A52"/>
                </a:solidFill>
                <a:latin typeface="Helvetica Neue"/>
                <a:ea typeface="Helvetica Neue"/>
                <a:cs typeface="Helvetica Neue"/>
              </a:defRPr>
            </a:pPr>
            <a:r>
              <a:rPr sz="1350" b="1">
                <a:solidFill>
                  <a:srgbClr val="2A7A52"/>
                </a:solidFill>
                <a:latin typeface="Helvetica Neue"/>
                <a:ea typeface="Helvetica Neue"/>
                <a:cs typeface="Helvetica Neue"/>
              </a:rPr>
              <a:t>0 infrastructure, harness, or unexecuted outcomes</a:t>
            </a:r>
          </a:p>
        </p:txBody>
      </p:sp>
    </p:spTree>
    <p:extLst>
      <p:ext uri="{BB962C8B-B14F-4D97-AF65-F5344CB8AC3E}">
        <p14:creationId xmlns:p14="http://schemas.microsoft.com/office/powerpoint/2010/main" val="1035261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D1A628B9-B721-44BE-9F12-EC149BC3D614}"/>
              </a:ext>
            </a:extLst>
          </p:cNvPr>
          <p:cNvSpPr>
            <a:spLocks xmlns:a="http://schemas.openxmlformats.org/drawingml/2006/main" noGrp="1"/>
          </p:cNvSpPr>
          <p:nvPr/>
        </p:nvSpPr>
        <p:spPr>
          <a:xfrm xmlns:a="http://schemas.openxmlformats.org/drawingml/2006/main">
            <a:off x="51435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OFFENSIVE REASONING INDEX</a:t>
            </a:r>
          </a:p>
        </p:txBody>
      </p:sp>
      <p:sp>
        <p:nvSpPr>
          <p:cNvPr id="2" name="">
            <a:extLst xmlns:a="http://schemas.openxmlformats.org/drawingml/2006/main">
              <a:ext uri="{FF2B5EF4-FFF2-40B4-BE49-F238E27FC236}">
                <a16:creationId xmlns:a16="http://schemas.microsoft.com/office/drawing/2014/main" id="{EC55EA9B-EA82-480D-BEC8-0027D98CFB98}"/>
              </a:ext>
            </a:extLst>
          </p:cNvPr>
          <p:cNvSpPr>
            <a:spLocks xmlns:a="http://schemas.openxmlformats.org/drawingml/2006/main" noGrp="1"/>
          </p:cNvSpPr>
          <p:nvPr/>
        </p:nvSpPr>
        <p:spPr>
          <a:xfrm xmlns:a="http://schemas.openxmlformats.org/drawingml/2006/main">
            <a:off x="514350" y="666750"/>
            <a:ext cx="10953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ORI withheld the invalid MCP ranking</a:t>
            </a:r>
          </a:p>
        </p:txBody>
      </p:sp>
      <p:cxnSp>
        <p:nvCxnSpPr>
          <p:cNvPr id="27" name=""/>
          <p:cNvCxnSpPr/>
          <p:nvPr/>
        </p:nvCxnSpPr>
        <p:spPr>
          <a:xfrm xmlns:a="http://schemas.openxmlformats.org/drawingml/2006/main">
            <a:off x="514350" y="1438275"/>
            <a:ext cx="11163300" cy="0"/>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277B80E4-1D74-4BFE-AA20-51889DB126C4}"/>
              </a:ext>
            </a:extLst>
          </p:cNvPr>
          <p:cNvSpPr>
            <a:spLocks xmlns:a="http://schemas.openxmlformats.org/drawingml/2006/main" noGrp="1"/>
          </p:cNvSpPr>
          <p:nvPr/>
        </p:nvSpPr>
        <p:spPr>
          <a:xfrm xmlns:a="http://schemas.openxmlformats.org/drawingml/2006/main">
            <a:off x="11258550" y="64198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62676F"/>
                </a:solidFill>
                <a:latin typeface="Helvetica Neue"/>
                <a:ea typeface="Helvetica Neue"/>
                <a:cs typeface="Helvetica Neue"/>
              </a:defRPr>
            </a:pPr>
            <a:r>
              <a:rPr sz="975" b="0">
                <a:solidFill>
                  <a:srgbClr val="62676F"/>
                </a:solidFill>
                <a:latin typeface="Helvetica Neue"/>
                <a:ea typeface="Helvetica Neue"/>
                <a:cs typeface="Helvetica Neue"/>
              </a:rPr>
              <a:t>11</a:t>
            </a:r>
          </a:p>
        </p:txBody>
      </p:sp>
      <p:cxnSp>
        <p:nvCxnSpPr>
          <p:cNvPr id="29" name=""/>
          <p:cNvCxnSpPr/>
          <p:nvPr/>
        </p:nvCxnSpPr>
        <p:spPr>
          <a:xfrm xmlns:a="http://schemas.openxmlformats.org/drawingml/2006/main">
            <a:off x="1000125" y="2428875"/>
            <a:ext cx="0" cy="409575"/>
          </a:xfrm>
          <a:prstGeom xmlns:a="http://schemas.openxmlformats.org/drawingml/2006/main" prst="straightConnector1">
            <a:avLst/>
          </a:prstGeom>
          <a:ln xmlns:a="http://schemas.openxmlformats.org/drawingml/2006/main" w="19050">
            <a:solidFill>
              <a:srgbClr val="B8BCC4"/>
            </a:solidFill>
            <a:prstDash val="solid"/>
          </a:ln>
        </p:spPr>
      </p:cxnSp>
      <p:sp>
        <p:nvSpPr>
          <p:cNvPr id="6" name="">
            <a:extLst xmlns:a="http://schemas.openxmlformats.org/drawingml/2006/main">
              <a:ext uri="{FF2B5EF4-FFF2-40B4-BE49-F238E27FC236}">
                <a16:creationId xmlns:a16="http://schemas.microsoft.com/office/drawing/2014/main" id="{8197F61B-064D-494E-B667-B1E376CC1318}"/>
              </a:ext>
            </a:extLst>
          </p:cNvPr>
          <p:cNvSpPr>
            <a:spLocks xmlns:a="http://schemas.openxmlformats.org/drawingml/2006/main" noGrp="1"/>
          </p:cNvSpPr>
          <p:nvPr/>
        </p:nvSpPr>
        <p:spPr>
          <a:xfrm xmlns:a="http://schemas.openxmlformats.org/drawingml/2006/main">
            <a:off x="723900" y="1809750"/>
            <a:ext cx="552450" cy="552450"/>
          </a:xfrm>
          <a:prstGeom xmlns:a="http://schemas.openxmlformats.org/drawingml/2006/main" prst="ellipse">
            <a:avLst/>
          </a:prstGeom>
          <a:solidFill xmlns:a="http://schemas.openxmlformats.org/drawingml/2006/main">
            <a:srgbClr val="111111"/>
          </a:solidFill>
          <a:ln xmlns:a="http://schemas.openxmlformats.org/drawingml/2006/main" w="9525">
            <a:solidFill>
              <a:srgbClr val="111111"/>
            </a:solidFill>
            <a:prstDash val="solid"/>
          </a:ln>
        </p:spPr>
      </p:sp>
      <p:sp>
        <p:nvSpPr>
          <p:cNvPr id="7" name="">
            <a:extLst xmlns:a="http://schemas.openxmlformats.org/drawingml/2006/main">
              <a:ext uri="{FF2B5EF4-FFF2-40B4-BE49-F238E27FC236}">
                <a16:creationId xmlns:a16="http://schemas.microsoft.com/office/drawing/2014/main" id="{2C57C119-414D-4C49-9432-7206A32BE1F9}"/>
              </a:ext>
            </a:extLst>
          </p:cNvPr>
          <p:cNvSpPr>
            <a:spLocks xmlns:a="http://schemas.openxmlformats.org/drawingml/2006/main" noGrp="1"/>
          </p:cNvSpPr>
          <p:nvPr/>
        </p:nvSpPr>
        <p:spPr>
          <a:xfrm xmlns:a="http://schemas.openxmlformats.org/drawingml/2006/main">
            <a:off x="723900" y="1895475"/>
            <a:ext cx="552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F35F3D80-56D7-4ED9-9B02-43DBEF348A97}"/>
              </a:ext>
            </a:extLst>
          </p:cNvPr>
          <p:cNvSpPr>
            <a:spLocks xmlns:a="http://schemas.openxmlformats.org/drawingml/2006/main" noGrp="1"/>
          </p:cNvSpPr>
          <p:nvPr/>
        </p:nvSpPr>
        <p:spPr>
          <a:xfrm xmlns:a="http://schemas.openxmlformats.org/drawingml/2006/main">
            <a:off x="1619250" y="1809750"/>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Neo4j fails</a:t>
            </a:r>
          </a:p>
        </p:txBody>
      </p:sp>
      <p:sp>
        <p:nvSpPr>
          <p:cNvPr id="9" name="">
            <a:extLst xmlns:a="http://schemas.openxmlformats.org/drawingml/2006/main">
              <a:ext uri="{FF2B5EF4-FFF2-40B4-BE49-F238E27FC236}">
                <a16:creationId xmlns:a16="http://schemas.microsoft.com/office/drawing/2014/main" id="{E2CD2379-6C4B-40A1-8F74-C73A876E0328}"/>
              </a:ext>
            </a:extLst>
          </p:cNvPr>
          <p:cNvSpPr>
            <a:spLocks xmlns:a="http://schemas.openxmlformats.org/drawingml/2006/main" noGrp="1"/>
          </p:cNvSpPr>
          <p:nvPr/>
        </p:nvSpPr>
        <p:spPr>
          <a:xfrm xmlns:a="http://schemas.openxmlformats.org/drawingml/2006/main">
            <a:off x="5238750" y="1828800"/>
            <a:ext cx="600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62676F"/>
                </a:solidFill>
                <a:latin typeface="Helvetica Neue"/>
                <a:ea typeface="Helvetica Neue"/>
                <a:cs typeface="Helvetica Neue"/>
              </a:defRPr>
            </a:pPr>
            <a:r>
              <a:rPr sz="1650" b="0">
                <a:solidFill>
                  <a:srgbClr val="62676F"/>
                </a:solidFill>
                <a:latin typeface="Helvetica Neue"/>
                <a:ea typeface="Helvetica Neue"/>
                <a:cs typeface="Helvetica Neue"/>
              </a:rPr>
              <a:t>A controlled graph dependency becomes unavailable.</a:t>
            </a:r>
          </a:p>
        </p:txBody>
      </p:sp>
      <p:cxnSp>
        <p:nvCxnSpPr>
          <p:cNvPr id="34" name=""/>
          <p:cNvCxnSpPr/>
          <p:nvPr/>
        </p:nvCxnSpPr>
        <p:spPr>
          <a:xfrm xmlns:a="http://schemas.openxmlformats.org/drawingml/2006/main">
            <a:off x="1000125" y="3495675"/>
            <a:ext cx="0" cy="409575"/>
          </a:xfrm>
          <a:prstGeom xmlns:a="http://schemas.openxmlformats.org/drawingml/2006/main" prst="straightConnector1">
            <a:avLst/>
          </a:prstGeom>
          <a:ln xmlns:a="http://schemas.openxmlformats.org/drawingml/2006/main" w="19050">
            <a:solidFill>
              <a:srgbClr val="B8BCC4"/>
            </a:solidFill>
            <a:prstDash val="solid"/>
          </a:ln>
        </p:spPr>
      </p:cxnSp>
      <p:sp>
        <p:nvSpPr>
          <p:cNvPr id="11" name="">
            <a:extLst xmlns:a="http://schemas.openxmlformats.org/drawingml/2006/main">
              <a:ext uri="{FF2B5EF4-FFF2-40B4-BE49-F238E27FC236}">
                <a16:creationId xmlns:a16="http://schemas.microsoft.com/office/drawing/2014/main" id="{74422362-4F76-4DFB-A1C1-72911BB531EC}"/>
              </a:ext>
            </a:extLst>
          </p:cNvPr>
          <p:cNvSpPr>
            <a:spLocks xmlns:a="http://schemas.openxmlformats.org/drawingml/2006/main" noGrp="1"/>
          </p:cNvSpPr>
          <p:nvPr/>
        </p:nvSpPr>
        <p:spPr>
          <a:xfrm xmlns:a="http://schemas.openxmlformats.org/drawingml/2006/main">
            <a:off x="723900" y="2876550"/>
            <a:ext cx="552450" cy="552450"/>
          </a:xfrm>
          <a:prstGeom xmlns:a="http://schemas.openxmlformats.org/drawingml/2006/main" prst="ellipse">
            <a:avLst/>
          </a:prstGeom>
          <a:solidFill xmlns:a="http://schemas.openxmlformats.org/drawingml/2006/main">
            <a:srgbClr val="111111"/>
          </a:solidFill>
          <a:ln xmlns:a="http://schemas.openxmlformats.org/drawingml/2006/main" w="9525">
            <a:solidFill>
              <a:srgbClr val="111111"/>
            </a:solidFill>
            <a:prstDash val="solid"/>
          </a:ln>
        </p:spPr>
      </p:sp>
      <p:sp>
        <p:nvSpPr>
          <p:cNvPr id="12" name="">
            <a:extLst xmlns:a="http://schemas.openxmlformats.org/drawingml/2006/main">
              <a:ext uri="{FF2B5EF4-FFF2-40B4-BE49-F238E27FC236}">
                <a16:creationId xmlns:a16="http://schemas.microsoft.com/office/drawing/2014/main" id="{B9F41406-8CD6-4FE9-9D00-70A35C466D10}"/>
              </a:ext>
            </a:extLst>
          </p:cNvPr>
          <p:cNvSpPr>
            <a:spLocks xmlns:a="http://schemas.openxmlformats.org/drawingml/2006/main" noGrp="1"/>
          </p:cNvSpPr>
          <p:nvPr/>
        </p:nvSpPr>
        <p:spPr>
          <a:xfrm xmlns:a="http://schemas.openxmlformats.org/drawingml/2006/main">
            <a:off x="723900" y="2962275"/>
            <a:ext cx="552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2</a:t>
            </a:r>
          </a:p>
        </p:txBody>
      </p:sp>
      <p:sp>
        <p:nvSpPr>
          <p:cNvPr id="13" name="">
            <a:extLst xmlns:a="http://schemas.openxmlformats.org/drawingml/2006/main">
              <a:ext uri="{FF2B5EF4-FFF2-40B4-BE49-F238E27FC236}">
                <a16:creationId xmlns:a16="http://schemas.microsoft.com/office/drawing/2014/main" id="{6D9DBCDD-05E4-486D-BE1D-655D719187F6}"/>
              </a:ext>
            </a:extLst>
          </p:cNvPr>
          <p:cNvSpPr>
            <a:spLocks xmlns:a="http://schemas.openxmlformats.org/drawingml/2006/main" noGrp="1"/>
          </p:cNvSpPr>
          <p:nvPr/>
        </p:nvSpPr>
        <p:spPr>
          <a:xfrm xmlns:a="http://schemas.openxmlformats.org/drawingml/2006/main">
            <a:off x="1619250" y="2876550"/>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Old runner keeps spending</a:t>
            </a:r>
          </a:p>
        </p:txBody>
      </p:sp>
      <p:sp>
        <p:nvSpPr>
          <p:cNvPr id="14" name="">
            <a:extLst xmlns:a="http://schemas.openxmlformats.org/drawingml/2006/main">
              <a:ext uri="{FF2B5EF4-FFF2-40B4-BE49-F238E27FC236}">
                <a16:creationId xmlns:a16="http://schemas.microsoft.com/office/drawing/2014/main" id="{5D3F955F-DECE-4523-87C5-263FDD26B756}"/>
              </a:ext>
            </a:extLst>
          </p:cNvPr>
          <p:cNvSpPr>
            <a:spLocks xmlns:a="http://schemas.openxmlformats.org/drawingml/2006/main" noGrp="1"/>
          </p:cNvSpPr>
          <p:nvPr/>
        </p:nvSpPr>
        <p:spPr>
          <a:xfrm xmlns:a="http://schemas.openxmlformats.org/drawingml/2006/main">
            <a:off x="5238750" y="2895600"/>
            <a:ext cx="600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62676F"/>
                </a:solidFill>
                <a:latin typeface="Helvetica Neue"/>
                <a:ea typeface="Helvetica Neue"/>
                <a:cs typeface="Helvetica Neue"/>
              </a:defRPr>
            </a:pPr>
            <a:r>
              <a:rPr sz="1650" b="0">
                <a:solidFill>
                  <a:srgbClr val="62676F"/>
                </a:solidFill>
                <a:latin typeface="Helvetica Neue"/>
                <a:ea typeface="Helvetica Neue"/>
                <a:cs typeface="Helvetica Neue"/>
              </a:rPr>
              <a:t>The circuit opened, but later provider calls continued.</a:t>
            </a:r>
          </a:p>
        </p:txBody>
      </p:sp>
      <p:cxnSp>
        <p:nvCxnSpPr>
          <p:cNvPr id="39" name=""/>
          <p:cNvCxnSpPr/>
          <p:nvPr/>
        </p:nvCxnSpPr>
        <p:spPr>
          <a:xfrm xmlns:a="http://schemas.openxmlformats.org/drawingml/2006/main">
            <a:off x="1000125" y="4562475"/>
            <a:ext cx="0" cy="409575"/>
          </a:xfrm>
          <a:prstGeom xmlns:a="http://schemas.openxmlformats.org/drawingml/2006/main" prst="straightConnector1">
            <a:avLst/>
          </a:prstGeom>
          <a:ln xmlns:a="http://schemas.openxmlformats.org/drawingml/2006/main" w="19050">
            <a:solidFill>
              <a:srgbClr val="B8BCC4"/>
            </a:solidFill>
            <a:prstDash val="solid"/>
          </a:ln>
        </p:spPr>
      </p:cxnSp>
      <p:sp>
        <p:nvSpPr>
          <p:cNvPr id="16" name="">
            <a:extLst xmlns:a="http://schemas.openxmlformats.org/drawingml/2006/main">
              <a:ext uri="{FF2B5EF4-FFF2-40B4-BE49-F238E27FC236}">
                <a16:creationId xmlns:a16="http://schemas.microsoft.com/office/drawing/2014/main" id="{AF1371E8-6E09-4B96-890A-6F336FA30AED}"/>
              </a:ext>
            </a:extLst>
          </p:cNvPr>
          <p:cNvSpPr>
            <a:spLocks xmlns:a="http://schemas.openxmlformats.org/drawingml/2006/main" noGrp="1"/>
          </p:cNvSpPr>
          <p:nvPr/>
        </p:nvSpPr>
        <p:spPr>
          <a:xfrm xmlns:a="http://schemas.openxmlformats.org/drawingml/2006/main">
            <a:off x="723900" y="3943350"/>
            <a:ext cx="552450" cy="552450"/>
          </a:xfrm>
          <a:prstGeom xmlns:a="http://schemas.openxmlformats.org/drawingml/2006/main" prst="ellipse">
            <a:avLst/>
          </a:prstGeom>
          <a:solidFill xmlns:a="http://schemas.openxmlformats.org/drawingml/2006/main">
            <a:srgbClr val="111111"/>
          </a:solidFill>
          <a:ln xmlns:a="http://schemas.openxmlformats.org/drawingml/2006/main" w="9525">
            <a:solidFill>
              <a:srgbClr val="111111"/>
            </a:solidFill>
            <a:prstDash val="solid"/>
          </a:ln>
        </p:spPr>
      </p:sp>
      <p:sp>
        <p:nvSpPr>
          <p:cNvPr id="17" name="">
            <a:extLst xmlns:a="http://schemas.openxmlformats.org/drawingml/2006/main">
              <a:ext uri="{FF2B5EF4-FFF2-40B4-BE49-F238E27FC236}">
                <a16:creationId xmlns:a16="http://schemas.microsoft.com/office/drawing/2014/main" id="{2784848C-2092-455B-93C5-459947C81471}"/>
              </a:ext>
            </a:extLst>
          </p:cNvPr>
          <p:cNvSpPr>
            <a:spLocks xmlns:a="http://schemas.openxmlformats.org/drawingml/2006/main" noGrp="1"/>
          </p:cNvSpPr>
          <p:nvPr/>
        </p:nvSpPr>
        <p:spPr>
          <a:xfrm xmlns:a="http://schemas.openxmlformats.org/drawingml/2006/main">
            <a:off x="723900" y="4029075"/>
            <a:ext cx="552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3</a:t>
            </a:r>
          </a:p>
        </p:txBody>
      </p:sp>
      <p:sp>
        <p:nvSpPr>
          <p:cNvPr id="18" name="">
            <a:extLst xmlns:a="http://schemas.openxmlformats.org/drawingml/2006/main">
              <a:ext uri="{FF2B5EF4-FFF2-40B4-BE49-F238E27FC236}">
                <a16:creationId xmlns:a16="http://schemas.microsoft.com/office/drawing/2014/main" id="{6261AC5C-065B-4CAF-8D91-1881E8BCA2CA}"/>
              </a:ext>
            </a:extLst>
          </p:cNvPr>
          <p:cNvSpPr>
            <a:spLocks xmlns:a="http://schemas.openxmlformats.org/drawingml/2006/main" noGrp="1"/>
          </p:cNvSpPr>
          <p:nvPr/>
        </p:nvSpPr>
        <p:spPr>
          <a:xfrm xmlns:a="http://schemas.openxmlformats.org/drawingml/2006/main">
            <a:off x="1619250" y="3943350"/>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Post-track gate fails</a:t>
            </a:r>
          </a:p>
        </p:txBody>
      </p:sp>
      <p:sp>
        <p:nvSpPr>
          <p:cNvPr id="19" name="">
            <a:extLst xmlns:a="http://schemas.openxmlformats.org/drawingml/2006/main">
              <a:ext uri="{FF2B5EF4-FFF2-40B4-BE49-F238E27FC236}">
                <a16:creationId xmlns:a16="http://schemas.microsoft.com/office/drawing/2014/main" id="{AF75C4DB-7204-4ADE-A71E-6E0765F2D48C}"/>
              </a:ext>
            </a:extLst>
          </p:cNvPr>
          <p:cNvSpPr>
            <a:spLocks xmlns:a="http://schemas.openxmlformats.org/drawingml/2006/main" noGrp="1"/>
          </p:cNvSpPr>
          <p:nvPr/>
        </p:nvSpPr>
        <p:spPr>
          <a:xfrm xmlns:a="http://schemas.openxmlformats.org/drawingml/2006/main">
            <a:off x="5238750" y="3962400"/>
            <a:ext cx="600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62676F"/>
                </a:solidFill>
                <a:latin typeface="Helvetica Neue"/>
                <a:ea typeface="Helvetica Neue"/>
                <a:cs typeface="Helvetica Neue"/>
              </a:defRPr>
            </a:pPr>
            <a:r>
              <a:rPr sz="1650" b="0">
                <a:solidFill>
                  <a:srgbClr val="62676F"/>
                </a:solidFill>
                <a:latin typeface="Helvetica Neue"/>
                <a:ea typeface="Helvetica Neue"/>
                <a:cs typeface="Helvetica Neue"/>
              </a:rPr>
              <a:t>The live graph no longer matches the certified boundary.</a:t>
            </a:r>
          </a:p>
        </p:txBody>
      </p:sp>
      <p:sp>
        <p:nvSpPr>
          <p:cNvPr id="20" name="">
            <a:extLst xmlns:a="http://schemas.openxmlformats.org/drawingml/2006/main">
              <a:ext uri="{FF2B5EF4-FFF2-40B4-BE49-F238E27FC236}">
                <a16:creationId xmlns:a16="http://schemas.microsoft.com/office/drawing/2014/main" id="{22D8D52F-6971-428C-B662-3644531CBCAB}"/>
              </a:ext>
            </a:extLst>
          </p:cNvPr>
          <p:cNvSpPr>
            <a:spLocks xmlns:a="http://schemas.openxmlformats.org/drawingml/2006/main" noGrp="1"/>
          </p:cNvSpPr>
          <p:nvPr/>
        </p:nvSpPr>
        <p:spPr>
          <a:xfrm xmlns:a="http://schemas.openxmlformats.org/drawingml/2006/main">
            <a:off x="723900" y="5010150"/>
            <a:ext cx="552450" cy="552450"/>
          </a:xfrm>
          <a:prstGeom xmlns:a="http://schemas.openxmlformats.org/drawingml/2006/main" prst="ellipse">
            <a:avLst/>
          </a:prstGeom>
          <a:solidFill xmlns:a="http://schemas.openxmlformats.org/drawingml/2006/main">
            <a:srgbClr val="C23B22"/>
          </a:solidFill>
          <a:ln xmlns:a="http://schemas.openxmlformats.org/drawingml/2006/main" w="9525">
            <a:solidFill>
              <a:srgbClr val="C23B22"/>
            </a:solidFill>
            <a:prstDash val="solid"/>
          </a:ln>
        </p:spPr>
      </p:sp>
      <p:sp>
        <p:nvSpPr>
          <p:cNvPr id="21" name="">
            <a:extLst xmlns:a="http://schemas.openxmlformats.org/drawingml/2006/main">
              <a:ext uri="{FF2B5EF4-FFF2-40B4-BE49-F238E27FC236}">
                <a16:creationId xmlns:a16="http://schemas.microsoft.com/office/drawing/2014/main" id="{A3B5D037-EE78-4A9D-9C81-A68378ACB3D8}"/>
              </a:ext>
            </a:extLst>
          </p:cNvPr>
          <p:cNvSpPr>
            <a:spLocks xmlns:a="http://schemas.openxmlformats.org/drawingml/2006/main" noGrp="1"/>
          </p:cNvSpPr>
          <p:nvPr/>
        </p:nvSpPr>
        <p:spPr>
          <a:xfrm xmlns:a="http://schemas.openxmlformats.org/drawingml/2006/main">
            <a:off x="723900" y="5095875"/>
            <a:ext cx="5524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4</a:t>
            </a:r>
          </a:p>
        </p:txBody>
      </p:sp>
      <p:sp>
        <p:nvSpPr>
          <p:cNvPr id="22" name="">
            <a:extLst xmlns:a="http://schemas.openxmlformats.org/drawingml/2006/main">
              <a:ext uri="{FF2B5EF4-FFF2-40B4-BE49-F238E27FC236}">
                <a16:creationId xmlns:a16="http://schemas.microsoft.com/office/drawing/2014/main" id="{105BCA4C-540E-4C76-9E08-38E15A2B806B}"/>
              </a:ext>
            </a:extLst>
          </p:cNvPr>
          <p:cNvSpPr>
            <a:spLocks xmlns:a="http://schemas.openxmlformats.org/drawingml/2006/main" noGrp="1"/>
          </p:cNvSpPr>
          <p:nvPr/>
        </p:nvSpPr>
        <p:spPr>
          <a:xfrm xmlns:a="http://schemas.openxmlformats.org/drawingml/2006/main">
            <a:off x="1619250" y="5010150"/>
            <a:ext cx="3333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No public report</a:t>
            </a:r>
          </a:p>
        </p:txBody>
      </p:sp>
      <p:sp>
        <p:nvSpPr>
          <p:cNvPr id="23" name="">
            <a:extLst xmlns:a="http://schemas.openxmlformats.org/drawingml/2006/main">
              <a:ext uri="{FF2B5EF4-FFF2-40B4-BE49-F238E27FC236}">
                <a16:creationId xmlns:a16="http://schemas.microsoft.com/office/drawing/2014/main" id="{E0DB2A02-1090-4604-8337-5B3EF13DD38A}"/>
              </a:ext>
            </a:extLst>
          </p:cNvPr>
          <p:cNvSpPr>
            <a:spLocks xmlns:a="http://schemas.openxmlformats.org/drawingml/2006/main" noGrp="1"/>
          </p:cNvSpPr>
          <p:nvPr/>
        </p:nvSpPr>
        <p:spPr>
          <a:xfrm xmlns:a="http://schemas.openxmlformats.org/drawingml/2006/main">
            <a:off x="5238750" y="5029200"/>
            <a:ext cx="600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0">
                <a:solidFill>
                  <a:srgbClr val="62676F"/>
                </a:solidFill>
                <a:latin typeface="Helvetica Neue"/>
                <a:ea typeface="Helvetica Neue"/>
                <a:cs typeface="Helvetica Neue"/>
              </a:defRPr>
            </a:pPr>
            <a:r>
              <a:rPr sz="1650" b="0">
                <a:solidFill>
                  <a:srgbClr val="62676F"/>
                </a:solidFill>
                <a:latin typeface="Helvetica Neue"/>
                <a:ea typeface="Helvetica Neue"/>
                <a:cs typeface="Helvetica Neue"/>
              </a:rPr>
              <a:t>Without a valid completion receipt, there is no leaderboard.</a:t>
            </a:r>
          </a:p>
        </p:txBody>
      </p:sp>
      <p:sp>
        <p:nvSpPr>
          <p:cNvPr id="24" name="">
            <a:extLst xmlns:a="http://schemas.openxmlformats.org/drawingml/2006/main">
              <a:ext uri="{FF2B5EF4-FFF2-40B4-BE49-F238E27FC236}">
                <a16:creationId xmlns:a16="http://schemas.microsoft.com/office/drawing/2014/main" id="{C73A70BE-7AB0-458E-AC4F-63F840EAE4DF}"/>
              </a:ext>
            </a:extLst>
          </p:cNvPr>
          <p:cNvSpPr>
            <a:spLocks xmlns:a="http://schemas.openxmlformats.org/drawingml/2006/main" noGrp="1"/>
          </p:cNvSpPr>
          <p:nvPr/>
        </p:nvSpPr>
        <p:spPr>
          <a:xfrm xmlns:a="http://schemas.openxmlformats.org/drawingml/2006/main">
            <a:off x="2190750" y="6096000"/>
            <a:ext cx="7810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100" b="1">
                <a:solidFill>
                  <a:srgbClr val="C23B22"/>
                </a:solidFill>
                <a:latin typeface="Helvetica Neue"/>
                <a:ea typeface="Helvetica Neue"/>
                <a:cs typeface="Helvetica Neue"/>
              </a:defRPr>
            </a:pPr>
            <a:r>
              <a:rPr sz="2100" b="1">
                <a:solidFill>
                  <a:srgbClr val="C23B22"/>
                </a:solidFill>
                <a:latin typeface="Helvetica Neue"/>
                <a:ea typeface="Helvetica Neue"/>
                <a:cs typeface="Helvetica Neue"/>
              </a:rPr>
              <a:t>Invalid infrastructure state is not model performance.</a:t>
            </a:r>
          </a:p>
        </p:txBody>
      </p:sp>
    </p:spTree>
    <p:extLst>
      <p:ext uri="{BB962C8B-B14F-4D97-AF65-F5344CB8AC3E}">
        <p14:creationId xmlns:p14="http://schemas.microsoft.com/office/powerpoint/2010/main" val="648431819"/>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316D66F-A5D7-4DF5-BCA4-B3CF3DA5D591}"/>
              </a:ext>
            </a:extLst>
          </p:cNvPr>
          <p:cNvSpPr>
            <a:spLocks xmlns:a="http://schemas.openxmlformats.org/drawingml/2006/main" noGrp="1"/>
          </p:cNvSpPr>
          <p:nvPr/>
        </p:nvSpPr>
        <p:spPr>
          <a:xfrm xmlns:a="http://schemas.openxmlformats.org/drawingml/2006/main">
            <a:off x="51435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OFFENSIVE REASONING INDEX</a:t>
            </a:r>
          </a:p>
        </p:txBody>
      </p:sp>
      <p:sp>
        <p:nvSpPr>
          <p:cNvPr id="2" name="">
            <a:extLst xmlns:a="http://schemas.openxmlformats.org/drawingml/2006/main">
              <a:ext uri="{FF2B5EF4-FFF2-40B4-BE49-F238E27FC236}">
                <a16:creationId xmlns:a16="http://schemas.microsoft.com/office/drawing/2014/main" id="{40033849-798C-44F5-9915-665EE3D70BB8}"/>
              </a:ext>
            </a:extLst>
          </p:cNvPr>
          <p:cNvSpPr>
            <a:spLocks xmlns:a="http://schemas.openxmlformats.org/drawingml/2006/main" noGrp="1"/>
          </p:cNvSpPr>
          <p:nvPr/>
        </p:nvSpPr>
        <p:spPr>
          <a:xfrm xmlns:a="http://schemas.openxmlformats.org/drawingml/2006/main">
            <a:off x="514350" y="666750"/>
            <a:ext cx="10953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Honest boundaries</a:t>
            </a:r>
          </a:p>
        </p:txBody>
      </p:sp>
      <p:cxnSp>
        <p:nvCxnSpPr>
          <p:cNvPr id="19" name=""/>
          <p:cNvCxnSpPr/>
          <p:nvPr/>
        </p:nvCxnSpPr>
        <p:spPr>
          <a:xfrm xmlns:a="http://schemas.openxmlformats.org/drawingml/2006/main">
            <a:off x="514350" y="1438275"/>
            <a:ext cx="11163300" cy="0"/>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61B4BD77-52BE-4B49-984B-A3E39AE09CDA}"/>
              </a:ext>
            </a:extLst>
          </p:cNvPr>
          <p:cNvSpPr>
            <a:spLocks xmlns:a="http://schemas.openxmlformats.org/drawingml/2006/main" noGrp="1"/>
          </p:cNvSpPr>
          <p:nvPr/>
        </p:nvSpPr>
        <p:spPr>
          <a:xfrm xmlns:a="http://schemas.openxmlformats.org/drawingml/2006/main">
            <a:off x="11258550" y="64198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62676F"/>
                </a:solidFill>
                <a:latin typeface="Helvetica Neue"/>
                <a:ea typeface="Helvetica Neue"/>
                <a:cs typeface="Helvetica Neue"/>
              </a:defRPr>
            </a:pPr>
            <a:r>
              <a:rPr sz="975" b="0">
                <a:solidFill>
                  <a:srgbClr val="62676F"/>
                </a:solidFill>
                <a:latin typeface="Helvetica Neue"/>
                <a:ea typeface="Helvetica Neue"/>
                <a:cs typeface="Helvetica Neue"/>
              </a:rPr>
              <a:t>12</a:t>
            </a:r>
          </a:p>
        </p:txBody>
      </p:sp>
      <p:cxnSp>
        <p:nvCxnSpPr>
          <p:cNvPr id="21" name=""/>
          <p:cNvCxnSpPr/>
          <p:nvPr/>
        </p:nvCxnSpPr>
        <p:spPr>
          <a:xfrm xmlns:a="http://schemas.openxmlformats.org/drawingml/2006/main">
            <a:off x="762000" y="2505075"/>
            <a:ext cx="10477500" cy="0"/>
          </a:xfrm>
          <a:prstGeom xmlns:a="http://schemas.openxmlformats.org/drawingml/2006/main" prst="straightConnector1">
            <a:avLst/>
          </a:prstGeom>
          <a:ln xmlns:a="http://schemas.openxmlformats.org/drawingml/2006/main" w="9525">
            <a:solidFill>
              <a:srgbClr val="B8BCC4"/>
            </a:solidFill>
            <a:prstDash val="solid"/>
          </a:ln>
        </p:spPr>
      </p:cxnSp>
      <p:sp>
        <p:nvSpPr>
          <p:cNvPr id="6" name="">
            <a:extLst xmlns:a="http://schemas.openxmlformats.org/drawingml/2006/main">
              <a:ext uri="{FF2B5EF4-FFF2-40B4-BE49-F238E27FC236}">
                <a16:creationId xmlns:a16="http://schemas.microsoft.com/office/drawing/2014/main" id="{2E1EBC3E-9905-4270-AC16-AC6FBC1EDEC1}"/>
              </a:ext>
            </a:extLst>
          </p:cNvPr>
          <p:cNvSpPr>
            <a:spLocks xmlns:a="http://schemas.openxmlformats.org/drawingml/2006/main" noGrp="1"/>
          </p:cNvSpPr>
          <p:nvPr/>
        </p:nvSpPr>
        <p:spPr>
          <a:xfrm xmlns:a="http://schemas.openxmlformats.org/drawingml/2006/main">
            <a:off x="762000" y="1952625"/>
            <a:ext cx="1000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C23B22"/>
                </a:solidFill>
                <a:latin typeface="Helvetica Neue"/>
                <a:ea typeface="Helvetica Neue"/>
                <a:cs typeface="Helvetica Neue"/>
              </a:defRPr>
            </a:pPr>
            <a:r>
              <a:rPr sz="1650" b="1">
                <a:solidFill>
                  <a:srgbClr val="C23B22"/>
                </a:solidFill>
                <a:latin typeface="Helvetica Neue"/>
                <a:ea typeface="Helvetica Neue"/>
                <a:cs typeface="Helvetica Neue"/>
              </a:rPr>
              <a:t>NOT</a:t>
            </a:r>
          </a:p>
        </p:txBody>
      </p:sp>
      <p:sp>
        <p:nvSpPr>
          <p:cNvPr id="7" name="">
            <a:extLst xmlns:a="http://schemas.openxmlformats.org/drawingml/2006/main">
              <a:ext uri="{FF2B5EF4-FFF2-40B4-BE49-F238E27FC236}">
                <a16:creationId xmlns:a16="http://schemas.microsoft.com/office/drawing/2014/main" id="{2C37AE10-FC58-49BA-AA4A-DF579EA302AA}"/>
              </a:ext>
            </a:extLst>
          </p:cNvPr>
          <p:cNvSpPr>
            <a:spLocks xmlns:a="http://schemas.openxmlformats.org/drawingml/2006/main" noGrp="1"/>
          </p:cNvSpPr>
          <p:nvPr/>
        </p:nvSpPr>
        <p:spPr>
          <a:xfrm xmlns:a="http://schemas.openxmlformats.org/drawingml/2006/main">
            <a:off x="2000250" y="1857375"/>
            <a:ext cx="8858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11111"/>
                </a:solidFill>
                <a:latin typeface="Helvetica Neue"/>
                <a:ea typeface="Helvetica Neue"/>
                <a:cs typeface="Helvetica Neue"/>
              </a:defRPr>
            </a:pPr>
            <a:r>
              <a:rPr sz="2325" b="1">
                <a:solidFill>
                  <a:srgbClr val="111111"/>
                </a:solidFill>
                <a:latin typeface="Helvetica Neue"/>
                <a:ea typeface="Helvetica Neue"/>
                <a:cs typeface="Helvetica Neue"/>
              </a:rPr>
              <a:t>No official 100 / 100 selector—yet</a:t>
            </a:r>
          </a:p>
        </p:txBody>
      </p:sp>
      <p:cxnSp>
        <p:nvCxnSpPr>
          <p:cNvPr id="24" name=""/>
          <p:cNvCxnSpPr/>
          <p:nvPr/>
        </p:nvCxnSpPr>
        <p:spPr>
          <a:xfrm xmlns:a="http://schemas.openxmlformats.org/drawingml/2006/main">
            <a:off x="762000" y="3533775"/>
            <a:ext cx="10477500" cy="0"/>
          </a:xfrm>
          <a:prstGeom xmlns:a="http://schemas.openxmlformats.org/drawingml/2006/main" prst="straightConnector1">
            <a:avLst/>
          </a:prstGeom>
          <a:ln xmlns:a="http://schemas.openxmlformats.org/drawingml/2006/main" w="9525">
            <a:solidFill>
              <a:srgbClr val="B8BCC4"/>
            </a:solidFill>
            <a:prstDash val="solid"/>
          </a:ln>
        </p:spPr>
      </p:cxnSp>
      <p:sp>
        <p:nvSpPr>
          <p:cNvPr id="9" name="">
            <a:extLst xmlns:a="http://schemas.openxmlformats.org/drawingml/2006/main">
              <a:ext uri="{FF2B5EF4-FFF2-40B4-BE49-F238E27FC236}">
                <a16:creationId xmlns:a16="http://schemas.microsoft.com/office/drawing/2014/main" id="{976DF9E6-960A-4C14-A384-40B3A8444D3F}"/>
              </a:ext>
            </a:extLst>
          </p:cNvPr>
          <p:cNvSpPr>
            <a:spLocks xmlns:a="http://schemas.openxmlformats.org/drawingml/2006/main" noGrp="1"/>
          </p:cNvSpPr>
          <p:nvPr/>
        </p:nvSpPr>
        <p:spPr>
          <a:xfrm xmlns:a="http://schemas.openxmlformats.org/drawingml/2006/main">
            <a:off x="762000" y="2981325"/>
            <a:ext cx="1000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C23B22"/>
                </a:solidFill>
                <a:latin typeface="Helvetica Neue"/>
                <a:ea typeface="Helvetica Neue"/>
                <a:cs typeface="Helvetica Neue"/>
              </a:defRPr>
            </a:pPr>
            <a:r>
              <a:rPr sz="1650" b="1">
                <a:solidFill>
                  <a:srgbClr val="C23B22"/>
                </a:solidFill>
                <a:latin typeface="Helvetica Neue"/>
                <a:ea typeface="Helvetica Neue"/>
                <a:cs typeface="Helvetica Neue"/>
              </a:rPr>
              <a:t>NOT</a:t>
            </a:r>
          </a:p>
        </p:txBody>
      </p:sp>
      <p:sp>
        <p:nvSpPr>
          <p:cNvPr id="10" name="">
            <a:extLst xmlns:a="http://schemas.openxmlformats.org/drawingml/2006/main">
              <a:ext uri="{FF2B5EF4-FFF2-40B4-BE49-F238E27FC236}">
                <a16:creationId xmlns:a16="http://schemas.microsoft.com/office/drawing/2014/main" id="{1A264937-E91B-49ED-A791-65805DD10BE5}"/>
              </a:ext>
            </a:extLst>
          </p:cNvPr>
          <p:cNvSpPr>
            <a:spLocks xmlns:a="http://schemas.openxmlformats.org/drawingml/2006/main" noGrp="1"/>
          </p:cNvSpPr>
          <p:nvPr/>
        </p:nvSpPr>
        <p:spPr>
          <a:xfrm xmlns:a="http://schemas.openxmlformats.org/drawingml/2006/main">
            <a:off x="2000250" y="2886075"/>
            <a:ext cx="8858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11111"/>
                </a:solidFill>
                <a:latin typeface="Helvetica Neue"/>
                <a:ea typeface="Helvetica Neue"/>
                <a:cs typeface="Helvetica Neue"/>
              </a:defRPr>
            </a:pPr>
            <a:r>
              <a:rPr sz="2325" b="1">
                <a:solidFill>
                  <a:srgbClr val="111111"/>
                </a:solidFill>
                <a:latin typeface="Helvetica Neue"/>
                <a:ea typeface="Helvetica Neue"/>
                <a:cs typeface="Helvetica Neue"/>
              </a:rPr>
              <a:t>No unified Direct + MCP score</a:t>
            </a:r>
          </a:p>
        </p:txBody>
      </p:sp>
      <p:cxnSp>
        <p:nvCxnSpPr>
          <p:cNvPr id="27" name=""/>
          <p:cNvCxnSpPr/>
          <p:nvPr/>
        </p:nvCxnSpPr>
        <p:spPr>
          <a:xfrm xmlns:a="http://schemas.openxmlformats.org/drawingml/2006/main">
            <a:off x="762000" y="4562475"/>
            <a:ext cx="10477500" cy="0"/>
          </a:xfrm>
          <a:prstGeom xmlns:a="http://schemas.openxmlformats.org/drawingml/2006/main" prst="straightConnector1">
            <a:avLst/>
          </a:prstGeom>
          <a:ln xmlns:a="http://schemas.openxmlformats.org/drawingml/2006/main" w="9525">
            <a:solidFill>
              <a:srgbClr val="B8BCC4"/>
            </a:solidFill>
            <a:prstDash val="solid"/>
          </a:ln>
        </p:spPr>
      </p:cxnSp>
      <p:sp>
        <p:nvSpPr>
          <p:cNvPr id="12" name="">
            <a:extLst xmlns:a="http://schemas.openxmlformats.org/drawingml/2006/main">
              <a:ext uri="{FF2B5EF4-FFF2-40B4-BE49-F238E27FC236}">
                <a16:creationId xmlns:a16="http://schemas.microsoft.com/office/drawing/2014/main" id="{244C22BF-4222-4526-A4A9-8616A3C942B2}"/>
              </a:ext>
            </a:extLst>
          </p:cNvPr>
          <p:cNvSpPr>
            <a:spLocks xmlns:a="http://schemas.openxmlformats.org/drawingml/2006/main" noGrp="1"/>
          </p:cNvSpPr>
          <p:nvPr/>
        </p:nvSpPr>
        <p:spPr>
          <a:xfrm xmlns:a="http://schemas.openxmlformats.org/drawingml/2006/main">
            <a:off x="762000" y="4010025"/>
            <a:ext cx="1000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C23B22"/>
                </a:solidFill>
                <a:latin typeface="Helvetica Neue"/>
                <a:ea typeface="Helvetica Neue"/>
                <a:cs typeface="Helvetica Neue"/>
              </a:defRPr>
            </a:pPr>
            <a:r>
              <a:rPr sz="1650" b="1">
                <a:solidFill>
                  <a:srgbClr val="C23B22"/>
                </a:solidFill>
                <a:latin typeface="Helvetica Neue"/>
                <a:ea typeface="Helvetica Neue"/>
                <a:cs typeface="Helvetica Neue"/>
              </a:rPr>
              <a:t>NOT</a:t>
            </a:r>
          </a:p>
        </p:txBody>
      </p:sp>
      <p:sp>
        <p:nvSpPr>
          <p:cNvPr id="13" name="">
            <a:extLst xmlns:a="http://schemas.openxmlformats.org/drawingml/2006/main">
              <a:ext uri="{FF2B5EF4-FFF2-40B4-BE49-F238E27FC236}">
                <a16:creationId xmlns:a16="http://schemas.microsoft.com/office/drawing/2014/main" id="{12F750E1-EDE7-4AF2-9150-4571F0145C9F}"/>
              </a:ext>
            </a:extLst>
          </p:cNvPr>
          <p:cNvSpPr>
            <a:spLocks xmlns:a="http://schemas.openxmlformats.org/drawingml/2006/main" noGrp="1"/>
          </p:cNvSpPr>
          <p:nvPr/>
        </p:nvSpPr>
        <p:spPr>
          <a:xfrm xmlns:a="http://schemas.openxmlformats.org/drawingml/2006/main">
            <a:off x="2000250" y="3914775"/>
            <a:ext cx="8858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11111"/>
                </a:solidFill>
                <a:latin typeface="Helvetica Neue"/>
                <a:ea typeface="Helvetica Neue"/>
                <a:cs typeface="Helvetica Neue"/>
              </a:defRPr>
            </a:pPr>
            <a:r>
              <a:rPr sz="2325" b="1">
                <a:solidFill>
                  <a:srgbClr val="111111"/>
                </a:solidFill>
                <a:latin typeface="Helvetica Neue"/>
                <a:ea typeface="Helvetica Neue"/>
                <a:cs typeface="Helvetica Neue"/>
              </a:rPr>
              <a:t>No SOTA claim from a tight historical cluster</a:t>
            </a:r>
          </a:p>
        </p:txBody>
      </p:sp>
      <p:cxnSp>
        <p:nvCxnSpPr>
          <p:cNvPr id="30" name=""/>
          <p:cNvCxnSpPr/>
          <p:nvPr/>
        </p:nvCxnSpPr>
        <p:spPr>
          <a:xfrm xmlns:a="http://schemas.openxmlformats.org/drawingml/2006/main">
            <a:off x="762000" y="5591175"/>
            <a:ext cx="10477500" cy="0"/>
          </a:xfrm>
          <a:prstGeom xmlns:a="http://schemas.openxmlformats.org/drawingml/2006/main" prst="straightConnector1">
            <a:avLst/>
          </a:prstGeom>
          <a:ln xmlns:a="http://schemas.openxmlformats.org/drawingml/2006/main" w="9525">
            <a:solidFill>
              <a:srgbClr val="B8BCC4"/>
            </a:solidFill>
            <a:prstDash val="solid"/>
          </a:ln>
        </p:spPr>
      </p:cxnSp>
      <p:sp>
        <p:nvSpPr>
          <p:cNvPr id="15" name="">
            <a:extLst xmlns:a="http://schemas.openxmlformats.org/drawingml/2006/main">
              <a:ext uri="{FF2B5EF4-FFF2-40B4-BE49-F238E27FC236}">
                <a16:creationId xmlns:a16="http://schemas.microsoft.com/office/drawing/2014/main" id="{D6C11D05-9A55-4298-BE4A-E8DD0A0EC7EF}"/>
              </a:ext>
            </a:extLst>
          </p:cNvPr>
          <p:cNvSpPr>
            <a:spLocks xmlns:a="http://schemas.openxmlformats.org/drawingml/2006/main" noGrp="1"/>
          </p:cNvSpPr>
          <p:nvPr/>
        </p:nvSpPr>
        <p:spPr>
          <a:xfrm xmlns:a="http://schemas.openxmlformats.org/drawingml/2006/main">
            <a:off x="762000" y="5038725"/>
            <a:ext cx="1000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C23B22"/>
                </a:solidFill>
                <a:latin typeface="Helvetica Neue"/>
                <a:ea typeface="Helvetica Neue"/>
                <a:cs typeface="Helvetica Neue"/>
              </a:defRPr>
            </a:pPr>
            <a:r>
              <a:rPr sz="1650" b="1">
                <a:solidFill>
                  <a:srgbClr val="C23B22"/>
                </a:solidFill>
                <a:latin typeface="Helvetica Neue"/>
                <a:ea typeface="Helvetica Neue"/>
                <a:cs typeface="Helvetica Neue"/>
              </a:rPr>
              <a:t>NOT</a:t>
            </a:r>
          </a:p>
        </p:txBody>
      </p:sp>
      <p:sp>
        <p:nvSpPr>
          <p:cNvPr id="16" name="">
            <a:extLst xmlns:a="http://schemas.openxmlformats.org/drawingml/2006/main">
              <a:ext uri="{FF2B5EF4-FFF2-40B4-BE49-F238E27FC236}">
                <a16:creationId xmlns:a16="http://schemas.microsoft.com/office/drawing/2014/main" id="{E61D7F0C-55E3-41C8-A6DD-B56F20EEA588}"/>
              </a:ext>
            </a:extLst>
          </p:cNvPr>
          <p:cNvSpPr>
            <a:spLocks xmlns:a="http://schemas.openxmlformats.org/drawingml/2006/main" noGrp="1"/>
          </p:cNvSpPr>
          <p:nvPr/>
        </p:nvSpPr>
        <p:spPr>
          <a:xfrm xmlns:a="http://schemas.openxmlformats.org/drawingml/2006/main">
            <a:off x="2000250" y="4943475"/>
            <a:ext cx="8858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325" b="1">
                <a:solidFill>
                  <a:srgbClr val="111111"/>
                </a:solidFill>
                <a:latin typeface="Helvetica Neue"/>
                <a:ea typeface="Helvetica Neue"/>
                <a:cs typeface="Helvetica Neue"/>
              </a:defRPr>
            </a:pPr>
            <a:r>
              <a:rPr sz="2325" b="1">
                <a:solidFill>
                  <a:srgbClr val="111111"/>
                </a:solidFill>
                <a:latin typeface="Helvetica Neue"/>
                <a:ea typeface="Helvetica Neue"/>
                <a:cs typeface="Helvetica Neue"/>
              </a:rPr>
              <a:t>No valid historical MCP leaderboard</a:t>
            </a:r>
          </a:p>
        </p:txBody>
      </p:sp>
    </p:spTree>
    <p:extLst>
      <p:ext uri="{BB962C8B-B14F-4D97-AF65-F5344CB8AC3E}">
        <p14:creationId xmlns:p14="http://schemas.microsoft.com/office/powerpoint/2010/main" val="371569760"/>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C1A3CCF9-CE38-4870-9D88-5E2B964BAB15}"/>
              </a:ext>
            </a:extLst>
          </p:cNvPr>
          <p:cNvSpPr>
            <a:spLocks xmlns:a="http://schemas.openxmlformats.org/drawingml/2006/main" noGrp="1"/>
          </p:cNvSpPr>
          <p:nvPr/>
        </p:nvSpPr>
        <p:spPr>
          <a:xfrm xmlns:a="http://schemas.openxmlformats.org/drawingml/2006/main">
            <a:off x="514350" y="2857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050" b="1">
                <a:solidFill>
                  <a:srgbClr val="3D8DFF"/>
                </a:solidFill>
                <a:latin typeface="Helvetica Neue"/>
                <a:ea typeface="Helvetica Neue"/>
                <a:cs typeface="Helvetica Neue"/>
              </a:defRPr>
            </a:pPr>
            <a:r>
              <a:rPr sz="1050" b="1">
                <a:solidFill>
                  <a:srgbClr val="3D8DFF"/>
                </a:solidFill>
                <a:latin typeface="Helvetica Neue"/>
                <a:ea typeface="Helvetica Neue"/>
                <a:cs typeface="Helvetica Neue"/>
              </a:rPr>
              <a:t>OFFENSIVE REASONING INDEX</a:t>
            </a:r>
          </a:p>
        </p:txBody>
      </p:sp>
      <p:sp>
        <p:nvSpPr>
          <p:cNvPr id="2" name="">
            <a:extLst xmlns:a="http://schemas.openxmlformats.org/drawingml/2006/main">
              <a:ext uri="{FF2B5EF4-FFF2-40B4-BE49-F238E27FC236}">
                <a16:creationId xmlns:a16="http://schemas.microsoft.com/office/drawing/2014/main" id="{DAAFB27A-B726-4E86-B19F-9B538BE6B0FA}"/>
              </a:ext>
            </a:extLst>
          </p:cNvPr>
          <p:cNvSpPr>
            <a:spLocks xmlns:a="http://schemas.openxmlformats.org/drawingml/2006/main" noGrp="1"/>
          </p:cNvSpPr>
          <p:nvPr/>
        </p:nvSpPr>
        <p:spPr>
          <a:xfrm xmlns:a="http://schemas.openxmlformats.org/drawingml/2006/main">
            <a:off x="514350" y="666750"/>
            <a:ext cx="10953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3000" b="1">
                <a:solidFill>
                  <a:srgbClr val="111111"/>
                </a:solidFill>
                <a:latin typeface="Helvetica Neue"/>
                <a:ea typeface="Helvetica Neue"/>
                <a:cs typeface="Helvetica Neue"/>
              </a:defRPr>
            </a:pPr>
            <a:r>
              <a:rPr sz="3000" b="1">
                <a:solidFill>
                  <a:srgbClr val="111111"/>
                </a:solidFill>
                <a:latin typeface="Helvetica Neue"/>
                <a:ea typeface="Helvetica Neue"/>
                <a:cs typeface="Helvetica Neue"/>
              </a:rPr>
              <a:t>New evidence must replace old assumptions</a:t>
            </a:r>
          </a:p>
        </p:txBody>
      </p:sp>
      <p:cxnSp>
        <p:nvCxnSpPr>
          <p:cNvPr id="27" name=""/>
          <p:cNvCxnSpPr/>
          <p:nvPr/>
        </p:nvCxnSpPr>
        <p:spPr>
          <a:xfrm xmlns:a="http://schemas.openxmlformats.org/drawingml/2006/main">
            <a:off x="514350" y="1438275"/>
            <a:ext cx="11163300" cy="0"/>
          </a:xfrm>
          <a:prstGeom xmlns:a="http://schemas.openxmlformats.org/drawingml/2006/main" prst="straightConnector1">
            <a:avLst/>
          </a:prstGeom>
          <a:ln xmlns:a="http://schemas.openxmlformats.org/drawingml/2006/main" w="9525">
            <a:solidFill>
              <a:srgbClr val="B8BCC4"/>
            </a:solidFill>
            <a:prstDash val="solid"/>
          </a:ln>
        </p:spPr>
      </p:cxnSp>
      <p:sp>
        <p:nvSpPr>
          <p:cNvPr id="4" name="">
            <a:extLst xmlns:a="http://schemas.openxmlformats.org/drawingml/2006/main">
              <a:ext uri="{FF2B5EF4-FFF2-40B4-BE49-F238E27FC236}">
                <a16:creationId xmlns:a16="http://schemas.microsoft.com/office/drawing/2014/main" id="{6B109696-FE7B-40D7-9092-21108DC53860}"/>
              </a:ext>
            </a:extLst>
          </p:cNvPr>
          <p:cNvSpPr>
            <a:spLocks xmlns:a="http://schemas.openxmlformats.org/drawingml/2006/main" noGrp="1"/>
          </p:cNvSpPr>
          <p:nvPr/>
        </p:nvSpPr>
        <p:spPr>
          <a:xfrm xmlns:a="http://schemas.openxmlformats.org/drawingml/2006/main">
            <a:off x="11258550" y="6419850"/>
            <a:ext cx="419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r">
              <a:defRPr sz="975" b="0">
                <a:solidFill>
                  <a:srgbClr val="62676F"/>
                </a:solidFill>
                <a:latin typeface="Helvetica Neue"/>
                <a:ea typeface="Helvetica Neue"/>
                <a:cs typeface="Helvetica Neue"/>
              </a:defRPr>
            </a:pPr>
            <a:r>
              <a:rPr sz="975" b="0">
                <a:solidFill>
                  <a:srgbClr val="62676F"/>
                </a:solidFill>
                <a:latin typeface="Helvetica Neue"/>
                <a:ea typeface="Helvetica Neue"/>
                <a:cs typeface="Helvetica Neue"/>
              </a:rPr>
              <a:t>13</a:t>
            </a:r>
          </a:p>
        </p:txBody>
      </p:sp>
      <p:cxnSp>
        <p:nvCxnSpPr>
          <p:cNvPr id="29" name=""/>
          <p:cNvCxnSpPr/>
          <p:nvPr/>
        </p:nvCxnSpPr>
        <p:spPr>
          <a:xfrm xmlns:a="http://schemas.openxmlformats.org/drawingml/2006/main">
            <a:off x="3048000" y="3429000"/>
            <a:ext cx="342900" cy="0"/>
          </a:xfrm>
          <a:prstGeom xmlns:a="http://schemas.openxmlformats.org/drawingml/2006/main" prst="straightConnector1">
            <a:avLst/>
          </a:prstGeom>
          <a:ln xmlns:a="http://schemas.openxmlformats.org/drawingml/2006/main" w="19050">
            <a:solidFill>
              <a:srgbClr val="B8BCC4"/>
            </a:solidFill>
            <a:prstDash val="solid"/>
          </a:ln>
        </p:spPr>
      </p:cxnSp>
      <p:sp>
        <p:nvSpPr>
          <p:cNvPr id="6" name="">
            <a:extLst xmlns:a="http://schemas.openxmlformats.org/drawingml/2006/main">
              <a:ext uri="{FF2B5EF4-FFF2-40B4-BE49-F238E27FC236}">
                <a16:creationId xmlns:a16="http://schemas.microsoft.com/office/drawing/2014/main" id="{B8531FF5-2509-4541-AF62-810C1E6F261A}"/>
              </a:ext>
            </a:extLst>
          </p:cNvPr>
          <p:cNvSpPr>
            <a:spLocks xmlns:a="http://schemas.openxmlformats.org/drawingml/2006/main" noGrp="1"/>
          </p:cNvSpPr>
          <p:nvPr/>
        </p:nvSpPr>
        <p:spPr>
          <a:xfrm xmlns:a="http://schemas.openxmlformats.org/drawingml/2006/main">
            <a:off x="666750" y="195262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3D8DFF"/>
                </a:solidFill>
                <a:latin typeface="Helvetica Neue"/>
                <a:ea typeface="Helvetica Neue"/>
                <a:cs typeface="Helvetica Neue"/>
              </a:defRPr>
            </a:pPr>
            <a:r>
              <a:rPr sz="1125" b="1">
                <a:solidFill>
                  <a:srgbClr val="3D8DFF"/>
                </a:solidFill>
                <a:latin typeface="Helvetica Neue"/>
                <a:ea typeface="Helvetica Neue"/>
                <a:cs typeface="Helvetica Neue"/>
              </a:rPr>
              <a:t>NOW</a:t>
            </a:r>
          </a:p>
        </p:txBody>
      </p:sp>
      <p:sp>
        <p:nvSpPr>
          <p:cNvPr id="7" name="">
            <a:extLst xmlns:a="http://schemas.openxmlformats.org/drawingml/2006/main">
              <a:ext uri="{FF2B5EF4-FFF2-40B4-BE49-F238E27FC236}">
                <a16:creationId xmlns:a16="http://schemas.microsoft.com/office/drawing/2014/main" id="{406ADE32-9409-4231-9C30-486FCB7DE2D1}"/>
              </a:ext>
            </a:extLst>
          </p:cNvPr>
          <p:cNvSpPr>
            <a:spLocks xmlns:a="http://schemas.openxmlformats.org/drawingml/2006/main" noGrp="1"/>
          </p:cNvSpPr>
          <p:nvPr/>
        </p:nvSpPr>
        <p:spPr>
          <a:xfrm xmlns:a="http://schemas.openxmlformats.org/drawingml/2006/main">
            <a:off x="666750" y="2428875"/>
            <a:ext cx="2381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Merge Release 1</a:t>
            </a:r>
          </a:p>
        </p:txBody>
      </p:sp>
      <p:sp>
        <p:nvSpPr>
          <p:cNvPr id="8" name="">
            <a:extLst xmlns:a="http://schemas.openxmlformats.org/drawingml/2006/main">
              <a:ext uri="{FF2B5EF4-FFF2-40B4-BE49-F238E27FC236}">
                <a16:creationId xmlns:a16="http://schemas.microsoft.com/office/drawing/2014/main" id="{EA0369A6-95E5-4598-81E1-AF29BE27D798}"/>
              </a:ext>
            </a:extLst>
          </p:cNvPr>
          <p:cNvSpPr>
            <a:spLocks xmlns:a="http://schemas.openxmlformats.org/drawingml/2006/main" noGrp="1"/>
          </p:cNvSpPr>
          <p:nvPr/>
        </p:nvSpPr>
        <p:spPr>
          <a:xfrm xmlns:a="http://schemas.openxmlformats.org/drawingml/2006/main">
            <a:off x="666750" y="3324225"/>
            <a:ext cx="209550" cy="209550"/>
          </a:xfrm>
          <a:prstGeom xmlns:a="http://schemas.openxmlformats.org/drawingml/2006/main" prst="ellipse">
            <a:avLst/>
          </a:prstGeom>
          <a:solidFill xmlns:a="http://schemas.openxmlformats.org/drawingml/2006/main">
            <a:srgbClr val="3D8DFF"/>
          </a:solidFill>
          <a:ln xmlns:a="http://schemas.openxmlformats.org/drawingml/2006/main" w="9525">
            <a:solidFill>
              <a:srgbClr val="3D8DFF"/>
            </a:solidFill>
            <a:prstDash val="solid"/>
          </a:ln>
        </p:spPr>
      </p:sp>
      <p:sp>
        <p:nvSpPr>
          <p:cNvPr id="9" name="">
            <a:extLst xmlns:a="http://schemas.openxmlformats.org/drawingml/2006/main">
              <a:ext uri="{FF2B5EF4-FFF2-40B4-BE49-F238E27FC236}">
                <a16:creationId xmlns:a16="http://schemas.microsoft.com/office/drawing/2014/main" id="{130E19F3-F75C-4A3C-990D-CCCB39B72EEC}"/>
              </a:ext>
            </a:extLst>
          </p:cNvPr>
          <p:cNvSpPr>
            <a:spLocks xmlns:a="http://schemas.openxmlformats.org/drawingml/2006/main" noGrp="1"/>
          </p:cNvSpPr>
          <p:nvPr/>
        </p:nvSpPr>
        <p:spPr>
          <a:xfrm xmlns:a="http://schemas.openxmlformats.org/drawingml/2006/main">
            <a:off x="666750" y="3857625"/>
            <a:ext cx="2381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62676F"/>
                </a:solidFill>
                <a:latin typeface="Helvetica Neue"/>
                <a:ea typeface="Helvetica Neue"/>
                <a:cs typeface="Helvetica Neue"/>
              </a:defRPr>
            </a:pPr>
            <a:r>
              <a:rPr sz="1500" b="0">
                <a:solidFill>
                  <a:srgbClr val="62676F"/>
                </a:solidFill>
                <a:latin typeface="Helvetica Neue"/>
                <a:ea typeface="Helvetica Neue"/>
                <a:cs typeface="Helvetica Neue"/>
              </a:rPr>
              <a:t>OpenRouter + Nous canaries, signed PR, fresh runtime boundary</a:t>
            </a:r>
          </a:p>
        </p:txBody>
      </p:sp>
      <p:cxnSp>
        <p:nvCxnSpPr>
          <p:cNvPr id="34" name=""/>
          <p:cNvCxnSpPr/>
          <p:nvPr/>
        </p:nvCxnSpPr>
        <p:spPr>
          <a:xfrm xmlns:a="http://schemas.openxmlformats.org/drawingml/2006/main">
            <a:off x="5857875" y="3429000"/>
            <a:ext cx="342900" cy="0"/>
          </a:xfrm>
          <a:prstGeom xmlns:a="http://schemas.openxmlformats.org/drawingml/2006/main" prst="straightConnector1">
            <a:avLst/>
          </a:prstGeom>
          <a:ln xmlns:a="http://schemas.openxmlformats.org/drawingml/2006/main" w="19050">
            <a:solidFill>
              <a:srgbClr val="B8BCC4"/>
            </a:solidFill>
            <a:prstDash val="solid"/>
          </a:ln>
        </p:spPr>
      </p:cxnSp>
      <p:sp>
        <p:nvSpPr>
          <p:cNvPr id="11" name="">
            <a:extLst xmlns:a="http://schemas.openxmlformats.org/drawingml/2006/main">
              <a:ext uri="{FF2B5EF4-FFF2-40B4-BE49-F238E27FC236}">
                <a16:creationId xmlns:a16="http://schemas.microsoft.com/office/drawing/2014/main" id="{CAD3683B-2B59-4D94-93FA-EBCB5FB62CEB}"/>
              </a:ext>
            </a:extLst>
          </p:cNvPr>
          <p:cNvSpPr>
            <a:spLocks xmlns:a="http://schemas.openxmlformats.org/drawingml/2006/main" noGrp="1"/>
          </p:cNvSpPr>
          <p:nvPr/>
        </p:nvSpPr>
        <p:spPr>
          <a:xfrm xmlns:a="http://schemas.openxmlformats.org/drawingml/2006/main">
            <a:off x="3476625" y="195262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62676F"/>
                </a:solidFill>
                <a:latin typeface="Helvetica Neue"/>
                <a:ea typeface="Helvetica Neue"/>
                <a:cs typeface="Helvetica Neue"/>
              </a:defRPr>
            </a:pPr>
            <a:r>
              <a:rPr sz="1125" b="1">
                <a:solidFill>
                  <a:srgbClr val="62676F"/>
                </a:solidFill>
                <a:latin typeface="Helvetica Neue"/>
                <a:ea typeface="Helvetica Neue"/>
                <a:cs typeface="Helvetica Neue"/>
              </a:rPr>
              <a:t>NEXT</a:t>
            </a:r>
          </a:p>
        </p:txBody>
      </p:sp>
      <p:sp>
        <p:nvSpPr>
          <p:cNvPr id="12" name="">
            <a:extLst xmlns:a="http://schemas.openxmlformats.org/drawingml/2006/main">
              <a:ext uri="{FF2B5EF4-FFF2-40B4-BE49-F238E27FC236}">
                <a16:creationId xmlns:a16="http://schemas.microsoft.com/office/drawing/2014/main" id="{95FD8C7A-331C-43EF-9002-B2B7E0FCE7C6}"/>
              </a:ext>
            </a:extLst>
          </p:cNvPr>
          <p:cNvSpPr>
            <a:spLocks xmlns:a="http://schemas.openxmlformats.org/drawingml/2006/main" noGrp="1"/>
          </p:cNvSpPr>
          <p:nvPr/>
        </p:nvSpPr>
        <p:spPr>
          <a:xfrm xmlns:a="http://schemas.openxmlformats.org/drawingml/2006/main">
            <a:off x="3476625" y="2428875"/>
            <a:ext cx="2381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Run current Direct + MCP</a:t>
            </a:r>
          </a:p>
        </p:txBody>
      </p:sp>
      <p:sp>
        <p:nvSpPr>
          <p:cNvPr id="13" name="">
            <a:extLst xmlns:a="http://schemas.openxmlformats.org/drawingml/2006/main">
              <a:ext uri="{FF2B5EF4-FFF2-40B4-BE49-F238E27FC236}">
                <a16:creationId xmlns:a16="http://schemas.microsoft.com/office/drawing/2014/main" id="{747B4DC2-7B24-4D14-8BEF-B760A16BD271}"/>
              </a:ext>
            </a:extLst>
          </p:cNvPr>
          <p:cNvSpPr>
            <a:spLocks xmlns:a="http://schemas.openxmlformats.org/drawingml/2006/main" noGrp="1"/>
          </p:cNvSpPr>
          <p:nvPr/>
        </p:nvSpPr>
        <p:spPr>
          <a:xfrm xmlns:a="http://schemas.openxmlformats.org/drawingml/2006/main">
            <a:off x="3476625" y="3324225"/>
            <a:ext cx="209550" cy="209550"/>
          </a:xfrm>
          <a:prstGeom xmlns:a="http://schemas.openxmlformats.org/drawingml/2006/main" prst="ellipse">
            <a:avLst/>
          </a:prstGeom>
          <a:solidFill xmlns:a="http://schemas.openxmlformats.org/drawingml/2006/main">
            <a:srgbClr val="111111"/>
          </a:solidFill>
          <a:ln xmlns:a="http://schemas.openxmlformats.org/drawingml/2006/main" w="9525">
            <a:solidFill>
              <a:srgbClr val="111111"/>
            </a:solidFill>
            <a:prstDash val="solid"/>
          </a:ln>
        </p:spPr>
      </p:sp>
      <p:sp>
        <p:nvSpPr>
          <p:cNvPr id="14" name="">
            <a:extLst xmlns:a="http://schemas.openxmlformats.org/drawingml/2006/main">
              <a:ext uri="{FF2B5EF4-FFF2-40B4-BE49-F238E27FC236}">
                <a16:creationId xmlns:a16="http://schemas.microsoft.com/office/drawing/2014/main" id="{361682DB-853E-4785-BB33-050203893E67}"/>
              </a:ext>
            </a:extLst>
          </p:cNvPr>
          <p:cNvSpPr>
            <a:spLocks xmlns:a="http://schemas.openxmlformats.org/drawingml/2006/main" noGrp="1"/>
          </p:cNvSpPr>
          <p:nvPr/>
        </p:nvSpPr>
        <p:spPr>
          <a:xfrm xmlns:a="http://schemas.openxmlformats.org/drawingml/2006/main">
            <a:off x="3476625" y="3857625"/>
            <a:ext cx="2381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62676F"/>
                </a:solidFill>
                <a:latin typeface="Helvetica Neue"/>
                <a:ea typeface="Helvetica Neue"/>
                <a:cs typeface="Helvetica Neue"/>
              </a:defRPr>
            </a:pPr>
            <a:r>
              <a:rPr sz="1500" b="0">
                <a:solidFill>
                  <a:srgbClr val="62676F"/>
                </a:solidFill>
                <a:latin typeface="Helvetica Neue"/>
                <a:ea typeface="Helvetica Neue"/>
                <a:cs typeface="Helvetica Neue"/>
              </a:rPr>
              <a:t>Fresh campaign roots, valid per-track receipts, frozen public bundle</a:t>
            </a:r>
          </a:p>
        </p:txBody>
      </p:sp>
      <p:cxnSp>
        <p:nvCxnSpPr>
          <p:cNvPr id="39" name=""/>
          <p:cNvCxnSpPr/>
          <p:nvPr/>
        </p:nvCxnSpPr>
        <p:spPr>
          <a:xfrm xmlns:a="http://schemas.openxmlformats.org/drawingml/2006/main">
            <a:off x="8667750" y="3429000"/>
            <a:ext cx="342900" cy="0"/>
          </a:xfrm>
          <a:prstGeom xmlns:a="http://schemas.openxmlformats.org/drawingml/2006/main" prst="straightConnector1">
            <a:avLst/>
          </a:prstGeom>
          <a:ln xmlns:a="http://schemas.openxmlformats.org/drawingml/2006/main" w="19050">
            <a:solidFill>
              <a:srgbClr val="B8BCC4"/>
            </a:solidFill>
            <a:prstDash val="solid"/>
          </a:ln>
        </p:spPr>
      </p:cxnSp>
      <p:sp>
        <p:nvSpPr>
          <p:cNvPr id="16" name="">
            <a:extLst xmlns:a="http://schemas.openxmlformats.org/drawingml/2006/main">
              <a:ext uri="{FF2B5EF4-FFF2-40B4-BE49-F238E27FC236}">
                <a16:creationId xmlns:a16="http://schemas.microsoft.com/office/drawing/2014/main" id="{7196974F-3B36-446D-B172-D0A58F60478B}"/>
              </a:ext>
            </a:extLst>
          </p:cNvPr>
          <p:cNvSpPr>
            <a:spLocks xmlns:a="http://schemas.openxmlformats.org/drawingml/2006/main" noGrp="1"/>
          </p:cNvSpPr>
          <p:nvPr/>
        </p:nvSpPr>
        <p:spPr>
          <a:xfrm xmlns:a="http://schemas.openxmlformats.org/drawingml/2006/main">
            <a:off x="6286500" y="195262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62676F"/>
                </a:solidFill>
                <a:latin typeface="Helvetica Neue"/>
                <a:ea typeface="Helvetica Neue"/>
                <a:cs typeface="Helvetica Neue"/>
              </a:defRPr>
            </a:pPr>
            <a:r>
              <a:rPr sz="1125" b="1">
                <a:solidFill>
                  <a:srgbClr val="62676F"/>
                </a:solidFill>
                <a:latin typeface="Helvetica Neue"/>
                <a:ea typeface="Helvetica Neue"/>
                <a:cs typeface="Helvetica Neue"/>
              </a:rPr>
              <a:t>THEN</a:t>
            </a:r>
          </a:p>
        </p:txBody>
      </p:sp>
      <p:sp>
        <p:nvSpPr>
          <p:cNvPr id="17" name="">
            <a:extLst xmlns:a="http://schemas.openxmlformats.org/drawingml/2006/main">
              <a:ext uri="{FF2B5EF4-FFF2-40B4-BE49-F238E27FC236}">
                <a16:creationId xmlns:a16="http://schemas.microsoft.com/office/drawing/2014/main" id="{42F5E0F2-4C33-4033-83B7-553C08C98C37}"/>
              </a:ext>
            </a:extLst>
          </p:cNvPr>
          <p:cNvSpPr>
            <a:spLocks xmlns:a="http://schemas.openxmlformats.org/drawingml/2006/main" noGrp="1"/>
          </p:cNvSpPr>
          <p:nvPr/>
        </p:nvSpPr>
        <p:spPr>
          <a:xfrm xmlns:a="http://schemas.openxmlformats.org/drawingml/2006/main">
            <a:off x="6286500" y="2428875"/>
            <a:ext cx="2381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Freeze evidence</a:t>
            </a:r>
          </a:p>
        </p:txBody>
      </p:sp>
      <p:sp>
        <p:nvSpPr>
          <p:cNvPr id="18" name="">
            <a:extLst xmlns:a="http://schemas.openxmlformats.org/drawingml/2006/main">
              <a:ext uri="{FF2B5EF4-FFF2-40B4-BE49-F238E27FC236}">
                <a16:creationId xmlns:a16="http://schemas.microsoft.com/office/drawing/2014/main" id="{0B66086E-7425-4D3C-A88B-005D16325C62}"/>
              </a:ext>
            </a:extLst>
          </p:cNvPr>
          <p:cNvSpPr>
            <a:spLocks xmlns:a="http://schemas.openxmlformats.org/drawingml/2006/main" noGrp="1"/>
          </p:cNvSpPr>
          <p:nvPr/>
        </p:nvSpPr>
        <p:spPr>
          <a:xfrm xmlns:a="http://schemas.openxmlformats.org/drawingml/2006/main">
            <a:off x="6286500" y="3324225"/>
            <a:ext cx="209550" cy="209550"/>
          </a:xfrm>
          <a:prstGeom xmlns:a="http://schemas.openxmlformats.org/drawingml/2006/main" prst="ellipse">
            <a:avLst/>
          </a:prstGeom>
          <a:solidFill xmlns:a="http://schemas.openxmlformats.org/drawingml/2006/main">
            <a:srgbClr val="111111"/>
          </a:solidFill>
          <a:ln xmlns:a="http://schemas.openxmlformats.org/drawingml/2006/main" w="9525">
            <a:solidFill>
              <a:srgbClr val="111111"/>
            </a:solidFill>
            <a:prstDash val="solid"/>
          </a:ln>
        </p:spPr>
      </p:sp>
      <p:sp>
        <p:nvSpPr>
          <p:cNvPr id="19" name="">
            <a:extLst xmlns:a="http://schemas.openxmlformats.org/drawingml/2006/main">
              <a:ext uri="{FF2B5EF4-FFF2-40B4-BE49-F238E27FC236}">
                <a16:creationId xmlns:a16="http://schemas.microsoft.com/office/drawing/2014/main" id="{3418188E-631C-4B12-941B-5DF9EF2AAB02}"/>
              </a:ext>
            </a:extLst>
          </p:cNvPr>
          <p:cNvSpPr>
            <a:spLocks xmlns:a="http://schemas.openxmlformats.org/drawingml/2006/main" noGrp="1"/>
          </p:cNvSpPr>
          <p:nvPr/>
        </p:nvSpPr>
        <p:spPr>
          <a:xfrm xmlns:a="http://schemas.openxmlformats.org/drawingml/2006/main">
            <a:off x="6286500" y="3857625"/>
            <a:ext cx="2381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62676F"/>
                </a:solidFill>
                <a:latin typeface="Helvetica Neue"/>
                <a:ea typeface="Helvetica Neue"/>
                <a:cs typeface="Helvetica Neue"/>
              </a:defRPr>
            </a:pPr>
            <a:r>
              <a:rPr sz="1500" b="0">
                <a:solidFill>
                  <a:srgbClr val="62676F"/>
                </a:solidFill>
                <a:latin typeface="Helvetica Neue"/>
                <a:ea typeface="Helvetica Neue"/>
                <a:cs typeface="Helvetica Neue"/>
              </a:rPr>
              <a:t>Deck, offline demo, reproducibility package, rehearsal cut points</a:t>
            </a:r>
          </a:p>
        </p:txBody>
      </p:sp>
      <p:sp>
        <p:nvSpPr>
          <p:cNvPr id="20" name="">
            <a:extLst xmlns:a="http://schemas.openxmlformats.org/drawingml/2006/main">
              <a:ext uri="{FF2B5EF4-FFF2-40B4-BE49-F238E27FC236}">
                <a16:creationId xmlns:a16="http://schemas.microsoft.com/office/drawing/2014/main" id="{3A51C4E9-AD3A-46E1-B23E-3AE497D7959D}"/>
              </a:ext>
            </a:extLst>
          </p:cNvPr>
          <p:cNvSpPr>
            <a:spLocks xmlns:a="http://schemas.openxmlformats.org/drawingml/2006/main" noGrp="1"/>
          </p:cNvSpPr>
          <p:nvPr/>
        </p:nvSpPr>
        <p:spPr>
          <a:xfrm xmlns:a="http://schemas.openxmlformats.org/drawingml/2006/main">
            <a:off x="9096375" y="1952625"/>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125" b="1">
                <a:solidFill>
                  <a:srgbClr val="62676F"/>
                </a:solidFill>
                <a:latin typeface="Helvetica Neue"/>
                <a:ea typeface="Helvetica Neue"/>
                <a:cs typeface="Helvetica Neue"/>
              </a:defRPr>
            </a:pPr>
            <a:r>
              <a:rPr sz="1125" b="1">
                <a:solidFill>
                  <a:srgbClr val="62676F"/>
                </a:solidFill>
                <a:latin typeface="Helvetica Neue"/>
                <a:ea typeface="Helvetica Neue"/>
                <a:cs typeface="Helvetica Neue"/>
              </a:rPr>
              <a:t>FUTURE</a:t>
            </a:r>
          </a:p>
        </p:txBody>
      </p:sp>
      <p:sp>
        <p:nvSpPr>
          <p:cNvPr id="21" name="">
            <a:extLst xmlns:a="http://schemas.openxmlformats.org/drawingml/2006/main">
              <a:ext uri="{FF2B5EF4-FFF2-40B4-BE49-F238E27FC236}">
                <a16:creationId xmlns:a16="http://schemas.microsoft.com/office/drawing/2014/main" id="{7EE0CC1B-AD43-42A6-9BF1-AF4FAA194B68}"/>
              </a:ext>
            </a:extLst>
          </p:cNvPr>
          <p:cNvSpPr>
            <a:spLocks xmlns:a="http://schemas.openxmlformats.org/drawingml/2006/main" noGrp="1"/>
          </p:cNvSpPr>
          <p:nvPr/>
        </p:nvSpPr>
        <p:spPr>
          <a:xfrm xmlns:a="http://schemas.openxmlformats.org/drawingml/2006/main">
            <a:off x="9096375" y="2428875"/>
            <a:ext cx="2381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Select the official suite</a:t>
            </a:r>
          </a:p>
        </p:txBody>
      </p:sp>
      <p:sp>
        <p:nvSpPr>
          <p:cNvPr id="22" name="">
            <a:extLst xmlns:a="http://schemas.openxmlformats.org/drawingml/2006/main">
              <a:ext uri="{FF2B5EF4-FFF2-40B4-BE49-F238E27FC236}">
                <a16:creationId xmlns:a16="http://schemas.microsoft.com/office/drawing/2014/main" id="{3082E54D-1E02-47C0-BB88-1CA5D1537DB6}"/>
              </a:ext>
            </a:extLst>
          </p:cNvPr>
          <p:cNvSpPr>
            <a:spLocks xmlns:a="http://schemas.openxmlformats.org/drawingml/2006/main" noGrp="1"/>
          </p:cNvSpPr>
          <p:nvPr/>
        </p:nvSpPr>
        <p:spPr>
          <a:xfrm xmlns:a="http://schemas.openxmlformats.org/drawingml/2006/main">
            <a:off x="9096375" y="3324225"/>
            <a:ext cx="209550" cy="209550"/>
          </a:xfrm>
          <a:prstGeom xmlns:a="http://schemas.openxmlformats.org/drawingml/2006/main" prst="ellipse">
            <a:avLst/>
          </a:prstGeom>
          <a:solidFill xmlns:a="http://schemas.openxmlformats.org/drawingml/2006/main">
            <a:srgbClr val="111111"/>
          </a:solidFill>
          <a:ln xmlns:a="http://schemas.openxmlformats.org/drawingml/2006/main" w="9525">
            <a:solidFill>
              <a:srgbClr val="111111"/>
            </a:solidFill>
            <a:prstDash val="solid"/>
          </a:ln>
        </p:spPr>
      </p:sp>
      <p:sp>
        <p:nvSpPr>
          <p:cNvPr id="23" name="">
            <a:extLst xmlns:a="http://schemas.openxmlformats.org/drawingml/2006/main">
              <a:ext uri="{FF2B5EF4-FFF2-40B4-BE49-F238E27FC236}">
                <a16:creationId xmlns:a16="http://schemas.microsoft.com/office/drawing/2014/main" id="{BA6110A1-6C28-4FE6-9BAC-262D062A66AC}"/>
              </a:ext>
            </a:extLst>
          </p:cNvPr>
          <p:cNvSpPr>
            <a:spLocks xmlns:a="http://schemas.openxmlformats.org/drawingml/2006/main" noGrp="1"/>
          </p:cNvSpPr>
          <p:nvPr/>
        </p:nvSpPr>
        <p:spPr>
          <a:xfrm xmlns:a="http://schemas.openxmlformats.org/drawingml/2006/main">
            <a:off x="9096375" y="3857625"/>
            <a:ext cx="2381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500" b="0">
                <a:solidFill>
                  <a:srgbClr val="62676F"/>
                </a:solidFill>
                <a:latin typeface="Helvetica Neue"/>
                <a:ea typeface="Helvetica Neue"/>
                <a:cs typeface="Helvetica Neue"/>
              </a:defRPr>
            </a:pPr>
            <a:r>
              <a:rPr sz="1500" b="0">
                <a:solidFill>
                  <a:srgbClr val="62676F"/>
                </a:solidFill>
                <a:latin typeface="Helvetica Neue"/>
                <a:ea typeface="Helvetica Neue"/>
                <a:cs typeface="Helvetica Neue"/>
              </a:rPr>
              <a:t>Deterministic 100 Direct / 100 MCP release with new certification</a:t>
            </a:r>
          </a:p>
        </p:txBody>
      </p:sp>
      <p:sp>
        <p:nvSpPr>
          <p:cNvPr id="24" name="">
            <a:extLst xmlns:a="http://schemas.openxmlformats.org/drawingml/2006/main">
              <a:ext uri="{FF2B5EF4-FFF2-40B4-BE49-F238E27FC236}">
                <a16:creationId xmlns:a16="http://schemas.microsoft.com/office/drawing/2014/main" id="{A2E09266-354E-4EB4-B1BB-D2E098820C39}"/>
              </a:ext>
            </a:extLst>
          </p:cNvPr>
          <p:cNvSpPr>
            <a:spLocks xmlns:a="http://schemas.openxmlformats.org/drawingml/2006/main" noGrp="1"/>
          </p:cNvSpPr>
          <p:nvPr/>
        </p:nvSpPr>
        <p:spPr>
          <a:xfrm xmlns:a="http://schemas.openxmlformats.org/drawingml/2006/main">
            <a:off x="1238250" y="5810250"/>
            <a:ext cx="971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Build the benchmark so it can say “we do not know” without turning uncertainty into a score.</a:t>
            </a:r>
          </a:p>
        </p:txBody>
      </p:sp>
    </p:spTree>
    <p:extLst>
      <p:ext uri="{BB962C8B-B14F-4D97-AF65-F5344CB8AC3E}">
        <p14:creationId xmlns:p14="http://schemas.microsoft.com/office/powerpoint/2010/main" val="16155657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2026-08-30T13:41:38.2230000Z</dcterms:created>
  <dcterms:modified xsi:type="dcterms:W3CDTF">2026-08-30T13:41:38.2230000Z</dcterms:modified>
</coreProperties>
</file>